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eg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0" r:id="rId2"/>
  </p:sldMasterIdLst>
  <p:notesMasterIdLst>
    <p:notesMasterId r:id="rId32"/>
  </p:notesMasterIdLst>
  <p:sldIdLst>
    <p:sldId id="256" r:id="rId3"/>
    <p:sldId id="257" r:id="rId4"/>
    <p:sldId id="281" r:id="rId5"/>
    <p:sldId id="282" r:id="rId6"/>
    <p:sldId id="283" r:id="rId7"/>
    <p:sldId id="284" r:id="rId8"/>
    <p:sldId id="285" r:id="rId9"/>
    <p:sldId id="287" r:id="rId10"/>
    <p:sldId id="286" r:id="rId11"/>
    <p:sldId id="288" r:id="rId12"/>
    <p:sldId id="289" r:id="rId13"/>
    <p:sldId id="290" r:id="rId14"/>
    <p:sldId id="292" r:id="rId15"/>
    <p:sldId id="293" r:id="rId16"/>
    <p:sldId id="294" r:id="rId17"/>
    <p:sldId id="296" r:id="rId18"/>
    <p:sldId id="299" r:id="rId19"/>
    <p:sldId id="297" r:id="rId20"/>
    <p:sldId id="301" r:id="rId21"/>
    <p:sldId id="302" r:id="rId22"/>
    <p:sldId id="304" r:id="rId23"/>
    <p:sldId id="303" r:id="rId24"/>
    <p:sldId id="305" r:id="rId25"/>
    <p:sldId id="306" r:id="rId26"/>
    <p:sldId id="300" r:id="rId27"/>
    <p:sldId id="269" r:id="rId28"/>
    <p:sldId id="307" r:id="rId29"/>
    <p:sldId id="298" r:id="rId30"/>
    <p:sldId id="271" r:id="rId3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7169" autoAdjust="0"/>
  </p:normalViewPr>
  <p:slideViewPr>
    <p:cSldViewPr>
      <p:cViewPr varScale="1">
        <p:scale>
          <a:sx n="50" d="100"/>
          <a:sy n="50" d="100"/>
        </p:scale>
        <p:origin x="1762" y="34"/>
      </p:cViewPr>
      <p:guideLst>
        <p:guide orient="horz" pos="2880"/>
        <p:guide pos="2160"/>
      </p:guideLst>
    </p:cSldViewPr>
  </p:slideViewPr>
  <p:notesTextViewPr>
    <p:cViewPr>
      <p:scale>
        <a:sx n="25" d="100"/>
        <a:sy n="25" d="100"/>
      </p:scale>
      <p:origin x="0" y="0"/>
    </p:cViewPr>
  </p:notesTextViewPr>
  <p:sorterViewPr>
    <p:cViewPr>
      <p:scale>
        <a:sx n="100" d="100"/>
        <a:sy n="100" d="100"/>
      </p:scale>
      <p:origin x="0" y="-15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2T04:11:19.4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9 110 444 0 0,'-5'4'5074'0'0,"2"0"-1178"0"0,19-2-3631 0 0,282-18 3393 0 0,-65 1-2096 0 0,117 19 947 0 0,4-1-1153 0 0,-199-3-1082 0 0,21-1-1068 0 0,-167 0 219 0 0,0 1-1 0 0,-1-1 1 0 0,1-1-1 0 0,-1 0 0 0 0,1 0 1 0 0,-1-1-1 0 0,9-4 1 0 0,-13 6 6 0 0,-1-1 1 0 0,0 0 0 0 0,1 0-1 0 0,-1 0 1 0 0,0-1 0 0 0,0 1-1 0 0,0-1 1 0 0,0 0 0 0 0,-1 0-1 0 0,1 0 1 0 0,-1 0 0 0 0,0 0-1 0 0,0 0 1 0 0,0-1 0 0 0,0 1-1 0 0,0-1 1 0 0,1-5 0 0 0,3-12-1570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2T04:11:17.9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488 169 144 0 0,'-69'-24'1204'0'0,"7"-1"84"0"0,5-3 24 0 0,7 0-188 0 0,7 3-635 0 0,-1 7-473 0 0,7 4-373 0 0,5 7-355 0 0,1 7-264 0 0,6 7-132 0 0,0 7 0 0 0,13 8 92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2T04:11:20.6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314 71 1440 0 0,'-20'-7'8704'0'0,"13"1"-8320"0"0,0 0 0 0 0,0 0 0 0 0,-1 0 0 0 0,0 1 0 0 0,0 0 0 0 0,-1 0 0 0 0,1 1 0 0 0,-1 1 1 0 0,0-1-1 0 0,0 1 0 0 0,0 1 0 0 0,0-1 0 0 0,-18-1 0 0 0,21 3-385 0 0,-1 1 0 0 0,1-1 1 0 0,-1 1-1 0 0,1 0 0 0 0,-1 1 0 0 0,1-1 0 0 0,-1 1 0 0 0,1 0 1 0 0,0 1-1 0 0,-1 0 0 0 0,1 0 0 0 0,0 0 0 0 0,0 1 0 0 0,0-1 1 0 0,1 2-1 0 0,-1-1 0 0 0,1 0 0 0 0,-1 1 0 0 0,1 0 0 0 0,0 1 1 0 0,-7 7-1 0 0,9-8-1 0 0,1 1 0 0 0,-1-1 1 0 0,1 1-1 0 0,0-1 0 0 0,0 1 1 0 0,1 0-1 0 0,0 0 0 0 0,-1 0 1 0 0,1 0-1 0 0,1 0 0 0 0,-1 0 1 0 0,1 0-1 0 0,0 1 0 0 0,0-1 1 0 0,0 0-1 0 0,1 0 0 0 0,0 0 1 0 0,0 0-1 0 0,0 0 0 0 0,1 0 1 0 0,-1 0-1 0 0,4 4 0 0 0,4 12-10 0 0,1 0 0 0 0,2-1 0 0 0,19 28 0 0 0,-28-44 10 0 0,50 64 15 0 0,-37-51 12 0 0,-2 1 0 0 0,0 1 1 0 0,18 33-1 0 0,-29-45-20 0 0,0 0-1 0 0,0 0 1 0 0,0 1 0 0 0,-1 0 0 0 0,0-1-1 0 0,-1 1 1 0 0,0 0 0 0 0,0 0 0 0 0,-1 0 0 0 0,0 0-1 0 0,0 0 1 0 0,0-1 0 0 0,-1 1 0 0 0,-4 14-1 0 0,1-5-10 0 0,-1 1 0 0 0,-1-1 0 0 0,-12 23 0 0 0,17-36-4 0 0,-1-1 0 0 0,1 1 0 0 0,-1-1 0 0 0,0 0 1 0 0,0 0-1 0 0,-1 0 0 0 0,1 0 0 0 0,-1 0 0 0 0,1 0 0 0 0,-1-1 0 0 0,0 1 0 0 0,0-1 1 0 0,0 0-1 0 0,0 0 0 0 0,-1 0 0 0 0,1 0 0 0 0,0-1 0 0 0,-1 1 0 0 0,1-1 1 0 0,-1 0-1 0 0,0 0 0 0 0,1 0 0 0 0,-6 0 0 0 0,8-1 0 0 0,0 0-1 0 0,0 0 1 0 0,0-1 0 0 0,0 1 0 0 0,0 0-1 0 0,0-1 1 0 0,0 1 0 0 0,0-1-1 0 0,0 1 1 0 0,0-1 0 0 0,0 0 0 0 0,1 1-1 0 0,-1-1 1 0 0,0 0 0 0 0,0 1-1 0 0,1-1 1 0 0,-1 0 0 0 0,0 0 0 0 0,1 0-1 0 0,-1 0 1 0 0,1 0 0 0 0,-1 0-1 0 0,1 1 1 0 0,-1-1 0 0 0,1 0 0 0 0,0 0-1 0 0,-1-1 1 0 0,1 1 0 0 0,0 0-1 0 0,0 0 1 0 0,0 0 0 0 0,0 0 0 0 0,0 0-1 0 0,0 0 1 0 0,0 0 0 0 0,0 0-1 0 0,0 0 1 0 0,1-1 0 0 0,5-18-94 0 0,-6 20 104 0 0,0-1-1 0 0,1 1 1 0 0,-1 0 0 0 0,0-1-1 0 0,0 1 1 0 0,1 0 0 0 0,-1-1-1 0 0,0 1 1 0 0,0 0 0 0 0,1 0 0 0 0,-1-1-1 0 0,0 1 1 0 0,1 0 0 0 0,-1 0-1 0 0,0 0 1 0 0,1-1 0 0 0,-1 1-1 0 0,0 0 1 0 0,1 0 0 0 0,-1 0 0 0 0,0 0-1 0 0,1 0 1 0 0,-1 0 0 0 0,0 0-1 0 0,1 0 1 0 0,-1 0 0 0 0,1 0-1 0 0,-1 0 1 0 0,0 0 0 0 0,1 0 0 0 0,-1 0-1 0 0,0 0 1 0 0,1 0 0 0 0,-1 0-1 0 0,1 1 1 0 0,2 2 8 0 0,0 1 0 0 0,-1 1 0 0 0,1-1-1 0 0,-1 0 1 0 0,0 1 0 0 0,0-1 0 0 0,0 1 0 0 0,-1-1-1 0 0,1 1 1 0 0,-1 0 0 0 0,0 5 0 0 0,1-2-4 0 0,8 46 112 0 0,-2 1 0 0 0,2 93 0 0 0,-6-61 282 0 0,4-33 146 0 0,1-1 0 0 0,4 0-1 0 0,34 96 1 0 0,-37-121-438 0 0,-2-3-31 0 0,2 0 1 0 0,15 27-1 0 0,-23-46-222 0 0,2 0 0 0 0,-1 0 0 0 0,1-1 1 0 0,-1 0-1 0 0,2 0 0 0 0,-1 0 0 0 0,0 0 0 0 0,1 0 1 0 0,0-1-1 0 0,0 0 0 0 0,0 0 0 0 0,1-1 0 0 0,-1 1 1 0 0,9 3-1 0 0,-11-6-204 0 0,-1-1 1 0 0,1 1 0 0 0,-1-1-1 0 0,1 1 1 0 0,0-1-1 0 0,-1 0 1 0 0,1 0 0 0 0,-1 0-1 0 0,1 0 1 0 0,-1-1-1 0 0,1 1 1 0 0,-1-1 0 0 0,1 0-1 0 0,-1 1 1 0 0,1-1 0 0 0,-1 0-1 0 0,0 0 1 0 0,4-3-1 0 0,-1 1-380 0 0,-1 0-1 0 0,1-1 0 0 0,-1 0 1 0 0,0 1-1 0 0,0-2 1 0 0,-1 1-1 0 0,4-5 0 0 0,1-8-1244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2T04:11:24.2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88 0 0,'7'2'8472'0'0,"17"-3"-8260"0"0,-10 0 335 0 0,270 5 5980 0 0,-93 9-4438 0 0,-35-4-958 0 0,164-12-1 0 0,-85-3-49 0 0,447 30 4419 0 0,-269-5-3960 0 0,-75 1-488 0 0,129 2-1238 0 0,-427-25-29 0 0,1-8-6173 0 0,-38 10 5769 0 0,-1 0 0 0 0,0 0 0 0 0,0 0-1 0 0,0 0 1 0 0,0 0 0 0 0,0-1-1 0 0,0 1 1 0 0,0 0 0 0 0,0-1 0 0 0,-1 0-1 0 0,1 1 1 0 0,0-1 0 0 0,-1 0 0 0 0,0 0-1 0 0,1 0 1 0 0,-1 0 0 0 0,0 0-1 0 0,0 0 1 0 0,0 0 0 0 0,0 0 0 0 0,0-1-1 0 0,0 1 1 0 0,-1 0 0 0 0,1 0-1 0 0,-1-1 1 0 0,0 1 0 0 0,0 0 0 0 0,0-1-1 0 0,0 1 1 0 0,0-1 0 0 0,0 1-1 0 0,-1-3 1 0 0,-4-12-1385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E8092-4338-4C74-A74D-BEE6FD1F3D4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E4FABB-9AB7-462B-92E5-66C2CD0AE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85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23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59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82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82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4300" kern="1200" spc="-50" baseline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1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52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16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75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46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 </a:t>
            </a:r>
            <a:r>
              <a:rPr lang="en-US" dirty="0" smtClean="0"/>
              <a:t>simply stretches or compresses the data into a new numeric range.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17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19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854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8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51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❌ Shape looks distorted visually/practically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47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788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521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4FABB-9AB7-462B-92E5-66C2CD0AEA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83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487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1F487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487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487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290309" y="5264658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914399"/>
                </a:moveTo>
                <a:lnTo>
                  <a:pt x="0" y="0"/>
                </a:lnTo>
              </a:path>
            </a:pathLst>
          </a:custGeom>
          <a:ln w="19050">
            <a:solidFill>
              <a:srgbClr val="1382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456742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3872" cy="51023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397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49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61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86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31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61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64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695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92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83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09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64770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525">
            <a:solidFill>
              <a:srgbClr val="C0504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" y="9906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525">
            <a:solidFill>
              <a:srgbClr val="C0504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4151" y="6432803"/>
            <a:ext cx="79375" cy="125095"/>
          </a:xfrm>
          <a:custGeom>
            <a:avLst/>
            <a:gdLst/>
            <a:ahLst/>
            <a:cxnLst/>
            <a:rect l="l" t="t" r="r" b="b"/>
            <a:pathLst>
              <a:path w="79375" h="125095">
                <a:moveTo>
                  <a:pt x="0" y="0"/>
                </a:moveTo>
                <a:lnTo>
                  <a:pt x="0" y="124968"/>
                </a:lnTo>
                <a:lnTo>
                  <a:pt x="79248" y="62484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490473"/>
            <a:ext cx="726313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487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2068195"/>
            <a:ext cx="8099425" cy="2986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F487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66292" y="6525795"/>
            <a:ext cx="243840" cy="209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F487C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50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h1ros.github.io/categories/min-max-scaling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codecademy.com/article/min-max-zscore-normalization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88.png"/><Relationship Id="rId5" Type="http://schemas.openxmlformats.org/officeDocument/2006/relationships/customXml" Target="../ink/ink2.xml"/><Relationship Id="rId10" Type="http://schemas.openxmlformats.org/officeDocument/2006/relationships/image" Target="../media/image1090.png"/><Relationship Id="rId4" Type="http://schemas.openxmlformats.org/officeDocument/2006/relationships/image" Target="../media/image1087.png"/><Relationship Id="rId9" Type="http://schemas.openxmlformats.org/officeDocument/2006/relationships/customXml" Target="../ink/ink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C1EA8-C8A0-6F2B-355A-C5CF5DB0F3A8}"/>
              </a:ext>
            </a:extLst>
          </p:cNvPr>
          <p:cNvSpPr txBox="1"/>
          <p:nvPr/>
        </p:nvSpPr>
        <p:spPr>
          <a:xfrm>
            <a:off x="1752600" y="5410200"/>
            <a:ext cx="487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b="1" dirty="0">
                <a:latin typeface="Arial" panose="020B0604020202020204" pitchFamily="34" charset="0"/>
                <a:cs typeface="Arial" panose="020B0604020202020204" pitchFamily="34" charset="0"/>
              </a:rPr>
              <a:t>Data Preprocessing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1318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95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14210"/>
            <a:ext cx="3169920" cy="5013552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tabLst>
                <a:tab pos="286385" algn="l"/>
              </a:tabLst>
            </a:pPr>
            <a:r>
              <a:rPr lang="en-MY" sz="2000" spc="180" dirty="0">
                <a:latin typeface="Trebuchet MS"/>
                <a:cs typeface="Trebuchet MS"/>
              </a:rPr>
              <a:t>Part 1 (Last Week)</a:t>
            </a: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180" dirty="0">
                <a:latin typeface="Trebuchet MS"/>
                <a:cs typeface="Trebuchet MS"/>
              </a:rPr>
              <a:t>W</a:t>
            </a:r>
            <a:r>
              <a:rPr sz="2000" spc="40" dirty="0">
                <a:latin typeface="Trebuchet MS"/>
                <a:cs typeface="Trebuchet MS"/>
              </a:rPr>
              <a:t>h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</a:t>
            </a:r>
            <a:r>
              <a:rPr sz="2000" spc="-75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ep</a:t>
            </a:r>
            <a:r>
              <a:rPr sz="2000" spc="-110" dirty="0">
                <a:latin typeface="Trebuchet MS"/>
                <a:cs typeface="Trebuchet MS"/>
              </a:rPr>
              <a:t>r</a:t>
            </a:r>
            <a:r>
              <a:rPr sz="2000" spc="-45" dirty="0">
                <a:latin typeface="Trebuchet MS"/>
                <a:cs typeface="Trebuchet MS"/>
              </a:rPr>
              <a:t>o</a:t>
            </a:r>
            <a:r>
              <a:rPr sz="2000" spc="-50" dirty="0">
                <a:latin typeface="Trebuchet MS"/>
                <a:cs typeface="Trebuchet MS"/>
              </a:rPr>
              <a:t>c</a:t>
            </a:r>
            <a:r>
              <a:rPr sz="2000" spc="-70" dirty="0">
                <a:latin typeface="Trebuchet MS"/>
                <a:cs typeface="Trebuchet MS"/>
              </a:rPr>
              <a:t>ess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0" dirty="0">
                <a:latin typeface="Trebuchet MS"/>
                <a:cs typeface="Trebuchet MS"/>
              </a:rPr>
              <a:t>h</a:t>
            </a:r>
            <a:r>
              <a:rPr sz="2000" spc="-130" dirty="0">
                <a:latin typeface="Trebuchet MS"/>
                <a:cs typeface="Trebuchet MS"/>
              </a:rPr>
              <a:t>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da</a:t>
            </a:r>
            <a:r>
              <a:rPr sz="2000" spc="-130" dirty="0">
                <a:latin typeface="Trebuchet MS"/>
                <a:cs typeface="Trebuchet MS"/>
              </a:rPr>
              <a:t>ta?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40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5" dirty="0">
                <a:latin typeface="Trebuchet MS"/>
                <a:cs typeface="Trebuchet MS"/>
              </a:rPr>
              <a:t>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clean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20" dirty="0">
                <a:latin typeface="Trebuchet MS"/>
                <a:cs typeface="Trebuchet MS"/>
              </a:rPr>
              <a:t>ng</a:t>
            </a:r>
            <a:endParaRPr lang="en-MY" sz="2000" spc="-120" dirty="0">
              <a:latin typeface="Trebuchet MS"/>
              <a:cs typeface="Trebuchet MS"/>
            </a:endParaRPr>
          </a:p>
          <a:p>
            <a:pPr marL="742950" lvl="1" indent="-273685"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lang="en-MY" sz="2000" spc="-120" dirty="0">
                <a:latin typeface="Trebuchet MS"/>
                <a:cs typeface="Trebuchet MS"/>
              </a:rPr>
              <a:t>Incomplete</a:t>
            </a:r>
          </a:p>
          <a:p>
            <a:pPr marL="742950" lvl="1" indent="-273685"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lang="en-MY" sz="2000" spc="-120" dirty="0">
                <a:latin typeface="Trebuchet MS"/>
                <a:cs typeface="Trebuchet MS"/>
              </a:rPr>
              <a:t>Noise</a:t>
            </a:r>
          </a:p>
          <a:p>
            <a:pPr marL="742950" lvl="1" indent="-273685"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lang="en-MY" sz="2000" spc="-120" dirty="0">
                <a:latin typeface="Trebuchet MS"/>
                <a:cs typeface="Trebuchet MS"/>
              </a:rPr>
              <a:t>Inconsistent</a:t>
            </a:r>
          </a:p>
          <a:p>
            <a:pPr marL="285750" indent="-273685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endParaRPr lang="en-MY" sz="2000" spc="-12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endParaRPr lang="en-MY" sz="2000" spc="-120" dirty="0">
              <a:latin typeface="Trebuchet MS"/>
              <a:cs typeface="Trebuchet MS"/>
            </a:endParaRPr>
          </a:p>
          <a:p>
            <a:pPr marL="12065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0000"/>
              <a:tabLst>
                <a:tab pos="286385" algn="l"/>
              </a:tabLst>
            </a:pPr>
            <a:r>
              <a:rPr lang="en-MY" sz="2000" spc="-120" dirty="0">
                <a:latin typeface="Trebuchet MS"/>
                <a:cs typeface="Trebuchet MS"/>
              </a:rPr>
              <a:t>Part 2 (This Week)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40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5" dirty="0">
                <a:latin typeface="Trebuchet MS"/>
                <a:cs typeface="Trebuchet MS"/>
              </a:rPr>
              <a:t>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125" dirty="0">
                <a:latin typeface="Trebuchet MS"/>
                <a:cs typeface="Trebuchet MS"/>
              </a:rPr>
              <a:t>tegra</a:t>
            </a:r>
            <a:r>
              <a:rPr sz="2000" spc="-120" dirty="0">
                <a:latin typeface="Trebuchet MS"/>
                <a:cs typeface="Trebuchet MS"/>
              </a:rPr>
              <a:t>t</a:t>
            </a:r>
            <a:r>
              <a:rPr sz="2000" spc="-70" dirty="0">
                <a:latin typeface="Trebuchet MS"/>
                <a:cs typeface="Trebuchet MS"/>
              </a:rPr>
              <a:t>ion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40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5" dirty="0">
                <a:latin typeface="Trebuchet MS"/>
                <a:cs typeface="Trebuchet MS"/>
              </a:rPr>
              <a:t>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transf</a:t>
            </a:r>
            <a:r>
              <a:rPr sz="2000" spc="-85" dirty="0">
                <a:latin typeface="Trebuchet MS"/>
                <a:cs typeface="Trebuchet MS"/>
              </a:rPr>
              <a:t>orma</a:t>
            </a:r>
            <a:r>
              <a:rPr sz="2000" spc="-75" dirty="0">
                <a:latin typeface="Trebuchet MS"/>
                <a:cs typeface="Trebuchet MS"/>
              </a:rPr>
              <a:t>t</a:t>
            </a:r>
            <a:r>
              <a:rPr sz="2000" spc="-145" dirty="0">
                <a:latin typeface="Trebuchet MS"/>
                <a:cs typeface="Trebuchet MS"/>
              </a:rPr>
              <a:t>i</a:t>
            </a:r>
            <a:r>
              <a:rPr sz="2000" spc="-30" dirty="0">
                <a:latin typeface="Trebuchet MS"/>
                <a:cs typeface="Trebuchet MS"/>
              </a:rPr>
              <a:t>on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40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5" dirty="0">
                <a:latin typeface="Trebuchet MS"/>
                <a:cs typeface="Trebuchet MS"/>
              </a:rPr>
              <a:t>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r</a:t>
            </a:r>
            <a:r>
              <a:rPr sz="2000" spc="-114" dirty="0">
                <a:latin typeface="Trebuchet MS"/>
                <a:cs typeface="Trebuchet MS"/>
              </a:rPr>
              <a:t>educt</a:t>
            </a:r>
            <a:r>
              <a:rPr sz="2000" spc="-70" dirty="0">
                <a:latin typeface="Trebuchet MS"/>
                <a:cs typeface="Trebuchet MS"/>
              </a:rPr>
              <a:t>ion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90" dirty="0">
                <a:latin typeface="Trebuchet MS"/>
                <a:cs typeface="Trebuchet MS"/>
              </a:rPr>
              <a:t>Summary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8229600" cy="2769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 Integration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Data integration:</a:t>
            </a:r>
            <a:endParaRPr lang="en-US" dirty="0"/>
          </a:p>
          <a:p>
            <a:pPr lvl="1"/>
            <a:r>
              <a:rPr lang="en-US" dirty="0"/>
              <a:t>Combines data from multiple sources into a coherent store</a:t>
            </a:r>
          </a:p>
          <a:p>
            <a:r>
              <a:rPr lang="en-US" b="1" dirty="0"/>
              <a:t>Schema integration:</a:t>
            </a:r>
            <a:r>
              <a:rPr lang="en-US" dirty="0"/>
              <a:t> e.g., </a:t>
            </a:r>
            <a:r>
              <a:rPr lang="en-US" dirty="0" err="1"/>
              <a:t>A.cust</a:t>
            </a:r>
            <a:r>
              <a:rPr lang="en-US" dirty="0"/>
              <a:t>-id = </a:t>
            </a:r>
            <a:r>
              <a:rPr lang="en-US" dirty="0" err="1"/>
              <a:t>B.cust</a:t>
            </a:r>
            <a:r>
              <a:rPr lang="en-US" dirty="0"/>
              <a:t>-#</a:t>
            </a:r>
          </a:p>
          <a:p>
            <a:pPr lvl="1"/>
            <a:r>
              <a:rPr lang="en-US" dirty="0"/>
              <a:t>Integrate metadata from different sources</a:t>
            </a:r>
          </a:p>
          <a:p>
            <a:r>
              <a:rPr lang="en-US" b="1" dirty="0"/>
              <a:t>Entity identification problem:</a:t>
            </a:r>
            <a:endParaRPr lang="en-US" dirty="0"/>
          </a:p>
          <a:p>
            <a:pPr lvl="1"/>
            <a:r>
              <a:rPr lang="en-US" dirty="0"/>
              <a:t>Identify real-world entities from multiple data sources, e.g., </a:t>
            </a:r>
            <a:r>
              <a:rPr lang="en-US" i="1" dirty="0"/>
              <a:t>Bill Clinton</a:t>
            </a:r>
            <a:r>
              <a:rPr lang="en-US" dirty="0"/>
              <a:t> = </a:t>
            </a:r>
            <a:r>
              <a:rPr lang="en-US" i="1" dirty="0"/>
              <a:t>William Clinton</a:t>
            </a:r>
            <a:endParaRPr lang="en-US" dirty="0"/>
          </a:p>
          <a:p>
            <a:r>
              <a:rPr lang="en-US" b="1" dirty="0"/>
              <a:t>Detecting and resolving data value conflicts</a:t>
            </a:r>
            <a:endParaRPr lang="en-US" dirty="0"/>
          </a:p>
          <a:p>
            <a:pPr lvl="1"/>
            <a:r>
              <a:rPr lang="en-US" dirty="0"/>
              <a:t>For the same real-world entity, attribute values from different sources are different</a:t>
            </a:r>
          </a:p>
          <a:p>
            <a:pPr lvl="1"/>
            <a:r>
              <a:rPr lang="en-US" dirty="0"/>
              <a:t>Possible reasons: different representations, different scales, e.g., metric vs. British units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17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7776"/>
          <a:stretch/>
        </p:blipFill>
        <p:spPr>
          <a:xfrm>
            <a:off x="-1" y="0"/>
            <a:ext cx="5442355" cy="2819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r="16878"/>
          <a:stretch/>
        </p:blipFill>
        <p:spPr>
          <a:xfrm>
            <a:off x="35858" y="2971800"/>
            <a:ext cx="5289954" cy="320866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/>
          <a:srcRect r="69088"/>
          <a:stretch/>
        </p:blipFill>
        <p:spPr>
          <a:xfrm>
            <a:off x="5943600" y="828397"/>
            <a:ext cx="2273409" cy="19910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1851" y="3580628"/>
            <a:ext cx="3077004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48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300" dirty="0"/>
              <a:t>Handling Redundancy in Data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</a:rPr>
              <a:t>Redundant data occur often when integration of multiple databases</a:t>
            </a:r>
            <a:endParaRPr lang="en-US" dirty="0">
              <a:solidFill>
                <a:srgbClr val="0D0D0D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</a:rPr>
              <a:t>Object identification:</a:t>
            </a:r>
            <a:r>
              <a:rPr lang="en-US" dirty="0">
                <a:solidFill>
                  <a:srgbClr val="0D0D0D"/>
                </a:solidFill>
              </a:rPr>
              <a:t> The same attribute or object may have different names in different databases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</a:rPr>
              <a:t>Derivable data:</a:t>
            </a:r>
            <a:r>
              <a:rPr lang="en-US" dirty="0">
                <a:solidFill>
                  <a:srgbClr val="0D0D0D"/>
                </a:solidFill>
              </a:rPr>
              <a:t> One attribute may be a “derived” attribute in another table, e.g., annual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</a:rPr>
              <a:t>Redundant attributes may be able to be detected by correlation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</a:rPr>
              <a:t>Careful integration of the data from multiple sources may help reduce/avoid redundancies and inconsistencies and improve mining speed and </a:t>
            </a:r>
            <a:r>
              <a:rPr lang="en-US" dirty="0" smtClean="0">
                <a:solidFill>
                  <a:srgbClr val="0D0D0D"/>
                </a:solidFill>
              </a:rPr>
              <a:t>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Unifying </a:t>
            </a:r>
            <a:r>
              <a:rPr lang="en-US" dirty="0">
                <a:solidFill>
                  <a:srgbClr val="0D0D0D"/>
                </a:solidFill>
              </a:rPr>
              <a:t>data – convert GBP to </a:t>
            </a:r>
            <a:r>
              <a:rPr lang="en-US" dirty="0" smtClean="0">
                <a:solidFill>
                  <a:srgbClr val="0D0D0D"/>
                </a:solidFill>
              </a:rPr>
              <a:t>USD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Ways to Integrate Data</a:t>
            </a:r>
            <a:endParaRPr lang="en-US" dirty="0">
              <a:solidFill>
                <a:srgbClr val="0D0D0D"/>
              </a:solidFill>
            </a:endParaRPr>
          </a:p>
          <a:p>
            <a:pPr marL="749808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</a:rPr>
              <a:t>merge</a:t>
            </a:r>
            <a:endParaRPr lang="en-US" dirty="0">
              <a:solidFill>
                <a:srgbClr val="0D0D0D"/>
              </a:solidFill>
            </a:endParaRPr>
          </a:p>
          <a:p>
            <a:pPr marL="749808" lvl="1" indent="-457200">
              <a:buFont typeface="+mj-lt"/>
              <a:buAutoNum type="arabicPeriod"/>
            </a:pPr>
            <a:r>
              <a:rPr lang="en-US" dirty="0" err="1">
                <a:solidFill>
                  <a:srgbClr val="0D0D0D"/>
                </a:solidFill>
              </a:rPr>
              <a:t>concat</a:t>
            </a:r>
            <a:endParaRPr lang="en-US" dirty="0">
              <a:solidFill>
                <a:srgbClr val="0D0D0D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404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3" cstate="print"/>
          <a:srcRect l="58333"/>
          <a:stretch/>
        </p:blipFill>
        <p:spPr>
          <a:xfrm>
            <a:off x="1524000" y="228600"/>
            <a:ext cx="59436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642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300" dirty="0"/>
              <a:t>Pandas </a:t>
            </a:r>
            <a:r>
              <a:rPr lang="en-US" sz="4300" dirty="0" err="1"/>
              <a:t>concat</a:t>
            </a:r>
            <a:r>
              <a:rPr lang="en-US" sz="4300" dirty="0"/>
              <a:t> function joining two </a:t>
            </a:r>
            <a:r>
              <a:rPr lang="en-US" sz="4300" dirty="0" err="1"/>
              <a:t>dataframes</a:t>
            </a:r>
            <a:endParaRPr lang="en-US" sz="43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3815"/>
          <a:stretch/>
        </p:blipFill>
        <p:spPr>
          <a:xfrm>
            <a:off x="822325" y="2057399"/>
            <a:ext cx="7543800" cy="374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813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905000"/>
            <a:ext cx="7391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Question</a:t>
            </a:r>
            <a:r>
              <a:rPr lang="en-US" sz="2400" b="1" dirty="0" smtClean="0"/>
              <a:t>:</a:t>
            </a:r>
          </a:p>
          <a:p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What is the difference between merge and </a:t>
            </a:r>
            <a:r>
              <a:rPr lang="en-US" sz="2400" dirty="0" err="1"/>
              <a:t>concat</a:t>
            </a:r>
            <a:r>
              <a:rPr lang="en-US" sz="2400" dirty="0"/>
              <a:t>?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When do </a:t>
            </a:r>
            <a:r>
              <a:rPr lang="en-US" sz="2400" dirty="0" smtClean="0"/>
              <a:t>we </a:t>
            </a:r>
            <a:r>
              <a:rPr lang="en-US" sz="2400" dirty="0"/>
              <a:t>use </a:t>
            </a:r>
            <a:r>
              <a:rPr lang="en-US" sz="2400" dirty="0" err="1"/>
              <a:t>concat</a:t>
            </a:r>
            <a:r>
              <a:rPr lang="en-US" sz="2400" dirty="0"/>
              <a:t> or merge?</a:t>
            </a:r>
          </a:p>
        </p:txBody>
      </p:sp>
    </p:spTree>
    <p:extLst>
      <p:ext uri="{BB962C8B-B14F-4D97-AF65-F5344CB8AC3E}">
        <p14:creationId xmlns:p14="http://schemas.microsoft.com/office/powerpoint/2010/main" val="527460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195437"/>
              </p:ext>
            </p:extLst>
          </p:nvPr>
        </p:nvGraphicFramePr>
        <p:xfrm>
          <a:off x="533400" y="762000"/>
          <a:ext cx="8001000" cy="503079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135622667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162425307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466831008"/>
                    </a:ext>
                  </a:extLst>
                </a:gridCol>
              </a:tblGrid>
              <a:tr h="437460">
                <a:tc>
                  <a:txBody>
                    <a:bodyPr/>
                    <a:lstStyle/>
                    <a:p>
                      <a:r>
                        <a:rPr lang="en-US" sz="1700" b="1"/>
                        <a:t>Scenario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Use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Why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872007"/>
                  </a:ext>
                </a:extLst>
              </a:tr>
              <a:tr h="765555">
                <a:tc>
                  <a:txBody>
                    <a:bodyPr/>
                    <a:lstStyle/>
                    <a:p>
                      <a:r>
                        <a:rPr lang="en-US" sz="1700"/>
                        <a:t>Combine student info with their marks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merge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They share Student_ID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671301"/>
                  </a:ext>
                </a:extLst>
              </a:tr>
              <a:tr h="765555">
                <a:tc>
                  <a:txBody>
                    <a:bodyPr/>
                    <a:lstStyle/>
                    <a:p>
                      <a:r>
                        <a:rPr lang="en-US" sz="1700" dirty="0"/>
                        <a:t>Combine Jan, Feb, Mar sales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concat</a:t>
                      </a:r>
                      <a:endParaRPr lang="en-US" sz="1700" dirty="0"/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Same structure, more rows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053554"/>
                  </a:ext>
                </a:extLst>
              </a:tr>
              <a:tr h="765555">
                <a:tc>
                  <a:txBody>
                    <a:bodyPr/>
                    <a:lstStyle/>
                    <a:p>
                      <a:r>
                        <a:rPr lang="en-US" sz="1700" dirty="0"/>
                        <a:t>Combine demographic data with exam scores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merge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Need to match students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8518711"/>
                  </a:ext>
                </a:extLst>
              </a:tr>
              <a:tr h="765555">
                <a:tc>
                  <a:txBody>
                    <a:bodyPr/>
                    <a:lstStyle/>
                    <a:p>
                      <a:r>
                        <a:rPr lang="en-US" sz="1700"/>
                        <a:t>Combine two feature datasets side-by-side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concat</a:t>
                      </a:r>
                      <a:endParaRPr lang="en-US" sz="1700" dirty="0"/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Columns aligned by index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5187312"/>
                  </a:ext>
                </a:extLst>
              </a:tr>
              <a:tr h="765555">
                <a:tc>
                  <a:txBody>
                    <a:bodyPr/>
                    <a:lstStyle/>
                    <a:p>
                      <a:r>
                        <a:rPr lang="en-US" sz="1700"/>
                        <a:t>Combine two unrelated tables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concat</a:t>
                      </a:r>
                      <a:endParaRPr lang="en-US" sz="1700" dirty="0"/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No common key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8632570"/>
                  </a:ext>
                </a:extLst>
              </a:tr>
              <a:tr h="765555">
                <a:tc>
                  <a:txBody>
                    <a:bodyPr/>
                    <a:lstStyle/>
                    <a:p>
                      <a:r>
                        <a:rPr lang="en-US" sz="1700"/>
                        <a:t>Add missing columns via join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merge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Based on key</a:t>
                      </a:r>
                    </a:p>
                  </a:txBody>
                  <a:tcPr marL="87451" marR="87451" marT="43725" marB="43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40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10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026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</a:rPr>
              <a:t>A function that maps the entire set of values of a given attribute to a new set of replacement values such that each old value can be identified with one of the new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</a:rPr>
              <a:t>Methods</a:t>
            </a:r>
            <a:endParaRPr lang="en-US" dirty="0">
              <a:solidFill>
                <a:srgbClr val="0D0D0D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</a:rPr>
              <a:t>Smoothing:</a:t>
            </a:r>
            <a:r>
              <a:rPr lang="en-US" dirty="0">
                <a:solidFill>
                  <a:srgbClr val="0D0D0D"/>
                </a:solidFill>
              </a:rPr>
              <a:t> Remove noise from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</a:rPr>
              <a:t>Aggregation:</a:t>
            </a:r>
            <a:r>
              <a:rPr lang="en-US" dirty="0">
                <a:solidFill>
                  <a:srgbClr val="0D0D0D"/>
                </a:solidFill>
              </a:rPr>
              <a:t> Summarization, data cube construction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</a:rPr>
              <a:t>Generalization:</a:t>
            </a:r>
            <a:r>
              <a:rPr lang="en-US" dirty="0">
                <a:solidFill>
                  <a:srgbClr val="0D0D0D"/>
                </a:solidFill>
              </a:rPr>
              <a:t> Concept hierarchy climbing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</a:rPr>
              <a:t>Normalization:</a:t>
            </a:r>
            <a:r>
              <a:rPr lang="en-US" dirty="0">
                <a:solidFill>
                  <a:srgbClr val="0D0D0D"/>
                </a:solidFill>
              </a:rPr>
              <a:t> Scaled to fall within a small, specified range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</a:rPr>
              <a:t>min-max normalization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</a:rPr>
              <a:t>z-score normalization </a:t>
            </a:r>
            <a:r>
              <a:rPr lang="en-US" i="1" dirty="0">
                <a:solidFill>
                  <a:srgbClr val="0D0D0D"/>
                </a:solidFill>
              </a:rPr>
              <a:t>(standard scale)</a:t>
            </a:r>
            <a:endParaRPr lang="en-US" dirty="0">
              <a:solidFill>
                <a:srgbClr val="0D0D0D"/>
              </a:solidFill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</a:rPr>
              <a:t>normalization by decimal scaling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</a:rPr>
              <a:t>Attribute/feature construction:</a:t>
            </a:r>
            <a:endParaRPr lang="en-US" dirty="0">
              <a:solidFill>
                <a:srgbClr val="0D0D0D"/>
              </a:solidFill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</a:rPr>
              <a:t>New attributes constructed from the given ones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724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4524" y="200710"/>
            <a:ext cx="78136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D0D0D"/>
                </a:solidFill>
                <a:latin typeface="ui-sans-serif"/>
              </a:rPr>
              <a:t>Example of Data Aggregation (Student Marks → GPA)</a:t>
            </a:r>
            <a:endParaRPr lang="en-US" b="1" i="0" dirty="0">
              <a:solidFill>
                <a:srgbClr val="0D0D0D"/>
              </a:solidFill>
              <a:effectLst/>
              <a:latin typeface="ui-sans-serif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583518"/>
              </p:ext>
            </p:extLst>
          </p:nvPr>
        </p:nvGraphicFramePr>
        <p:xfrm>
          <a:off x="779461" y="762000"/>
          <a:ext cx="7543800" cy="182880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63742547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477451566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429073389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4257676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32546998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Student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English (Eng)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389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0061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276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0062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903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2663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0200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597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788450"/>
              </p:ext>
            </p:extLst>
          </p:nvPr>
        </p:nvGraphicFramePr>
        <p:xfrm>
          <a:off x="457200" y="3581400"/>
          <a:ext cx="8382003" cy="2377440"/>
        </p:xfrm>
        <a:graphic>
          <a:graphicData uri="http://schemas.openxmlformats.org/drawingml/2006/table">
            <a:tbl>
              <a:tblPr/>
              <a:tblGrid>
                <a:gridCol w="1197429">
                  <a:extLst>
                    <a:ext uri="{9D8B030D-6E8A-4147-A177-3AD203B41FA5}">
                      <a16:colId xmlns:a16="http://schemas.microsoft.com/office/drawing/2014/main" val="2637425473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477451566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4290733892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425767601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3254699836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15788646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14891214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Student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English (Eng)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Average of All Marks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GPA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389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0061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276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0062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79.3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3.2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903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…</a:t>
                      </a:r>
                    </a:p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…</a:t>
                      </a:r>
                    </a:p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2663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0200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5970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1000" y="3048000"/>
            <a:ext cx="2135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D0D0D"/>
                </a:solidFill>
                <a:latin typeface="ui-sans-serif"/>
              </a:rPr>
              <a:t>After</a:t>
            </a:r>
            <a:r>
              <a:rPr lang="en-US" dirty="0"/>
              <a:t> </a:t>
            </a:r>
            <a:r>
              <a:rPr lang="en-US" b="1" dirty="0">
                <a:solidFill>
                  <a:srgbClr val="0D0D0D"/>
                </a:solidFill>
                <a:latin typeface="ui-sans-serif"/>
              </a:rPr>
              <a:t>Aggregation</a:t>
            </a:r>
          </a:p>
        </p:txBody>
      </p:sp>
    </p:spTree>
    <p:extLst>
      <p:ext uri="{BB962C8B-B14F-4D97-AF65-F5344CB8AC3E}">
        <p14:creationId xmlns:p14="http://schemas.microsoft.com/office/powerpoint/2010/main" val="4110238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92668"/>
            <a:ext cx="60928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D0D0D"/>
                </a:solidFill>
                <a:latin typeface="ui-sans-serif"/>
              </a:rPr>
              <a:t>Example of Generalization (City → State)</a:t>
            </a:r>
            <a:endParaRPr lang="en-US" b="1" i="0" dirty="0">
              <a:solidFill>
                <a:srgbClr val="0D0D0D"/>
              </a:solidFill>
              <a:effectLst/>
              <a:latin typeface="ui-sans-serif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852388"/>
              </p:ext>
            </p:extLst>
          </p:nvPr>
        </p:nvGraphicFramePr>
        <p:xfrm>
          <a:off x="762000" y="990600"/>
          <a:ext cx="7543800" cy="2926080"/>
        </p:xfrm>
        <a:graphic>
          <a:graphicData uri="http://schemas.openxmlformats.org/drawingml/2006/table">
            <a:tbl>
              <a:tblPr/>
              <a:tblGrid>
                <a:gridCol w="3771900">
                  <a:extLst>
                    <a:ext uri="{9D8B030D-6E8A-4147-A177-3AD203B41FA5}">
                      <a16:colId xmlns:a16="http://schemas.microsoft.com/office/drawing/2014/main" val="971386615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37946289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358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Shah Alam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Selangor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740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Kajang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Selangor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37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Klang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Selangor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2815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Georgetown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Penang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332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Butterworth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Penang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24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Kota Bharu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Kelantan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67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268318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96636" y="4419600"/>
            <a:ext cx="61820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Reduced categories: </a:t>
            </a:r>
            <a:r>
              <a:rPr lang="en-US" altLang="en-US" i="1" dirty="0">
                <a:latin typeface="Arial" panose="020B0604020202020204" pitchFamily="34" charset="0"/>
              </a:rPr>
              <a:t>300 → 14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Easier grouping and analysis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Patterns become clearer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e.g., </a:t>
            </a:r>
            <a:r>
              <a:rPr lang="en-US" altLang="en-US" i="1" dirty="0">
                <a:latin typeface="Arial" panose="020B0604020202020204" pitchFamily="34" charset="0"/>
              </a:rPr>
              <a:t>"Most students </a:t>
            </a:r>
            <a:r>
              <a:rPr lang="en-US" altLang="en-US" i="1" dirty="0" smtClean="0">
                <a:latin typeface="Arial" panose="020B0604020202020204" pitchFamily="34" charset="0"/>
              </a:rPr>
              <a:t>come </a:t>
            </a:r>
            <a:r>
              <a:rPr lang="en-US" altLang="en-US" i="1" dirty="0">
                <a:latin typeface="Arial" panose="020B0604020202020204" pitchFamily="34" charset="0"/>
              </a:rPr>
              <a:t>from Selangor and Johor</a:t>
            </a:r>
            <a:r>
              <a:rPr lang="en-US" altLang="en-US" i="1" dirty="0" smtClean="0">
                <a:latin typeface="Arial" panose="020B0604020202020204" pitchFamily="34" charset="0"/>
              </a:rPr>
              <a:t>"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3955765"/>
            <a:ext cx="2158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df</a:t>
            </a:r>
            <a:r>
              <a:rPr lang="en-US" dirty="0"/>
              <a:t>["State"].</a:t>
            </a:r>
            <a:r>
              <a:rPr lang="en-US" dirty="0" err="1"/>
              <a:t>nunique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72649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026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</a:rPr>
              <a:t>Why do we need normalization</a:t>
            </a:r>
            <a:r>
              <a:rPr lang="en-US" dirty="0" smtClean="0">
                <a:solidFill>
                  <a:srgbClr val="0D0D0D"/>
                </a:solidFill>
              </a:rPr>
              <a:t>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 </a:t>
            </a:r>
            <a:r>
              <a:rPr lang="en-US" dirty="0">
                <a:solidFill>
                  <a:srgbClr val="0D0D0D"/>
                </a:solidFill>
              </a:rPr>
              <a:t>To give a fair comparison between </a:t>
            </a:r>
            <a:r>
              <a:rPr lang="en-US" dirty="0" smtClean="0">
                <a:solidFill>
                  <a:srgbClr val="0D0D0D"/>
                </a:solidFill>
              </a:rPr>
              <a:t>features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Different </a:t>
            </a:r>
            <a:r>
              <a:rPr lang="en-US" dirty="0">
                <a:solidFill>
                  <a:srgbClr val="0D0D0D"/>
                </a:solidFill>
              </a:rPr>
              <a:t>features often have different scales, so normalization helps ensure that no feature dominates the others simply because of its larger numeric range.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532094"/>
            <a:ext cx="4189846" cy="23353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138" y="3532094"/>
            <a:ext cx="4522181" cy="23353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06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02666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</a:rPr>
              <a:t>KL salaries are mostly higher and spread over a larger range</a:t>
            </a:r>
            <a:r>
              <a:rPr lang="en-US" dirty="0" smtClean="0">
                <a:solidFill>
                  <a:srgbClr val="0D0D0D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Sabah </a:t>
            </a:r>
            <a:r>
              <a:rPr lang="en-US" dirty="0">
                <a:solidFill>
                  <a:srgbClr val="0D0D0D"/>
                </a:solidFill>
              </a:rPr>
              <a:t>salaries are lower and in a smaller range</a:t>
            </a:r>
            <a:r>
              <a:rPr lang="en-US" dirty="0" smtClean="0">
                <a:solidFill>
                  <a:srgbClr val="0D0D0D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If </a:t>
            </a:r>
            <a:r>
              <a:rPr lang="en-US" dirty="0">
                <a:solidFill>
                  <a:srgbClr val="0D0D0D"/>
                </a:solidFill>
              </a:rPr>
              <a:t>we combine both datasets or use them in a model</a:t>
            </a:r>
            <a:r>
              <a:rPr lang="en-US" dirty="0" smtClean="0">
                <a:solidFill>
                  <a:srgbClr val="0D0D0D"/>
                </a:solidFill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The </a:t>
            </a:r>
            <a:r>
              <a:rPr lang="en-US" dirty="0">
                <a:solidFill>
                  <a:srgbClr val="0D0D0D"/>
                </a:solidFill>
              </a:rPr>
              <a:t>KL salary feature will dominate because of its larger numbers</a:t>
            </a:r>
            <a:r>
              <a:rPr lang="en-US" dirty="0" smtClean="0">
                <a:solidFill>
                  <a:srgbClr val="0D0D0D"/>
                </a:solidFill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Comparisons </a:t>
            </a:r>
            <a:r>
              <a:rPr lang="en-US" dirty="0">
                <a:solidFill>
                  <a:srgbClr val="0D0D0D"/>
                </a:solidFill>
              </a:rPr>
              <a:t>become unfair</a:t>
            </a:r>
            <a:r>
              <a:rPr lang="en-US" dirty="0" smtClean="0">
                <a:solidFill>
                  <a:srgbClr val="0D0D0D"/>
                </a:solidFill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Models </a:t>
            </a:r>
            <a:r>
              <a:rPr lang="en-US" dirty="0">
                <a:solidFill>
                  <a:srgbClr val="0D0D0D"/>
                </a:solidFill>
              </a:rPr>
              <a:t>give biased weight to KL values</a:t>
            </a:r>
            <a:r>
              <a:rPr lang="en-US" dirty="0" smtClean="0">
                <a:solidFill>
                  <a:srgbClr val="0D0D0D"/>
                </a:solidFill>
              </a:rPr>
              <a:t>.</a:t>
            </a:r>
          </a:p>
          <a:p>
            <a:r>
              <a:rPr lang="en-US" b="1" dirty="0"/>
              <a:t>Solution: Normalize</a:t>
            </a:r>
          </a:p>
          <a:p>
            <a:r>
              <a:rPr lang="en-US" dirty="0"/>
              <a:t>Normalization transforms both salary columns so they are on a </a:t>
            </a:r>
            <a:r>
              <a:rPr lang="en-US" b="1" dirty="0"/>
              <a:t>common scale</a:t>
            </a:r>
            <a:r>
              <a:rPr lang="en-US" dirty="0"/>
              <a:t>, for example:</a:t>
            </a:r>
          </a:p>
          <a:p>
            <a:r>
              <a:rPr lang="en-US" sz="1800" dirty="0">
                <a:solidFill>
                  <a:srgbClr val="0D0D0D"/>
                </a:solidFill>
              </a:rPr>
              <a:t>Range 0 → 1 (min–max)</a:t>
            </a:r>
          </a:p>
          <a:p>
            <a:r>
              <a:rPr lang="en-US" sz="1800" dirty="0">
                <a:solidFill>
                  <a:srgbClr val="0D0D0D"/>
                </a:solidFill>
              </a:rPr>
              <a:t>Mean 0, SD 1 (z-score)</a:t>
            </a:r>
          </a:p>
          <a:p>
            <a:r>
              <a:rPr lang="en-US" sz="1800" dirty="0">
                <a:solidFill>
                  <a:srgbClr val="0D0D0D"/>
                </a:solidFill>
              </a:rPr>
              <a:t>This makes comparisons fair and avoids bias.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73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"/>
            <a:ext cx="8229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82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Min–Max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026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Rescales </a:t>
            </a:r>
            <a:r>
              <a:rPr lang="en-US" dirty="0">
                <a:solidFill>
                  <a:srgbClr val="0D0D0D"/>
                </a:solidFill>
              </a:rPr>
              <a:t>a </a:t>
            </a:r>
            <a:r>
              <a:rPr lang="en-US" dirty="0" smtClean="0">
                <a:solidFill>
                  <a:srgbClr val="0D0D0D"/>
                </a:solidFill>
              </a:rPr>
              <a:t>feature </a:t>
            </a:r>
            <a:r>
              <a:rPr lang="en-US" dirty="0">
                <a:solidFill>
                  <a:srgbClr val="0D0D0D"/>
                </a:solidFill>
              </a:rPr>
              <a:t>to a new range, </a:t>
            </a:r>
            <a:r>
              <a:rPr lang="en-US" dirty="0" smtClean="0">
                <a:solidFill>
                  <a:srgbClr val="0D0D0D"/>
                </a:solidFill>
              </a:rPr>
              <a:t>typically </a:t>
            </a:r>
            <a:r>
              <a:rPr lang="en-US" dirty="0">
                <a:solidFill>
                  <a:srgbClr val="0D0D0D"/>
                </a:solidFill>
              </a:rPr>
              <a:t>[0, 1</a:t>
            </a:r>
            <a:r>
              <a:rPr lang="en-US" dirty="0" smtClean="0">
                <a:solidFill>
                  <a:srgbClr val="0D0D0D"/>
                </a:solidFill>
              </a:rPr>
              <a:t>]: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0D0D0D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D0D0D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0D0D0D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D0D0D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0D0D0D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Example: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Let income range from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min= $ 12, 000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Max = $98, 000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Convert $ 73,000: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313275"/>
            <a:ext cx="5696745" cy="17337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540845"/>
            <a:ext cx="282932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8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Min–Max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026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Rescales </a:t>
            </a:r>
            <a:r>
              <a:rPr lang="en-US" dirty="0">
                <a:solidFill>
                  <a:srgbClr val="0D0D0D"/>
                </a:solidFill>
              </a:rPr>
              <a:t>a </a:t>
            </a:r>
            <a:r>
              <a:rPr lang="en-US" dirty="0" smtClean="0">
                <a:solidFill>
                  <a:srgbClr val="0D0D0D"/>
                </a:solidFill>
              </a:rPr>
              <a:t>feature </a:t>
            </a:r>
            <a:r>
              <a:rPr lang="en-US" dirty="0">
                <a:solidFill>
                  <a:srgbClr val="0D0D0D"/>
                </a:solidFill>
              </a:rPr>
              <a:t>to a new range, </a:t>
            </a:r>
            <a:r>
              <a:rPr lang="en-US" dirty="0" smtClean="0">
                <a:solidFill>
                  <a:srgbClr val="0D0D0D"/>
                </a:solidFill>
              </a:rPr>
              <a:t>typically </a:t>
            </a:r>
            <a:r>
              <a:rPr lang="en-US" dirty="0">
                <a:solidFill>
                  <a:srgbClr val="0D0D0D"/>
                </a:solidFill>
              </a:rPr>
              <a:t>[0, 1</a:t>
            </a:r>
            <a:r>
              <a:rPr lang="en-US" dirty="0" smtClean="0">
                <a:solidFill>
                  <a:srgbClr val="0D0D0D"/>
                </a:solidFill>
              </a:rPr>
              <a:t>]: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0D0D0D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D0D0D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0D0D0D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D0D0D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0D0D0D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Example: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Let income range from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min= $ 12, 000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Max = $98, 000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</a:rPr>
              <a:t>Convert $ 73,000: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313275"/>
            <a:ext cx="5696745" cy="17337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540845"/>
            <a:ext cx="282932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7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1905000"/>
            <a:ext cx="685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Given the Min–Max normalization formula below, what is the minimum and maximum range after scaling?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200400"/>
            <a:ext cx="2295845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17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447799"/>
            <a:ext cx="4324382" cy="27767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47800"/>
            <a:ext cx="4250335" cy="277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33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Z-Score </a:t>
            </a:r>
            <a:r>
              <a:rPr lang="en-US" dirty="0">
                <a:latin typeface="+mn-lt"/>
              </a:rPr>
              <a:t>Normalization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4402666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solidFill>
                      <a:srgbClr val="0D0D0D"/>
                    </a:solidFill>
                  </a:rPr>
                  <a:t>:</a:t>
                </a:r>
                <a:r>
                  <a:rPr lang="en-US" dirty="0"/>
                  <a:t>Standardizes a feature so that it has: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Mean = 0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Standard deviation = 1</a:t>
                </a:r>
                <a:endParaRPr lang="en-US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𝝁</m:t>
                        </m:r>
                      </m:num>
                      <m:den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𝝈</m:t>
                        </m:r>
                      </m:den>
                    </m:f>
                  </m:oMath>
                </a14:m>
                <a:r>
                  <a:rPr lang="el-GR" b="1" dirty="0" smtClean="0"/>
                  <a:t>​ </a:t>
                </a:r>
                <a:endParaRPr lang="en-US" b="1" dirty="0" smtClean="0"/>
              </a:p>
              <a:p>
                <a:pPr lvl="1"/>
                <a:r>
                  <a:rPr lang="en-US" dirty="0" smtClean="0"/>
                  <a:t>Where</a:t>
                </a:r>
                <a:r>
                  <a:rPr lang="en-US" dirty="0"/>
                  <a:t>: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x </a:t>
                </a:r>
                <a:r>
                  <a:rPr lang="en-US" dirty="0"/>
                  <a:t>= original value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l-GR" dirty="0" smtClean="0"/>
                  <a:t>μ </a:t>
                </a:r>
                <a:r>
                  <a:rPr lang="el-GR" dirty="0"/>
                  <a:t>= </a:t>
                </a:r>
                <a:r>
                  <a:rPr lang="en-US" dirty="0"/>
                  <a:t>mean of the feature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l-GR" dirty="0" smtClean="0"/>
                  <a:t>σ </a:t>
                </a:r>
                <a:r>
                  <a:rPr lang="el-GR" dirty="0"/>
                  <a:t>= </a:t>
                </a:r>
                <a:r>
                  <a:rPr lang="en-US" dirty="0"/>
                  <a:t>standard deviation of the feature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 smtClean="0">
                  <a:solidFill>
                    <a:srgbClr val="0D0D0D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4402666"/>
              </a:xfrm>
              <a:blipFill>
                <a:blip r:embed="rId3"/>
                <a:stretch>
                  <a:fillRect l="-2019" t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2057400"/>
            <a:ext cx="3000964" cy="278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08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45665"/>
          <a:stretch/>
        </p:blipFill>
        <p:spPr>
          <a:xfrm>
            <a:off x="4876800" y="2145274"/>
            <a:ext cx="3718560" cy="294845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Deviation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7021" b="77533"/>
          <a:stretch/>
        </p:blipFill>
        <p:spPr>
          <a:xfrm>
            <a:off x="0" y="3352800"/>
            <a:ext cx="371856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67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4636020" cy="31339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20" y="1629508"/>
            <a:ext cx="4563299" cy="310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896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Normalization</a:t>
            </a:r>
            <a:endParaRPr lang="en-US" dirty="0"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Min-max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Z-Score</a:t>
            </a:r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822960" y="2691025"/>
            <a:ext cx="269073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Very sensitive to outliers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Outliers stretch the range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Squashes normal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Good only for clean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sz="quarter" idx="4"/>
          </p:nvPr>
        </p:nvSpPr>
        <p:spPr bwMode="auto">
          <a:xfrm>
            <a:off x="4663440" y="2691025"/>
            <a:ext cx="316638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More robust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Outliers become large z-scores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Normal data stays centered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Better for noisy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592" y="4485663"/>
            <a:ext cx="2172003" cy="7906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4542820"/>
            <a:ext cx="1514686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853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5940" y="490473"/>
            <a:ext cx="7263130" cy="430887"/>
          </a:xfrm>
        </p:spPr>
        <p:txBody>
          <a:bodyPr/>
          <a:lstStyle/>
          <a:p>
            <a:r>
              <a:rPr lang="en-US" dirty="0" err="1" smtClean="0"/>
              <a:t>Comparision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4060"/>
              </p:ext>
            </p:extLst>
          </p:nvPr>
        </p:nvGraphicFramePr>
        <p:xfrm>
          <a:off x="535940" y="1524000"/>
          <a:ext cx="7998459" cy="3733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6153">
                  <a:extLst>
                    <a:ext uri="{9D8B030D-6E8A-4147-A177-3AD203B41FA5}">
                      <a16:colId xmlns:a16="http://schemas.microsoft.com/office/drawing/2014/main" val="3637574043"/>
                    </a:ext>
                  </a:extLst>
                </a:gridCol>
                <a:gridCol w="2666153">
                  <a:extLst>
                    <a:ext uri="{9D8B030D-6E8A-4147-A177-3AD203B41FA5}">
                      <a16:colId xmlns:a16="http://schemas.microsoft.com/office/drawing/2014/main" val="2891508469"/>
                    </a:ext>
                  </a:extLst>
                </a:gridCol>
                <a:gridCol w="2666153">
                  <a:extLst>
                    <a:ext uri="{9D8B030D-6E8A-4147-A177-3AD203B41FA5}">
                      <a16:colId xmlns:a16="http://schemas.microsoft.com/office/drawing/2014/main" val="1536727754"/>
                    </a:ext>
                  </a:extLst>
                </a:gridCol>
              </a:tblGrid>
              <a:tr h="772617">
                <a:tc>
                  <a:txBody>
                    <a:bodyPr/>
                    <a:lstStyle/>
                    <a:p>
                      <a:r>
                        <a:rPr lang="en-US" sz="2000" b="1"/>
                        <a:t>Feature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Min–Max Normalization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Z-score Normalization</a:t>
                      </a:r>
                    </a:p>
                  </a:txBody>
                  <a:tcPr marL="82947" marR="82947" marT="41473" marB="41473" anchor="ctr"/>
                </a:tc>
                <a:extLst>
                  <a:ext uri="{0D108BD9-81ED-4DB2-BD59-A6C34878D82A}">
                    <a16:rowId xmlns:a16="http://schemas.microsoft.com/office/drawing/2014/main" val="3172474790"/>
                  </a:ext>
                </a:extLst>
              </a:tr>
              <a:tr h="647759">
                <a:tc>
                  <a:txBody>
                    <a:bodyPr/>
                    <a:lstStyle/>
                    <a:p>
                      <a:r>
                        <a:rPr lang="en-US" sz="1600"/>
                        <a:t>Scaling Range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 to 1 (or custom range)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Centered at 0, typical range −3 to +3</a:t>
                      </a:r>
                    </a:p>
                  </a:txBody>
                  <a:tcPr marL="82947" marR="82947" marT="41473" marB="41473" anchor="ctr"/>
                </a:tc>
                <a:extLst>
                  <a:ext uri="{0D108BD9-81ED-4DB2-BD59-A6C34878D82A}">
                    <a16:rowId xmlns:a16="http://schemas.microsoft.com/office/drawing/2014/main" val="1654273275"/>
                  </a:ext>
                </a:extLst>
              </a:tr>
              <a:tr h="647759">
                <a:tc>
                  <a:txBody>
                    <a:bodyPr/>
                    <a:lstStyle/>
                    <a:p>
                      <a:r>
                        <a:rPr lang="en-US" sz="1600"/>
                        <a:t>Depends on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Minimum &amp; Maximum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Mean &amp; Standard deviation</a:t>
                      </a:r>
                    </a:p>
                  </a:txBody>
                  <a:tcPr marL="82947" marR="82947" marT="41473" marB="41473" anchor="ctr"/>
                </a:tc>
                <a:extLst>
                  <a:ext uri="{0D108BD9-81ED-4DB2-BD59-A6C34878D82A}">
                    <a16:rowId xmlns:a16="http://schemas.microsoft.com/office/drawing/2014/main" val="445643589"/>
                  </a:ext>
                </a:extLst>
              </a:tr>
              <a:tr h="647759">
                <a:tc>
                  <a:txBody>
                    <a:bodyPr/>
                    <a:lstStyle/>
                    <a:p>
                      <a:r>
                        <a:rPr lang="en-US" sz="1600"/>
                        <a:t>Effect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Rescales data proportionally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Standardizes data around mean</a:t>
                      </a:r>
                    </a:p>
                  </a:txBody>
                  <a:tcPr marL="82947" marR="82947" marT="41473" marB="41473" anchor="ctr"/>
                </a:tc>
                <a:extLst>
                  <a:ext uri="{0D108BD9-81ED-4DB2-BD59-A6C34878D82A}">
                    <a16:rowId xmlns:a16="http://schemas.microsoft.com/office/drawing/2014/main" val="3642958293"/>
                  </a:ext>
                </a:extLst>
              </a:tr>
              <a:tr h="370147">
                <a:tc>
                  <a:txBody>
                    <a:bodyPr/>
                    <a:lstStyle/>
                    <a:p>
                      <a:r>
                        <a:rPr lang="en-US" sz="1600"/>
                        <a:t>Maintains Shape?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</a:p>
                  </a:txBody>
                  <a:tcPr marL="82947" marR="82947" marT="41473" marB="41473" anchor="ctr"/>
                </a:tc>
                <a:extLst>
                  <a:ext uri="{0D108BD9-81ED-4DB2-BD59-A6C34878D82A}">
                    <a16:rowId xmlns:a16="http://schemas.microsoft.com/office/drawing/2014/main" val="2333863145"/>
                  </a:ext>
                </a:extLst>
              </a:tr>
              <a:tr h="647759">
                <a:tc>
                  <a:txBody>
                    <a:bodyPr/>
                    <a:lstStyle/>
                    <a:p>
                      <a:r>
                        <a:rPr lang="en-US" sz="1600"/>
                        <a:t>Unit After Scaling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Still interpretable (0 to 1 scale)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Unitless</a:t>
                      </a:r>
                      <a:r>
                        <a:rPr lang="en-US" sz="1600" dirty="0"/>
                        <a:t> (</a:t>
                      </a:r>
                      <a:r>
                        <a:rPr lang="en-US" sz="1600" dirty="0" err="1"/>
                        <a:t>std</a:t>
                      </a:r>
                      <a:r>
                        <a:rPr lang="en-US" sz="1600" dirty="0"/>
                        <a:t> deviations)</a:t>
                      </a:r>
                    </a:p>
                  </a:txBody>
                  <a:tcPr marL="82947" marR="82947" marT="41473" marB="41473" anchor="ctr"/>
                </a:tc>
                <a:extLst>
                  <a:ext uri="{0D108BD9-81ED-4DB2-BD59-A6C34878D82A}">
                    <a16:rowId xmlns:a16="http://schemas.microsoft.com/office/drawing/2014/main" val="2601247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590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8" y="1219200"/>
            <a:ext cx="8492135" cy="21195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28800" y="4419600"/>
            <a:ext cx="617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https://h1ros.github.io/categories/min-max-scaling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71600" y="5257800"/>
            <a:ext cx="77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www.codecademy.com/article/min-max-zscore-normalization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271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620" y="1020290"/>
            <a:ext cx="8651980" cy="50757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18EB128-5FB7-F539-80BC-59FC63841B5E}"/>
                  </a:ext>
                </a:extLst>
              </p14:cNvPr>
              <p14:cNvContentPartPr/>
              <p14:nvPr/>
            </p14:nvContentPartPr>
            <p14:xfrm>
              <a:off x="6412008" y="2161728"/>
              <a:ext cx="617760" cy="43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18EB128-5FB7-F539-80BC-59FC63841B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05888" y="2155608"/>
                <a:ext cx="63000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D842D183-6DAA-3109-B04A-C494756B88BF}"/>
              </a:ext>
            </a:extLst>
          </p:cNvPr>
          <p:cNvGrpSpPr/>
          <p:nvPr/>
        </p:nvGrpSpPr>
        <p:grpSpPr>
          <a:xfrm>
            <a:off x="5607048" y="1585728"/>
            <a:ext cx="230040" cy="577440"/>
            <a:chOff x="5607048" y="1585728"/>
            <a:chExt cx="230040" cy="57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726B8A0-453E-AD36-C946-8D2AF8787BDD}"/>
                    </a:ext>
                  </a:extLst>
                </p14:cNvPr>
                <p14:cNvContentPartPr/>
                <p14:nvPr/>
              </p14:nvContentPartPr>
              <p14:xfrm>
                <a:off x="5661408" y="1618848"/>
                <a:ext cx="175680" cy="61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726B8A0-453E-AD36-C946-8D2AF8787BD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55288" y="1612728"/>
                  <a:ext cx="187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67B05CC-60B4-D3CF-C50E-FF4B3875E599}"/>
                    </a:ext>
                  </a:extLst>
                </p14:cNvPr>
                <p14:cNvContentPartPr/>
                <p14:nvPr/>
              </p14:nvContentPartPr>
              <p14:xfrm>
                <a:off x="5607048" y="1585728"/>
                <a:ext cx="169200" cy="577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67B05CC-60B4-D3CF-C50E-FF4B3875E59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00928" y="1579608"/>
                  <a:ext cx="181440" cy="58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0A0D12B-2CF9-0FD4-5CA6-A0AC36B20422}"/>
                  </a:ext>
                </a:extLst>
              </p14:cNvPr>
              <p14:cNvContentPartPr/>
              <p14:nvPr/>
            </p14:nvContentPartPr>
            <p14:xfrm>
              <a:off x="6379248" y="2636208"/>
              <a:ext cx="1170360" cy="37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0A0D12B-2CF9-0FD4-5CA6-A0AC36B2042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73128" y="2630088"/>
                <a:ext cx="1182600" cy="4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8912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22959" y="3257249"/>
            <a:ext cx="369844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Gaussian distribution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distribution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Z-distribution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normal distribution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14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85800" y="762000"/>
            <a:ext cx="6086731" cy="5078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In practice we always </a:t>
            </a:r>
            <a:r>
              <a:rPr lang="en-US" b="1" dirty="0"/>
              <a:t>split the dataset first, then </a:t>
            </a:r>
            <a:r>
              <a:rPr lang="en-US" b="1" dirty="0" smtClean="0"/>
              <a:t>normalize</a:t>
            </a:r>
          </a:p>
          <a:p>
            <a:r>
              <a:rPr lang="en-US" b="1" dirty="0"/>
              <a:t> </a:t>
            </a:r>
            <a:r>
              <a:rPr lang="en-US" b="1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Why </a:t>
            </a:r>
            <a:r>
              <a:rPr lang="en-US" b="1" dirty="0"/>
              <a:t>do we split the data before normalizing</a:t>
            </a:r>
            <a:r>
              <a:rPr lang="en-US" b="1" dirty="0" smtClean="0"/>
              <a:t>?</a:t>
            </a:r>
            <a:endParaRPr lang="en-US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740" y="1600200"/>
            <a:ext cx="2686425" cy="277216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722214" y="1689811"/>
            <a:ext cx="504078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Training Data </a:t>
            </a: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Used </a:t>
            </a:r>
            <a:r>
              <a:rPr lang="en-US" dirty="0"/>
              <a:t>to </a:t>
            </a:r>
            <a:r>
              <a:rPr lang="en-US" b="1" dirty="0"/>
              <a:t>train</a:t>
            </a:r>
            <a:r>
              <a:rPr lang="en-US" dirty="0"/>
              <a:t> your machine learning </a:t>
            </a:r>
            <a:r>
              <a:rPr lang="en-US" dirty="0" smtClean="0"/>
              <a:t>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We </a:t>
            </a:r>
            <a:r>
              <a:rPr lang="en-US" dirty="0"/>
              <a:t>compute </a:t>
            </a:r>
            <a:r>
              <a:rPr lang="en-US" b="1" dirty="0"/>
              <a:t>normalization parameters</a:t>
            </a:r>
            <a:r>
              <a:rPr lang="en-US" dirty="0"/>
              <a:t> (e.g., min, max, mean, standard deviation) </a:t>
            </a:r>
            <a:r>
              <a:rPr lang="en-US" b="1" dirty="0"/>
              <a:t>only from this training set</a:t>
            </a:r>
            <a:r>
              <a:rPr lang="en-US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22214" y="3220648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Test Data </a:t>
            </a: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Used </a:t>
            </a:r>
            <a:r>
              <a:rPr lang="en-US" dirty="0"/>
              <a:t>to </a:t>
            </a:r>
            <a:r>
              <a:rPr lang="en-US" b="1" dirty="0"/>
              <a:t>evaluate</a:t>
            </a:r>
            <a:r>
              <a:rPr lang="en-US" dirty="0"/>
              <a:t> your </a:t>
            </a:r>
            <a:r>
              <a:rPr lang="en-US" dirty="0" smtClean="0"/>
              <a:t>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We </a:t>
            </a:r>
            <a:r>
              <a:rPr lang="en-US" dirty="0"/>
              <a:t>must apply the </a:t>
            </a:r>
            <a:r>
              <a:rPr lang="en-US" b="1" dirty="0"/>
              <a:t>same normalization parameters</a:t>
            </a:r>
            <a:r>
              <a:rPr lang="en-US" dirty="0"/>
              <a:t> obtained from the training </a:t>
            </a:r>
            <a:r>
              <a:rPr lang="en-US" dirty="0" smtClean="0"/>
              <a:t>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do </a:t>
            </a:r>
            <a:r>
              <a:rPr lang="en-US" b="1" dirty="0"/>
              <a:t>NOT compute</a:t>
            </a:r>
            <a:r>
              <a:rPr lang="en-US" dirty="0"/>
              <a:t> new min/max or new μ/σ on the test set.</a:t>
            </a:r>
          </a:p>
        </p:txBody>
      </p:sp>
    </p:spTree>
    <p:extLst>
      <p:ext uri="{BB962C8B-B14F-4D97-AF65-F5344CB8AC3E}">
        <p14:creationId xmlns:p14="http://schemas.microsoft.com/office/powerpoint/2010/main" val="574557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609600"/>
            <a:ext cx="7578062" cy="518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968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1111</TotalTime>
  <Words>881</Words>
  <Application>Microsoft Office PowerPoint</Application>
  <PresentationFormat>On-screen Show (4:3)</PresentationFormat>
  <Paragraphs>295</Paragraphs>
  <Slides>29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Arial</vt:lpstr>
      <vt:lpstr>Calibri</vt:lpstr>
      <vt:lpstr>Calibri Light</vt:lpstr>
      <vt:lpstr>Cambria</vt:lpstr>
      <vt:lpstr>Cambria Math</vt:lpstr>
      <vt:lpstr>Courier New</vt:lpstr>
      <vt:lpstr>Tahoma</vt:lpstr>
      <vt:lpstr>Trebuchet MS</vt:lpstr>
      <vt:lpstr>ui-sans-serif</vt:lpstr>
      <vt:lpstr>Office Theme</vt:lpstr>
      <vt:lpstr>Retrospect</vt:lpstr>
      <vt:lpstr>PowerPoint Presentation</vt:lpstr>
      <vt:lpstr>Outline</vt:lpstr>
      <vt:lpstr>Data Integration</vt:lpstr>
      <vt:lpstr>PowerPoint Presentation</vt:lpstr>
      <vt:lpstr>Handling Redundancy in Data Integration</vt:lpstr>
      <vt:lpstr>PowerPoint Presentation</vt:lpstr>
      <vt:lpstr>Pandas concat function joining two dataframes</vt:lpstr>
      <vt:lpstr>PowerPoint Presentation</vt:lpstr>
      <vt:lpstr>PowerPoint Presentation</vt:lpstr>
      <vt:lpstr>Data Transformation</vt:lpstr>
      <vt:lpstr>PowerPoint Presentation</vt:lpstr>
      <vt:lpstr>PowerPoint Presentation</vt:lpstr>
      <vt:lpstr>Normalization</vt:lpstr>
      <vt:lpstr>Normalization</vt:lpstr>
      <vt:lpstr>PowerPoint Presentation</vt:lpstr>
      <vt:lpstr>Min–Max Normalization</vt:lpstr>
      <vt:lpstr>Min–Max Normalization</vt:lpstr>
      <vt:lpstr>PowerPoint Presentation</vt:lpstr>
      <vt:lpstr>PowerPoint Presentation</vt:lpstr>
      <vt:lpstr>Z-Score Normalization</vt:lpstr>
      <vt:lpstr>Standard Deviation</vt:lpstr>
      <vt:lpstr>PowerPoint Presentation</vt:lpstr>
      <vt:lpstr>Normalization</vt:lpstr>
      <vt:lpstr>Comparision </vt:lpstr>
      <vt:lpstr>PowerPoint Presentation</vt:lpstr>
      <vt:lpstr>PowerPoint Presentation</vt:lpstr>
      <vt:lpstr>Distributions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cs412slides</dc:title>
  <dc:creator>Jiawei Han</dc:creator>
  <cp:lastModifiedBy>Zainab</cp:lastModifiedBy>
  <cp:revision>45</cp:revision>
  <dcterms:created xsi:type="dcterms:W3CDTF">2024-10-31T16:54:27Z</dcterms:created>
  <dcterms:modified xsi:type="dcterms:W3CDTF">2025-12-10T01:57:52Z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2024-10-31T00:00:00Z</vt:filetime>
  </property>
</Properties>
</file>