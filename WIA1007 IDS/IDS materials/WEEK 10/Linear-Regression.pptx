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74" r:id="rId5"/>
    <p:sldId id="260" r:id="rId6"/>
    <p:sldId id="275" r:id="rId7"/>
    <p:sldId id="277" r:id="rId8"/>
    <p:sldId id="273" r:id="rId9"/>
    <p:sldId id="276" r:id="rId10"/>
    <p:sldId id="278" r:id="rId11"/>
    <p:sldId id="259" r:id="rId12"/>
    <p:sldId id="261" r:id="rId13"/>
    <p:sldId id="269" r:id="rId14"/>
    <p:sldId id="279" r:id="rId15"/>
    <p:sldId id="280" r:id="rId16"/>
    <p:sldId id="281" r:id="rId17"/>
    <p:sldId id="282" r:id="rId18"/>
    <p:sldId id="283" r:id="rId19"/>
    <p:sldId id="284" r:id="rId20"/>
    <p:sldId id="270" r:id="rId21"/>
    <p:sldId id="285" r:id="rId22"/>
    <p:sldId id="286" r:id="rId23"/>
    <p:sldId id="287" r:id="rId24"/>
    <p:sldId id="288" r:id="rId25"/>
    <p:sldId id="289" r:id="rId26"/>
    <p:sldId id="271" r:id="rId27"/>
    <p:sldId id="262" r:id="rId28"/>
    <p:sldId id="263" r:id="rId29"/>
    <p:sldId id="266" r:id="rId30"/>
    <p:sldId id="267" r:id="rId31"/>
  </p:sldIdLst>
  <p:sldSz cx="14630400" cy="8229600"/>
  <p:notesSz cx="8229600" cy="14630400"/>
  <p:embeddedFontLs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Platypi Medium" panose="020B0604020202020204" charset="0"/>
      <p:regular r:id="rId41"/>
    </p:embeddedFont>
    <p:embeddedFont>
      <p:font typeface="Source Serif 4" panose="020B0604020202020204" charset="0"/>
      <p:regular r:id="rId42"/>
    </p:embeddedFont>
    <p:embeddedFont>
      <p:font typeface="Cambria Math" panose="02040503050406030204" pitchFamily="18" charset="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3202" autoAdjust="0"/>
  </p:normalViewPr>
  <p:slideViewPr>
    <p:cSldViewPr snapToGrid="0" snapToObjects="1">
      <p:cViewPr varScale="1">
        <p:scale>
          <a:sx n="57" d="100"/>
          <a:sy n="57" d="100"/>
        </p:scale>
        <p:origin x="12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00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51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69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55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49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642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1674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54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89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31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919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914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937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404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568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24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737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Introduction to Linear Regression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Understanding how machines learn to predict continuous values through one of the most fundamental algorithms in machine learning</a:t>
            </a:r>
            <a:endParaRPr lang="en-US" sz="1750" dirty="0"/>
          </a:p>
        </p:txBody>
      </p:sp>
      <p:sp>
        <p:nvSpPr>
          <p:cNvPr id="5" name="Rectangle 4"/>
          <p:cNvSpPr/>
          <p:nvPr/>
        </p:nvSpPr>
        <p:spPr>
          <a:xfrm>
            <a:off x="605532" y="7587734"/>
            <a:ext cx="4283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Dr. Zainab Malik | zainabmalik@um.edu.my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538" y="385405"/>
            <a:ext cx="4541758" cy="437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 Simple Example to Start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0538" y="1103590"/>
            <a:ext cx="13649325" cy="448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Imagine you're looking at houses for sale and notice a clear pattern: larger houses consistently cost more money. This observation raises an interesting question—can we predict the price of any house if we simply know its size?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699" y="2098952"/>
            <a:ext cx="7296151" cy="40858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0537" y="6731744"/>
            <a:ext cx="13649325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Notice the pattern? The relationship is remarkably consistent: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Price ≈ Size × 200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. This simple observation is the foundation of linear regression.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406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3300" y="3132892"/>
            <a:ext cx="6520696" cy="61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Linear Regression?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976074" y="4255413"/>
            <a:ext cx="12971026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supervised learning algorithm used to predict a continuous numerical value by finding the best-fitting straight line through data points.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83300" y="4035862"/>
            <a:ext cx="22860" cy="751523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6" name="Shape 3"/>
          <p:cNvSpPr/>
          <p:nvPr/>
        </p:nvSpPr>
        <p:spPr>
          <a:xfrm>
            <a:off x="683300" y="5006935"/>
            <a:ext cx="4291132" cy="2530435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</p:sp>
      <p:sp>
        <p:nvSpPr>
          <p:cNvPr id="7" name="Shape 4"/>
          <p:cNvSpPr/>
          <p:nvPr/>
        </p:nvSpPr>
        <p:spPr>
          <a:xfrm>
            <a:off x="878443" y="5202079"/>
            <a:ext cx="585668" cy="585668"/>
          </a:xfrm>
          <a:prstGeom prst="roundRect">
            <a:avLst>
              <a:gd name="adj" fmla="val 15611380"/>
            </a:avLst>
          </a:prstGeom>
          <a:solidFill>
            <a:srgbClr val="3E2513"/>
          </a:solidFill>
          <a:ln/>
        </p:spPr>
      </p:sp>
      <p:sp>
        <p:nvSpPr>
          <p:cNvPr id="9" name="Text 5"/>
          <p:cNvSpPr/>
          <p:nvPr/>
        </p:nvSpPr>
        <p:spPr>
          <a:xfrm>
            <a:off x="1767245" y="5248394"/>
            <a:ext cx="2904053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Independent Variable (x)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78443" y="6404967"/>
            <a:ext cx="3900845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we know and use as input—like the size of a house in square feet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169575" y="5006935"/>
            <a:ext cx="4291132" cy="2530435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</p:sp>
      <p:sp>
        <p:nvSpPr>
          <p:cNvPr id="12" name="Shape 8"/>
          <p:cNvSpPr/>
          <p:nvPr/>
        </p:nvSpPr>
        <p:spPr>
          <a:xfrm>
            <a:off x="5364718" y="5202079"/>
            <a:ext cx="585668" cy="585668"/>
          </a:xfrm>
          <a:prstGeom prst="roundRect">
            <a:avLst>
              <a:gd name="adj" fmla="val 15611380"/>
            </a:avLst>
          </a:prstGeom>
          <a:solidFill>
            <a:srgbClr val="3E2513"/>
          </a:solidFill>
          <a:ln/>
        </p:spPr>
      </p:sp>
      <p:sp>
        <p:nvSpPr>
          <p:cNvPr id="14" name="Text 9"/>
          <p:cNvSpPr/>
          <p:nvPr/>
        </p:nvSpPr>
        <p:spPr>
          <a:xfrm>
            <a:off x="6145410" y="5233897"/>
            <a:ext cx="2697956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Dependent Variable (y)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5364718" y="6404967"/>
            <a:ext cx="3900845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we want to predict as output—like the price of that house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9655850" y="5006935"/>
            <a:ext cx="4291251" cy="2530435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</p:sp>
      <p:sp>
        <p:nvSpPr>
          <p:cNvPr id="17" name="Shape 12"/>
          <p:cNvSpPr/>
          <p:nvPr/>
        </p:nvSpPr>
        <p:spPr>
          <a:xfrm>
            <a:off x="9850993" y="5202079"/>
            <a:ext cx="585668" cy="585668"/>
          </a:xfrm>
          <a:prstGeom prst="roundRect">
            <a:avLst>
              <a:gd name="adj" fmla="val 15611380"/>
            </a:avLst>
          </a:prstGeom>
          <a:solidFill>
            <a:srgbClr val="3E2513"/>
          </a:solidFill>
          <a:ln/>
        </p:spPr>
      </p:sp>
      <p:sp>
        <p:nvSpPr>
          <p:cNvPr id="19" name="Text 13"/>
          <p:cNvSpPr/>
          <p:nvPr/>
        </p:nvSpPr>
        <p:spPr>
          <a:xfrm>
            <a:off x="10738499" y="5270456"/>
            <a:ext cx="2440662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Goal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9850993" y="6404967"/>
            <a:ext cx="3900964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Find the straight line that minimizes the difference between predictions and actual values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75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119" y="3321129"/>
            <a:ext cx="7840980" cy="680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Visualizing the "Best Fit" Line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762119" y="4328160"/>
            <a:ext cx="4223623" cy="2360533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0245" y="4576286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Actual Data Points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10245" y="5047059"/>
            <a:ext cx="3727371" cy="1393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 cross </a:t>
            </a:r>
            <a:r>
              <a:rPr lang="en-US" sz="1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represent real observations—each showing an actual house size paired with its true sale price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203388" y="4328160"/>
            <a:ext cx="4223623" cy="2360533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1515" y="4576286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Poor Fit Line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451515" y="5047059"/>
            <a:ext cx="3727371" cy="1045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red line misses many points by large distances, creating significant prediction errors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644658" y="4328160"/>
            <a:ext cx="4223623" cy="2360533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92784" y="4576286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Best Fit Line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892784" y="5047059"/>
            <a:ext cx="3727371" cy="1045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green line comes closest to all points on average, minimizing the total error across all predictions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62119" y="6933605"/>
            <a:ext cx="13106162" cy="69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key question:</a:t>
            </a:r>
            <a:r>
              <a:rPr lang="en-US" sz="1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How do we mathematically find the "best" line? We measure errors and choose the line that makes those errors as small as possible!</a:t>
            </a:r>
            <a:endParaRPr lang="en-US" sz="17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098" y="-357"/>
            <a:ext cx="6027935" cy="33907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 flipV="1">
            <a:off x="2672860" y="1828800"/>
            <a:ext cx="9003325" cy="4818482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2672860" y="887506"/>
            <a:ext cx="7372093" cy="575977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460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 flipV="1">
            <a:off x="2672860" y="1828800"/>
            <a:ext cx="9003325" cy="4818482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428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30195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 flipV="1">
            <a:off x="2438400" y="1852246"/>
            <a:ext cx="9730154" cy="4818482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02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2" y="470647"/>
            <a:ext cx="14605088" cy="775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360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30195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 flipV="1">
            <a:off x="2438400" y="1852246"/>
            <a:ext cx="9730154" cy="4818482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100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942"/>
            <a:ext cx="14630400" cy="28719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689" y="3272076"/>
            <a:ext cx="5939433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Equation of a Line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50689" y="4478536"/>
            <a:ext cx="3213735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Remember from school?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50689" y="5085159"/>
            <a:ext cx="6302812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689" y="5085159"/>
            <a:ext cx="6302812" cy="3732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0689" y="5729883"/>
            <a:ext cx="630281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</a:t>
            </a: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Dependent variable (output/price)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50689" y="6148149"/>
            <a:ext cx="630281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x</a:t>
            </a: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Independent variable (input/size)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50689" y="6566416"/>
            <a:ext cx="630281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</a:t>
            </a: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Slope (how much y changes when x increases)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50689" y="6984683"/>
            <a:ext cx="630281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</a:t>
            </a: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Intercept (value of y when x = 0)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7584519" y="4478536"/>
            <a:ext cx="3480673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 machine learning terms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584519" y="5085159"/>
            <a:ext cx="6302812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4519" y="5085159"/>
            <a:ext cx="6302812" cy="3732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84519" y="5729883"/>
            <a:ext cx="630281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ŷ</a:t>
            </a: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(y-hat): Predicted value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7584519" y="6148149"/>
            <a:ext cx="630281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w₁</a:t>
            </a: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Weight (same as slope)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7584519" y="6566416"/>
            <a:ext cx="630281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w₀</a:t>
            </a: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Bias (same as intercept)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7584519" y="7102673"/>
            <a:ext cx="630281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Example: Predicted Price = (slope × Size) + intercept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710" y="573405"/>
            <a:ext cx="9160431" cy="64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0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How to Find the Best Line?</a:t>
            </a:r>
            <a:endParaRPr lang="en-US" sz="4050" b="1" dirty="0"/>
          </a:p>
        </p:txBody>
      </p:sp>
      <p:sp>
        <p:nvSpPr>
          <p:cNvPr id="3" name="Text 1"/>
          <p:cNvSpPr/>
          <p:nvPr/>
        </p:nvSpPr>
        <p:spPr>
          <a:xfrm>
            <a:off x="727710" y="1638895"/>
            <a:ext cx="207883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27710" y="1969413"/>
            <a:ext cx="6483548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5" name="Text 3"/>
          <p:cNvSpPr/>
          <p:nvPr/>
        </p:nvSpPr>
        <p:spPr>
          <a:xfrm>
            <a:off x="727710" y="2119074"/>
            <a:ext cx="3690104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800" b="1"/>
              <a:t>Ordinary Least Squares (OLS)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76040" y="2738557"/>
            <a:ext cx="6483548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800" dirty="0"/>
              <a:t>exact </a:t>
            </a:r>
            <a:r>
              <a:rPr lang="en-US" sz="2800" dirty="0" smtClean="0"/>
              <a:t>solution</a:t>
            </a:r>
          </a:p>
          <a:p>
            <a:pPr>
              <a:lnSpc>
                <a:spcPts val="2900"/>
              </a:lnSpc>
            </a:pPr>
            <a:endParaRPr lang="en-US" sz="2800" dirty="0"/>
          </a:p>
          <a:p>
            <a:r>
              <a:rPr lang="en-US" sz="2400" dirty="0"/>
              <a:t>Finds line that </a:t>
            </a:r>
            <a:r>
              <a:rPr lang="en-US" sz="2400" b="1" dirty="0"/>
              <a:t>minimizes sum of squared errors</a:t>
            </a:r>
            <a:endParaRPr lang="en-US" sz="2400" dirty="0"/>
          </a:p>
          <a:p>
            <a:r>
              <a:rPr lang="en-US" sz="2400" dirty="0" smtClean="0"/>
              <a:t>Pros</a:t>
            </a:r>
            <a:r>
              <a:rPr lang="en-US" sz="2400" dirty="0"/>
              <a:t>: Fast, exact solution</a:t>
            </a:r>
          </a:p>
          <a:p>
            <a:r>
              <a:rPr lang="en-US" sz="2400" dirty="0"/>
              <a:t>Cons: Doesn’t scale well for huge data</a:t>
            </a:r>
          </a:p>
          <a:p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419142" y="1638895"/>
            <a:ext cx="207883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419142" y="1969413"/>
            <a:ext cx="6483548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1" name="Text 8"/>
          <p:cNvSpPr/>
          <p:nvPr/>
        </p:nvSpPr>
        <p:spPr>
          <a:xfrm>
            <a:off x="7419142" y="2119074"/>
            <a:ext cx="2632710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800" b="1" dirty="0"/>
              <a:t>Gradient Descent (GD)</a:t>
            </a:r>
            <a:endParaRPr lang="en-US" sz="3200" dirty="0"/>
          </a:p>
        </p:txBody>
      </p:sp>
      <p:sp>
        <p:nvSpPr>
          <p:cNvPr id="26" name="Rectangle 25"/>
          <p:cNvSpPr/>
          <p:nvPr/>
        </p:nvSpPr>
        <p:spPr>
          <a:xfrm>
            <a:off x="7761961" y="2604134"/>
            <a:ext cx="5957336" cy="2492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 iterative </a:t>
            </a:r>
            <a:r>
              <a:rPr lang="en-US" sz="2800" dirty="0" smtClean="0"/>
              <a:t>approach</a:t>
            </a:r>
          </a:p>
          <a:p>
            <a:endParaRPr lang="en-US" sz="2800" dirty="0"/>
          </a:p>
          <a:p>
            <a:r>
              <a:rPr lang="en-US" sz="2400" dirty="0" smtClean="0"/>
              <a:t>Start </a:t>
            </a:r>
            <a:r>
              <a:rPr lang="en-US" sz="2400" dirty="0"/>
              <a:t>with random line, slowly improve it</a:t>
            </a:r>
          </a:p>
          <a:p>
            <a:r>
              <a:rPr lang="en-US" sz="2400" dirty="0"/>
              <a:t>Like </a:t>
            </a:r>
            <a:r>
              <a:rPr lang="en-US" sz="2400" b="1" dirty="0"/>
              <a:t>walking down a hill</a:t>
            </a:r>
            <a:r>
              <a:rPr lang="en-US" sz="2400" dirty="0"/>
              <a:t> to find lowest valley</a:t>
            </a:r>
          </a:p>
          <a:p>
            <a:r>
              <a:rPr lang="en-US" sz="2400" b="1" dirty="0"/>
              <a:t>Valley</a:t>
            </a:r>
            <a:r>
              <a:rPr lang="en-US" sz="2400" dirty="0"/>
              <a:t> = lowest error (cost)</a:t>
            </a:r>
          </a:p>
          <a:p>
            <a:endParaRPr lang="en-US" sz="2800" dirty="0"/>
          </a:p>
        </p:txBody>
      </p:sp>
      <p:sp>
        <p:nvSpPr>
          <p:cNvPr id="27" name="Rectangle 26"/>
          <p:cNvSpPr/>
          <p:nvPr/>
        </p:nvSpPr>
        <p:spPr>
          <a:xfrm>
            <a:off x="917734" y="6448336"/>
            <a:ext cx="1113365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Use OLS: Small datasets, need </a:t>
            </a:r>
            <a:r>
              <a:rPr lang="en-US" sz="2400" dirty="0" smtClean="0"/>
              <a:t>exact solution, interpretability</a:t>
            </a:r>
            <a:endParaRPr lang="en-US" sz="2400" dirty="0"/>
          </a:p>
          <a:p>
            <a:r>
              <a:rPr lang="en-US" sz="2400" dirty="0"/>
              <a:t>Use GD: Large datasets, online learning, neural networks later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710" y="573405"/>
            <a:ext cx="9160431" cy="64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0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Cost Function: </a:t>
            </a:r>
            <a:r>
              <a:rPr lang="en-US" sz="4050" b="1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Sum of </a:t>
            </a:r>
            <a:r>
              <a:rPr lang="en-US" sz="40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Squared Error </a:t>
            </a:r>
            <a:r>
              <a:rPr lang="en-US" sz="4050" b="1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(SSE</a:t>
            </a:r>
            <a:r>
              <a:rPr lang="en-US" sz="40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)</a:t>
            </a:r>
            <a:endParaRPr lang="en-US" sz="405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6283"/>
          <a:stretch/>
        </p:blipFill>
        <p:spPr>
          <a:xfrm>
            <a:off x="1391143" y="1936376"/>
            <a:ext cx="12002127" cy="578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00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710" y="573405"/>
            <a:ext cx="9160431" cy="64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0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Cost Function: Mean Squared Error (MSE)</a:t>
            </a:r>
            <a:endParaRPr lang="en-US" sz="4050" b="1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158" y="4114799"/>
            <a:ext cx="4576942" cy="26372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039" y="1940522"/>
            <a:ext cx="7206192" cy="183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26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710" y="573405"/>
            <a:ext cx="9160431" cy="64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050" b="1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Ordinary Least Square Method </a:t>
            </a:r>
            <a:endParaRPr lang="en-US" sz="405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729772" y="2347209"/>
                <a:ext cx="186230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772" y="2347209"/>
                <a:ext cx="186230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29771" y="3475207"/>
                <a:ext cx="4177362" cy="945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771" y="3475207"/>
                <a:ext cx="4177362" cy="9451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58029" y="5117513"/>
                <a:ext cx="20255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029" y="5117513"/>
                <a:ext cx="202555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210" y="2347209"/>
            <a:ext cx="4892403" cy="346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6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710" y="573405"/>
            <a:ext cx="9160431" cy="64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050" b="1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Ordinary Least Square Method </a:t>
            </a:r>
            <a:endParaRPr lang="en-US" sz="405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151960"/>
              </p:ext>
            </p:extLst>
          </p:nvPr>
        </p:nvGraphicFramePr>
        <p:xfrm>
          <a:off x="727710" y="1768634"/>
          <a:ext cx="3596640" cy="2560320"/>
        </p:xfrm>
        <a:graphic>
          <a:graphicData uri="http://schemas.openxmlformats.org/drawingml/2006/table">
            <a:tbl>
              <a:tblPr/>
              <a:tblGrid>
                <a:gridCol w="1798320">
                  <a:extLst>
                    <a:ext uri="{9D8B030D-6E8A-4147-A177-3AD203B41FA5}">
                      <a16:colId xmlns:a16="http://schemas.microsoft.com/office/drawing/2014/main" val="345476343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9214244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0" i="1">
                          <a:effectLst/>
                          <a:latin typeface="KaTeX_Math"/>
                        </a:rPr>
                        <a:t>xi</a:t>
                      </a:r>
                      <a:r>
                        <a:rPr lang="en-US" b="0">
                          <a:effectLst/>
                          <a:latin typeface="KaTeX_Main"/>
                        </a:rPr>
                        <a:t>​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err="1" smtClean="0">
                          <a:effectLst/>
                          <a:latin typeface="KaTeX_Main"/>
                        </a:rPr>
                        <a:t>yi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530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277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147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549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038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864246"/>
                  </a:ext>
                </a:extLst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876800" y="3521075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b="71989"/>
          <a:stretch/>
        </p:blipFill>
        <p:spPr>
          <a:xfrm>
            <a:off x="439971" y="4981696"/>
            <a:ext cx="4867954" cy="4856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7925" y="1437660"/>
            <a:ext cx="3410426" cy="43821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/>
          <a:srcRect l="31619" t="23686"/>
          <a:stretch/>
        </p:blipFill>
        <p:spPr>
          <a:xfrm>
            <a:off x="727710" y="5789574"/>
            <a:ext cx="3330913" cy="132595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925" y="2090401"/>
            <a:ext cx="8750975" cy="29426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7925" y="5206210"/>
            <a:ext cx="5401429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55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710" y="573405"/>
            <a:ext cx="9160431" cy="64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050" b="1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Ordinary Least Square Method </a:t>
            </a:r>
            <a:endParaRPr lang="en-US" sz="4050" b="1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876800" y="3521075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9657" y="1818104"/>
            <a:ext cx="2864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F1115"/>
                </a:solidFill>
                <a:latin typeface="quote-cjk-patch"/>
              </a:rPr>
              <a:t>Step 5 :  Calculate 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Slope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981199" y="2575880"/>
                <a:ext cx="5909182" cy="874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̅"/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)(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̅"/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US" sz="3200" dirty="0" smtClean="0"/>
                  <a:t>  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 =0.9</m:t>
                    </m:r>
                  </m:oMath>
                </a14:m>
                <a:endParaRPr lang="en-US" sz="3200" dirty="0" smtClean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199" y="2575880"/>
                <a:ext cx="5909182" cy="874920"/>
              </a:xfrm>
              <a:prstGeom prst="rect">
                <a:avLst/>
              </a:prstGeom>
              <a:blipFill>
                <a:blip r:embed="rId3"/>
                <a:stretch>
                  <a:fillRect b="-4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1029656" y="4046954"/>
            <a:ext cx="3211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F1115"/>
                </a:solidFill>
                <a:latin typeface="quote-cjk-patch"/>
              </a:rPr>
              <a:t>Step 6 :  Calculate Intercept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030990" y="4803551"/>
                <a:ext cx="709585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=  4−0.9 ∗3=4−2.7=1.3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990" y="4803551"/>
                <a:ext cx="709585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055241" y="5769037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Step 6: Final Regression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030990" y="6501922"/>
                <a:ext cx="437228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  =1.3+0.9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990" y="6501922"/>
                <a:ext cx="437228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99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710" y="573405"/>
            <a:ext cx="9160431" cy="64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050" b="1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Ordinary Least Square Method </a:t>
            </a:r>
            <a:endParaRPr lang="en-US" sz="4050" b="1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876800" y="3521075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95400" y="3653135"/>
            <a:ext cx="113919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OLS finds the line that minimizes 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 distances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(squared) between points and the line. Your formulas give the 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 mathematical solution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to that minimization problem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271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710" y="573405"/>
            <a:ext cx="9160431" cy="64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0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How to Find the Best Line?</a:t>
            </a:r>
            <a:endParaRPr lang="en-US" sz="4050" b="1" dirty="0"/>
          </a:p>
        </p:txBody>
      </p:sp>
      <p:sp>
        <p:nvSpPr>
          <p:cNvPr id="3" name="Text 1"/>
          <p:cNvSpPr/>
          <p:nvPr/>
        </p:nvSpPr>
        <p:spPr>
          <a:xfrm>
            <a:off x="727710" y="1638895"/>
            <a:ext cx="207883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27710" y="1969413"/>
            <a:ext cx="6483548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5" name="Text 3"/>
          <p:cNvSpPr/>
          <p:nvPr/>
        </p:nvSpPr>
        <p:spPr>
          <a:xfrm>
            <a:off x="727710" y="2119074"/>
            <a:ext cx="3690104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800" b="1"/>
              <a:t>Ordinary Least Squares (OLS)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76040" y="2738557"/>
            <a:ext cx="6483548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800" dirty="0"/>
              <a:t>exact </a:t>
            </a:r>
            <a:r>
              <a:rPr lang="en-US" sz="2800" dirty="0" smtClean="0"/>
              <a:t>solution</a:t>
            </a:r>
          </a:p>
          <a:p>
            <a:pPr>
              <a:lnSpc>
                <a:spcPts val="2900"/>
              </a:lnSpc>
            </a:pPr>
            <a:endParaRPr lang="en-US" sz="2800" dirty="0"/>
          </a:p>
          <a:p>
            <a:r>
              <a:rPr lang="en-US" sz="2400" dirty="0"/>
              <a:t>Finds line that </a:t>
            </a:r>
            <a:r>
              <a:rPr lang="en-US" sz="2400" b="1" dirty="0"/>
              <a:t>minimizes sum of squared errors</a:t>
            </a:r>
            <a:endParaRPr lang="en-US" sz="2400" dirty="0"/>
          </a:p>
          <a:p>
            <a:r>
              <a:rPr lang="en-US" sz="2400" dirty="0" smtClean="0"/>
              <a:t>Pros</a:t>
            </a:r>
            <a:r>
              <a:rPr lang="en-US" sz="2400" dirty="0"/>
              <a:t>: Fast, exact solution</a:t>
            </a:r>
          </a:p>
          <a:p>
            <a:r>
              <a:rPr lang="en-US" sz="2400" dirty="0"/>
              <a:t>Cons: Doesn’t scale well for huge data</a:t>
            </a:r>
          </a:p>
          <a:p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419142" y="1638895"/>
            <a:ext cx="207883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419142" y="1969413"/>
            <a:ext cx="6483548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1" name="Text 8"/>
          <p:cNvSpPr/>
          <p:nvPr/>
        </p:nvSpPr>
        <p:spPr>
          <a:xfrm>
            <a:off x="7419142" y="2119074"/>
            <a:ext cx="2632710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800" b="1" dirty="0"/>
              <a:t>Gradient Descent (GD)</a:t>
            </a:r>
            <a:endParaRPr lang="en-US" sz="3200" dirty="0"/>
          </a:p>
        </p:txBody>
      </p:sp>
      <p:sp>
        <p:nvSpPr>
          <p:cNvPr id="26" name="Rectangle 25"/>
          <p:cNvSpPr/>
          <p:nvPr/>
        </p:nvSpPr>
        <p:spPr>
          <a:xfrm>
            <a:off x="7761961" y="2604134"/>
            <a:ext cx="5957336" cy="2492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 iterative </a:t>
            </a:r>
            <a:r>
              <a:rPr lang="en-US" sz="2800" dirty="0" smtClean="0"/>
              <a:t>approach</a:t>
            </a:r>
          </a:p>
          <a:p>
            <a:endParaRPr lang="en-US" sz="2800" dirty="0"/>
          </a:p>
          <a:p>
            <a:r>
              <a:rPr lang="en-US" sz="2400" dirty="0" smtClean="0"/>
              <a:t>Start </a:t>
            </a:r>
            <a:r>
              <a:rPr lang="en-US" sz="2400" dirty="0"/>
              <a:t>with random line, slowly improve it</a:t>
            </a:r>
          </a:p>
          <a:p>
            <a:r>
              <a:rPr lang="en-US" sz="2400" dirty="0"/>
              <a:t>Like </a:t>
            </a:r>
            <a:r>
              <a:rPr lang="en-US" sz="2400" b="1" dirty="0"/>
              <a:t>walking down a hill</a:t>
            </a:r>
            <a:r>
              <a:rPr lang="en-US" sz="2400" dirty="0"/>
              <a:t> to find lowest valley</a:t>
            </a:r>
          </a:p>
          <a:p>
            <a:r>
              <a:rPr lang="en-US" sz="2400" b="1" dirty="0"/>
              <a:t>Valley</a:t>
            </a:r>
            <a:r>
              <a:rPr lang="en-US" sz="2400" dirty="0"/>
              <a:t> = lowest error (cost)</a:t>
            </a:r>
          </a:p>
          <a:p>
            <a:endParaRPr lang="en-US" sz="2800" dirty="0"/>
          </a:p>
        </p:txBody>
      </p:sp>
      <p:sp>
        <p:nvSpPr>
          <p:cNvPr id="27" name="Rectangle 26"/>
          <p:cNvSpPr/>
          <p:nvPr/>
        </p:nvSpPr>
        <p:spPr>
          <a:xfrm>
            <a:off x="917734" y="6448336"/>
            <a:ext cx="1113365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Use OLS: Small datasets, need </a:t>
            </a:r>
            <a:r>
              <a:rPr lang="en-US" sz="2400" dirty="0" smtClean="0"/>
              <a:t>exact solution, interpretability</a:t>
            </a:r>
            <a:endParaRPr lang="en-US" sz="2400" dirty="0"/>
          </a:p>
          <a:p>
            <a:r>
              <a:rPr lang="en-US" sz="2400" dirty="0"/>
              <a:t>Use GD: Large datasets, online learning, neural networks later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10997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710" y="573405"/>
            <a:ext cx="9160431" cy="64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0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Gradient Descent: The Update Rule</a:t>
            </a:r>
            <a:endParaRPr lang="en-US" sz="405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7" y="1719052"/>
            <a:ext cx="10499588" cy="538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96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710" y="573405"/>
            <a:ext cx="9160431" cy="64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0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Gradient Descent: The Update Rule</a:t>
            </a:r>
            <a:endParaRPr lang="en-US" sz="405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82" y="1609513"/>
            <a:ext cx="9282467" cy="553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033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710" y="573405"/>
            <a:ext cx="9160431" cy="64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0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Gradient Descent: The Update Rule</a:t>
            </a:r>
            <a:endParaRPr lang="en-US" sz="405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559111"/>
            <a:ext cx="11753850" cy="599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6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710" y="573405"/>
            <a:ext cx="9160431" cy="64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0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Gradient Descent: The Update Rule</a:t>
            </a:r>
            <a:endParaRPr lang="en-US" sz="405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09" y="1642868"/>
            <a:ext cx="12333351" cy="563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38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710" y="573405"/>
            <a:ext cx="9160431" cy="64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0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Gradient Descent: The Update Rule</a:t>
            </a:r>
            <a:endParaRPr lang="en-US" sz="405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09" y="1523760"/>
            <a:ext cx="7391787" cy="45722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6334" t="-1589" r="9156" b="1589"/>
          <a:stretch/>
        </p:blipFill>
        <p:spPr>
          <a:xfrm>
            <a:off x="8077200" y="2500009"/>
            <a:ext cx="6553200" cy="359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710" y="573405"/>
            <a:ext cx="9160431" cy="64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0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Gradient Descent: The Update Rule</a:t>
            </a:r>
            <a:endParaRPr lang="en-US" sz="405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7" y="1719052"/>
            <a:ext cx="10499588" cy="538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10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710" y="573405"/>
            <a:ext cx="9160431" cy="64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0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Gradient Descent Visualization</a:t>
            </a:r>
            <a:endParaRPr lang="en-US" sz="4050" b="1" dirty="0"/>
          </a:p>
        </p:txBody>
      </p:sp>
      <p:sp>
        <p:nvSpPr>
          <p:cNvPr id="4" name="Rectangle 3"/>
          <p:cNvSpPr/>
          <p:nvPr/>
        </p:nvSpPr>
        <p:spPr>
          <a:xfrm>
            <a:off x="914400" y="1751736"/>
            <a:ext cx="84963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bad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slope of cost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in downhill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 until </a:t>
            </a:r>
            <a:r>
              <a:rPr lang="en-US" sz="2800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endParaRPr lang="en-US" sz="28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760" y="2261870"/>
            <a:ext cx="7554379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530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0523" y="611148"/>
            <a:ext cx="7935754" cy="1078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How the Computer Finds the Best Line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090523" y="1758791"/>
            <a:ext cx="4039076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Gradient Descent: The Intuition</a:t>
            </a:r>
            <a:endParaRPr lang="en-US" sz="2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523" y="2341245"/>
            <a:ext cx="862965" cy="10356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26010" y="2513767"/>
            <a:ext cx="2783562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Start with Random Values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7126010" y="2886908"/>
            <a:ext cx="690026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Initialize slope (w₁) and intercept (w₀) with random numbers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0523" y="3376851"/>
            <a:ext cx="862965" cy="103560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26010" y="3549372"/>
            <a:ext cx="2157532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Calculate the MSE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7126010" y="3922514"/>
            <a:ext cx="690026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Measure how poorly our current line performs with these values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0523" y="4412456"/>
            <a:ext cx="862965" cy="103560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26010" y="4584978"/>
            <a:ext cx="2157532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Adjust Parameters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7126010" y="4958120"/>
            <a:ext cx="690026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Tweak w₁ and w₀ slightly in the direction that reduces the MSE</a:t>
            </a:r>
            <a:endParaRPr lang="en-US" sz="13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0523" y="5448062"/>
            <a:ext cx="862965" cy="103560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26010" y="5620583"/>
            <a:ext cx="2703909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Repeat Until Convergence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7126010" y="5993725"/>
            <a:ext cx="690026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Continue adjusting until MSE stops improving significantly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349365" y="6871811"/>
            <a:ext cx="767691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Helpful Analogy: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Imagine walking down a foggy hill blindfolded, taking small careful steps and feeling the ground beneath you, always moving toward the lowest point you can find.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090523" y="6677739"/>
            <a:ext cx="22860" cy="940594"/>
          </a:xfrm>
          <a:prstGeom prst="rect">
            <a:avLst/>
          </a:prstGeom>
          <a:solidFill>
            <a:srgbClr val="3E2513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071" y="443984"/>
            <a:ext cx="7583091" cy="504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Real-World Example: Beyond Just Size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65071" y="1271349"/>
            <a:ext cx="13500259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 reality, house prices depend on more than just square footage. </a:t>
            </a:r>
            <a:r>
              <a:rPr lang="en-US" sz="12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Multiple Linear Regression</a:t>
            </a: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allows us to incorporate several features simultaneously.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5071" y="1733907"/>
            <a:ext cx="1350025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30" y="1666059"/>
            <a:ext cx="13500259" cy="27896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71" y="2217182"/>
            <a:ext cx="4365546" cy="43655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5071" y="6744176"/>
            <a:ext cx="2018109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Size Weight (w₁)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65071" y="7093148"/>
            <a:ext cx="4365546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How much each additional square foot adds to the predicted price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427" y="2217182"/>
            <a:ext cx="4365546" cy="43655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32427" y="6744176"/>
            <a:ext cx="2098834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Bedroom Weight (w₂)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5132427" y="7093148"/>
            <a:ext cx="4365546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value contribution of each additional bedroom to the total price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9784" y="2217182"/>
            <a:ext cx="4365546" cy="43655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99784" y="6744176"/>
            <a:ext cx="2018109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Age Weight (w₃)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9699784" y="7093148"/>
            <a:ext cx="4365546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Impact of building age—could be negative if older homes are worth less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565071" y="7791212"/>
            <a:ext cx="13500259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Key insight:</a:t>
            </a: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The equation is still linear—we're just working in more dimensions! Each feature gets its own weight that contributes to the final prediction.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16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Summary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384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Key Takeaways: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564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Linear regression predicts continuous values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98670"/>
            <a:ext cx="13042821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Finds the best-fitting line: </a:t>
            </a:r>
            <a:r>
              <a:rPr lang="en-US" sz="17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ŷ = w₁x + w₀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484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Minimizes Mean Squared Error (MSE)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906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Can handle multiple input features</a:t>
            </a:r>
            <a:endParaRPr lang="en-US" sz="1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7496" y="32329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Thank You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899</Words>
  <Application>Microsoft Office PowerPoint</Application>
  <PresentationFormat>Custom</PresentationFormat>
  <Paragraphs>162</Paragraphs>
  <Slides>30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Consolas</vt:lpstr>
      <vt:lpstr>Calibri</vt:lpstr>
      <vt:lpstr>Platypi Medium</vt:lpstr>
      <vt:lpstr>Arial</vt:lpstr>
      <vt:lpstr>Source Serif 4</vt:lpstr>
      <vt:lpstr>Cambria Math</vt:lpstr>
      <vt:lpstr>Times New Roman</vt:lpstr>
      <vt:lpstr>Platypi Light</vt:lpstr>
      <vt:lpstr>quote-cjk-patch</vt:lpstr>
      <vt:lpstr>KaTeX_Main</vt:lpstr>
      <vt:lpstr>KaTeX_Math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Zainab</cp:lastModifiedBy>
  <cp:revision>21</cp:revision>
  <dcterms:created xsi:type="dcterms:W3CDTF">2025-12-22T16:22:40Z</dcterms:created>
  <dcterms:modified xsi:type="dcterms:W3CDTF">2025-12-24T06:21:42Z</dcterms:modified>
</cp:coreProperties>
</file>