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7" r:id="rId2"/>
  </p:sldMasterIdLst>
  <p:notesMasterIdLst>
    <p:notesMasterId r:id="rId17"/>
  </p:notesMasterIdLst>
  <p:sldIdLst>
    <p:sldId id="256" r:id="rId3"/>
    <p:sldId id="264" r:id="rId4"/>
    <p:sldId id="257" r:id="rId5"/>
    <p:sldId id="258" r:id="rId6"/>
    <p:sldId id="266" r:id="rId7"/>
    <p:sldId id="269" r:id="rId8"/>
    <p:sldId id="267" r:id="rId9"/>
    <p:sldId id="270" r:id="rId10"/>
    <p:sldId id="268" r:id="rId11"/>
    <p:sldId id="259" r:id="rId12"/>
    <p:sldId id="260" r:id="rId13"/>
    <p:sldId id="261" r:id="rId14"/>
    <p:sldId id="262" r:id="rId15"/>
    <p:sldId id="263" r:id="rId16"/>
  </p:sldIdLst>
  <p:sldSz cx="14630400" cy="8229600"/>
  <p:notesSz cx="8229600" cy="14630400"/>
  <p:embeddedFontLst>
    <p:embeddedFont>
      <p:font typeface="Platypi Medium" panose="020B0604020202020204" charset="0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Source Serif 4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51972" autoAdjust="0"/>
  </p:normalViewPr>
  <p:slideViewPr>
    <p:cSldViewPr snapToGrid="0" snapToObjects="1">
      <p:cViewPr varScale="1">
        <p:scale>
          <a:sx n="40" d="100"/>
          <a:sy n="40" d="100"/>
        </p:scale>
        <p:origin x="198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1266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AC3B32-0179-48E5-A659-F9275E4BFA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3777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AC3B32-0179-48E5-A659-F9275E4BFA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8963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AC3B32-0179-48E5-A659-F9275E4BFA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3904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506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AC3B32-0179-48E5-A659-F9275E4BFA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4371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534268"/>
            <a:ext cx="9823704" cy="1093470"/>
          </a:xfrm>
          <a:custGeom>
            <a:avLst/>
            <a:gdLst/>
            <a:ahLst/>
            <a:cxnLst/>
            <a:rect l="l" t="t" r="r" b="b"/>
            <a:pathLst>
              <a:path w="8186420" h="911225">
                <a:moveTo>
                  <a:pt x="0" y="911125"/>
                </a:moveTo>
                <a:lnTo>
                  <a:pt x="8186192" y="911125"/>
                </a:lnTo>
                <a:lnTo>
                  <a:pt x="8186192" y="0"/>
                </a:lnTo>
                <a:lnTo>
                  <a:pt x="0" y="0"/>
                </a:lnTo>
                <a:lnTo>
                  <a:pt x="0" y="911125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6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10142339" y="6534268"/>
            <a:ext cx="997458" cy="1093470"/>
          </a:xfrm>
          <a:custGeom>
            <a:avLst/>
            <a:gdLst/>
            <a:ahLst/>
            <a:cxnLst/>
            <a:rect l="l" t="t" r="r" b="b"/>
            <a:pathLst>
              <a:path w="831215" h="911225">
                <a:moveTo>
                  <a:pt x="0" y="911125"/>
                </a:moveTo>
                <a:lnTo>
                  <a:pt x="830853" y="911125"/>
                </a:lnTo>
                <a:lnTo>
                  <a:pt x="830853" y="0"/>
                </a:lnTo>
                <a:lnTo>
                  <a:pt x="0" y="0"/>
                </a:lnTo>
                <a:lnTo>
                  <a:pt x="0" y="911125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6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9815627" y="6534268"/>
            <a:ext cx="326898" cy="1093470"/>
          </a:xfrm>
          <a:custGeom>
            <a:avLst/>
            <a:gdLst/>
            <a:ahLst/>
            <a:cxnLst/>
            <a:rect l="l" t="t" r="r" b="b"/>
            <a:pathLst>
              <a:path w="272415" h="911225">
                <a:moveTo>
                  <a:pt x="272261" y="0"/>
                </a:moveTo>
                <a:lnTo>
                  <a:pt x="0" y="0"/>
                </a:lnTo>
                <a:lnTo>
                  <a:pt x="0" y="911125"/>
                </a:lnTo>
                <a:lnTo>
                  <a:pt x="272261" y="911125"/>
                </a:lnTo>
                <a:lnTo>
                  <a:pt x="27226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6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21523" y="5853477"/>
            <a:ext cx="3708876" cy="237612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1660" y="6534271"/>
            <a:ext cx="5800730" cy="10933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60660" y="1301495"/>
            <a:ext cx="11732514" cy="812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8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5909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40" b="0" i="0">
                <a:solidFill>
                  <a:srgbClr val="22222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97280">
              <a:defRPr/>
            </a:pPr>
            <a:endParaRPr lang="en-US" sz="2160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97280">
              <a:defRPr/>
            </a:pPr>
            <a:fld id="{1D8BD707-D9CF-40AE-B4C6-C98DA3205C09}" type="datetimeFigureOut">
              <a:rPr lang="en-US" sz="2160" kern="0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12/24/2025</a:t>
            </a:fld>
            <a:endParaRPr lang="en-US" sz="2160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4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45720" defTabSz="1097280">
              <a:lnSpc>
                <a:spcPts val="1710"/>
              </a:lnSpc>
              <a:defRPr/>
            </a:pPr>
            <a:fld id="{81D60167-4931-47E6-BA6A-407CBD079E47}" type="slidenum">
              <a:rPr lang="en-US" kern="0" spc="-60" smtClean="0"/>
              <a:pPr marL="45720" defTabSz="1097280">
                <a:lnSpc>
                  <a:spcPts val="1710"/>
                </a:lnSpc>
                <a:defRPr/>
              </a:pPr>
              <a:t>‹#›</a:t>
            </a:fld>
            <a:endParaRPr lang="en-US" kern="0" spc="-60" dirty="0"/>
          </a:p>
        </p:txBody>
      </p:sp>
    </p:spTree>
    <p:extLst>
      <p:ext uri="{BB962C8B-B14F-4D97-AF65-F5344CB8AC3E}">
        <p14:creationId xmlns:p14="http://schemas.microsoft.com/office/powerpoint/2010/main" val="3828136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00327" y="1483157"/>
            <a:ext cx="6332220" cy="812530"/>
          </a:xfrm>
        </p:spPr>
        <p:txBody>
          <a:bodyPr lIns="0" tIns="0" rIns="0" bIns="0"/>
          <a:lstStyle>
            <a:lvl1pPr>
              <a:defRPr sz="528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3565" y="3125420"/>
            <a:ext cx="12463271" cy="590931"/>
          </a:xfrm>
        </p:spPr>
        <p:txBody>
          <a:bodyPr lIns="0" tIns="0" rIns="0" bIns="0"/>
          <a:lstStyle>
            <a:lvl1pPr>
              <a:defRPr sz="3840" b="0" i="0">
                <a:solidFill>
                  <a:srgbClr val="22222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97280">
              <a:defRPr/>
            </a:pPr>
            <a:endParaRPr lang="en-US" sz="2160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97280">
              <a:defRPr/>
            </a:pPr>
            <a:fld id="{1D8BD707-D9CF-40AE-B4C6-C98DA3205C09}" type="datetimeFigureOut">
              <a:rPr lang="en-US" sz="2160" kern="0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12/24/2025</a:t>
            </a:fld>
            <a:endParaRPr lang="en-US" sz="2160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4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45720" defTabSz="1097280">
              <a:lnSpc>
                <a:spcPts val="1710"/>
              </a:lnSpc>
              <a:defRPr/>
            </a:pPr>
            <a:fld id="{81D60167-4931-47E6-BA6A-407CBD079E47}" type="slidenum">
              <a:rPr lang="en-US" kern="0" spc="-60" smtClean="0"/>
              <a:pPr marL="45720" defTabSz="1097280">
                <a:lnSpc>
                  <a:spcPts val="1710"/>
                </a:lnSpc>
                <a:defRPr/>
              </a:pPr>
              <a:t>‹#›</a:t>
            </a:fld>
            <a:endParaRPr lang="en-US" kern="0" spc="-60" dirty="0"/>
          </a:p>
        </p:txBody>
      </p:sp>
    </p:spTree>
    <p:extLst>
      <p:ext uri="{BB962C8B-B14F-4D97-AF65-F5344CB8AC3E}">
        <p14:creationId xmlns:p14="http://schemas.microsoft.com/office/powerpoint/2010/main" val="2419550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00327" y="1483157"/>
            <a:ext cx="6332220" cy="812530"/>
          </a:xfrm>
        </p:spPr>
        <p:txBody>
          <a:bodyPr lIns="0" tIns="0" rIns="0" bIns="0"/>
          <a:lstStyle>
            <a:lvl1pPr>
              <a:defRPr sz="528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97280">
              <a:defRPr/>
            </a:pPr>
            <a:endParaRPr lang="en-US" sz="2160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97280">
              <a:defRPr/>
            </a:pPr>
            <a:fld id="{1D8BD707-D9CF-40AE-B4C6-C98DA3205C09}" type="datetimeFigureOut">
              <a:rPr lang="en-US" sz="2160" kern="0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12/24/2025</a:t>
            </a:fld>
            <a:endParaRPr lang="en-US" sz="2160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4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45720" defTabSz="1097280">
              <a:lnSpc>
                <a:spcPts val="1710"/>
              </a:lnSpc>
              <a:defRPr/>
            </a:pPr>
            <a:fld id="{81D60167-4931-47E6-BA6A-407CBD079E47}" type="slidenum">
              <a:rPr lang="en-US" kern="0" spc="-60" smtClean="0"/>
              <a:pPr marL="45720" defTabSz="1097280">
                <a:lnSpc>
                  <a:spcPts val="1710"/>
                </a:lnSpc>
                <a:defRPr/>
              </a:pPr>
              <a:t>‹#›</a:t>
            </a:fld>
            <a:endParaRPr lang="en-US" kern="0" spc="-60" dirty="0"/>
          </a:p>
        </p:txBody>
      </p:sp>
    </p:spTree>
    <p:extLst>
      <p:ext uri="{BB962C8B-B14F-4D97-AF65-F5344CB8AC3E}">
        <p14:creationId xmlns:p14="http://schemas.microsoft.com/office/powerpoint/2010/main" val="481892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00327" y="1483157"/>
            <a:ext cx="6332220" cy="812530"/>
          </a:xfrm>
        </p:spPr>
        <p:txBody>
          <a:bodyPr lIns="0" tIns="0" rIns="0" bIns="0"/>
          <a:lstStyle>
            <a:lvl1pPr>
              <a:defRPr sz="528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97280">
              <a:defRPr/>
            </a:pPr>
            <a:endParaRPr lang="en-US" sz="2160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97280">
              <a:defRPr/>
            </a:pPr>
            <a:fld id="{1D8BD707-D9CF-40AE-B4C6-C98DA3205C09}" type="datetimeFigureOut">
              <a:rPr lang="en-US" sz="2160" kern="0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12/24/2025</a:t>
            </a:fld>
            <a:endParaRPr lang="en-US" sz="2160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4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45720" defTabSz="1097280">
              <a:lnSpc>
                <a:spcPts val="1710"/>
              </a:lnSpc>
              <a:defRPr/>
            </a:pPr>
            <a:fld id="{81D60167-4931-47E6-BA6A-407CBD079E47}" type="slidenum">
              <a:rPr lang="en-US" kern="0" spc="-60" smtClean="0"/>
              <a:pPr marL="45720" defTabSz="1097280">
                <a:lnSpc>
                  <a:spcPts val="1710"/>
                </a:lnSpc>
                <a:defRPr/>
              </a:pPr>
              <a:t>‹#›</a:t>
            </a:fld>
            <a:endParaRPr lang="en-US" kern="0" spc="-60" dirty="0"/>
          </a:p>
        </p:txBody>
      </p:sp>
    </p:spTree>
    <p:extLst>
      <p:ext uri="{BB962C8B-B14F-4D97-AF65-F5344CB8AC3E}">
        <p14:creationId xmlns:p14="http://schemas.microsoft.com/office/powerpoint/2010/main" val="12013819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534269"/>
            <a:ext cx="9823704" cy="1093470"/>
          </a:xfrm>
          <a:custGeom>
            <a:avLst/>
            <a:gdLst/>
            <a:ahLst/>
            <a:cxnLst/>
            <a:rect l="l" t="t" r="r" b="b"/>
            <a:pathLst>
              <a:path w="8186420" h="911225">
                <a:moveTo>
                  <a:pt x="0" y="911125"/>
                </a:moveTo>
                <a:lnTo>
                  <a:pt x="8186192" y="911125"/>
                </a:lnTo>
                <a:lnTo>
                  <a:pt x="8186192" y="0"/>
                </a:lnTo>
                <a:lnTo>
                  <a:pt x="0" y="0"/>
                </a:lnTo>
                <a:lnTo>
                  <a:pt x="0" y="911125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6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10142341" y="6534269"/>
            <a:ext cx="997458" cy="1093470"/>
          </a:xfrm>
          <a:custGeom>
            <a:avLst/>
            <a:gdLst/>
            <a:ahLst/>
            <a:cxnLst/>
            <a:rect l="l" t="t" r="r" b="b"/>
            <a:pathLst>
              <a:path w="831215" h="911225">
                <a:moveTo>
                  <a:pt x="0" y="911125"/>
                </a:moveTo>
                <a:lnTo>
                  <a:pt x="830853" y="911125"/>
                </a:lnTo>
                <a:lnTo>
                  <a:pt x="830853" y="0"/>
                </a:lnTo>
                <a:lnTo>
                  <a:pt x="0" y="0"/>
                </a:lnTo>
                <a:lnTo>
                  <a:pt x="0" y="911125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6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9815627" y="6534269"/>
            <a:ext cx="326898" cy="1093470"/>
          </a:xfrm>
          <a:custGeom>
            <a:avLst/>
            <a:gdLst/>
            <a:ahLst/>
            <a:cxnLst/>
            <a:rect l="l" t="t" r="r" b="b"/>
            <a:pathLst>
              <a:path w="272415" h="911225">
                <a:moveTo>
                  <a:pt x="272261" y="0"/>
                </a:moveTo>
                <a:lnTo>
                  <a:pt x="0" y="0"/>
                </a:lnTo>
                <a:lnTo>
                  <a:pt x="0" y="911125"/>
                </a:lnTo>
                <a:lnTo>
                  <a:pt x="272261" y="911125"/>
                </a:lnTo>
                <a:lnTo>
                  <a:pt x="27226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6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7615" y="5774664"/>
            <a:ext cx="3782784" cy="245493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67539" y="7705296"/>
            <a:ext cx="497215" cy="46038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93302" y="7672092"/>
            <a:ext cx="466124" cy="526733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63473" y="7732861"/>
            <a:ext cx="410399" cy="41039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1660" y="6534271"/>
            <a:ext cx="5800730" cy="109335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60839" y="7647309"/>
            <a:ext cx="466124" cy="526732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05840" y="7705295"/>
            <a:ext cx="410760" cy="410760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36284" y="2392070"/>
            <a:ext cx="2717596" cy="148498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97280">
              <a:defRPr/>
            </a:pPr>
            <a:endParaRPr lang="en-US" sz="2160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97280">
              <a:defRPr/>
            </a:pPr>
            <a:fld id="{1D8BD707-D9CF-40AE-B4C6-C98DA3205C09}" type="datetimeFigureOut">
              <a:rPr lang="en-US" sz="2160" kern="0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12/24/2025</a:t>
            </a:fld>
            <a:endParaRPr lang="en-US" sz="2160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4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45720" defTabSz="1097280">
              <a:lnSpc>
                <a:spcPts val="1710"/>
              </a:lnSpc>
              <a:defRPr/>
            </a:pPr>
            <a:fld id="{81D60167-4931-47E6-BA6A-407CBD079E47}" type="slidenum">
              <a:rPr lang="en-US" kern="0" spc="-60" smtClean="0"/>
              <a:pPr marL="45720" defTabSz="1097280">
                <a:lnSpc>
                  <a:spcPts val="1710"/>
                </a:lnSpc>
                <a:defRPr/>
              </a:pPr>
              <a:t>‹#›</a:t>
            </a:fld>
            <a:endParaRPr lang="en-US" kern="0" spc="-60" dirty="0"/>
          </a:p>
        </p:txBody>
      </p:sp>
    </p:spTree>
    <p:extLst>
      <p:ext uri="{BB962C8B-B14F-4D97-AF65-F5344CB8AC3E}">
        <p14:creationId xmlns:p14="http://schemas.microsoft.com/office/powerpoint/2010/main" val="3812144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496490"/>
            <a:ext cx="10440162" cy="162306"/>
          </a:xfrm>
          <a:custGeom>
            <a:avLst/>
            <a:gdLst/>
            <a:ahLst/>
            <a:cxnLst/>
            <a:rect l="l" t="t" r="r" b="b"/>
            <a:pathLst>
              <a:path w="8700135" h="135254">
                <a:moveTo>
                  <a:pt x="0" y="134937"/>
                </a:moveTo>
                <a:lnTo>
                  <a:pt x="8699914" y="134937"/>
                </a:lnTo>
                <a:lnTo>
                  <a:pt x="8699914" y="0"/>
                </a:lnTo>
                <a:lnTo>
                  <a:pt x="0" y="0"/>
                </a:lnTo>
                <a:lnTo>
                  <a:pt x="0" y="134937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6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10439896" y="496490"/>
            <a:ext cx="762" cy="162306"/>
          </a:xfrm>
          <a:custGeom>
            <a:avLst/>
            <a:gdLst/>
            <a:ahLst/>
            <a:cxnLst/>
            <a:rect l="l" t="t" r="r" b="b"/>
            <a:pathLst>
              <a:path w="634" h="135254">
                <a:moveTo>
                  <a:pt x="0" y="134937"/>
                </a:moveTo>
                <a:lnTo>
                  <a:pt x="566" y="134937"/>
                </a:lnTo>
                <a:lnTo>
                  <a:pt x="566" y="0"/>
                </a:lnTo>
                <a:lnTo>
                  <a:pt x="0" y="0"/>
                </a:lnTo>
                <a:lnTo>
                  <a:pt x="0" y="134937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6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10767288" y="496490"/>
            <a:ext cx="989076" cy="162306"/>
          </a:xfrm>
          <a:custGeom>
            <a:avLst/>
            <a:gdLst/>
            <a:ahLst/>
            <a:cxnLst/>
            <a:rect l="l" t="t" r="r" b="b"/>
            <a:pathLst>
              <a:path w="824229" h="135254">
                <a:moveTo>
                  <a:pt x="0" y="134937"/>
                </a:moveTo>
                <a:lnTo>
                  <a:pt x="823785" y="134937"/>
                </a:lnTo>
                <a:lnTo>
                  <a:pt x="823785" y="0"/>
                </a:lnTo>
                <a:lnTo>
                  <a:pt x="0" y="0"/>
                </a:lnTo>
                <a:lnTo>
                  <a:pt x="0" y="134937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6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bg object 19"/>
          <p:cNvSpPr/>
          <p:nvPr/>
        </p:nvSpPr>
        <p:spPr>
          <a:xfrm>
            <a:off x="10440577" y="496490"/>
            <a:ext cx="326898" cy="162306"/>
          </a:xfrm>
          <a:custGeom>
            <a:avLst/>
            <a:gdLst/>
            <a:ahLst/>
            <a:cxnLst/>
            <a:rect l="l" t="t" r="r" b="b"/>
            <a:pathLst>
              <a:path w="272415" h="135254">
                <a:moveTo>
                  <a:pt x="272260" y="0"/>
                </a:moveTo>
                <a:lnTo>
                  <a:pt x="0" y="0"/>
                </a:lnTo>
                <a:lnTo>
                  <a:pt x="0" y="134937"/>
                </a:lnTo>
                <a:lnTo>
                  <a:pt x="272260" y="134937"/>
                </a:lnTo>
                <a:lnTo>
                  <a:pt x="27226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6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bg 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06063" y="0"/>
            <a:ext cx="3024335" cy="155021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36480" y="35334"/>
            <a:ext cx="6917449" cy="49989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00327" y="1483157"/>
            <a:ext cx="6332220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3565" y="3125420"/>
            <a:ext cx="12463271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2222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97280">
              <a:defRPr/>
            </a:pPr>
            <a:endParaRPr lang="en-US" sz="2160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97280">
              <a:defRPr/>
            </a:pPr>
            <a:fld id="{1D8BD707-D9CF-40AE-B4C6-C98DA3205C09}" type="datetimeFigureOut">
              <a:rPr lang="en-US" sz="2160" kern="0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12/24/2025</a:t>
            </a:fld>
            <a:endParaRPr lang="en-US" sz="2160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069225" y="7737908"/>
            <a:ext cx="208788" cy="436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4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45720" defTabSz="1097280">
              <a:lnSpc>
                <a:spcPts val="1710"/>
              </a:lnSpc>
              <a:defRPr/>
            </a:pPr>
            <a:fld id="{81D60167-4931-47E6-BA6A-407CBD079E47}" type="slidenum">
              <a:rPr lang="en-US" kern="0" spc="-60" smtClean="0"/>
              <a:pPr marL="45720" defTabSz="1097280">
                <a:lnSpc>
                  <a:spcPts val="1710"/>
                </a:lnSpc>
                <a:defRPr/>
              </a:pPr>
              <a:t>‹#›</a:t>
            </a:fld>
            <a:endParaRPr lang="en-US" kern="0" spc="-60" dirty="0"/>
          </a:p>
        </p:txBody>
      </p:sp>
    </p:spTree>
    <p:extLst>
      <p:ext uri="{BB962C8B-B14F-4D97-AF65-F5344CB8AC3E}">
        <p14:creationId xmlns:p14="http://schemas.microsoft.com/office/powerpoint/2010/main" val="459114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548640">
        <a:defRPr>
          <a:latin typeface="+mn-lt"/>
          <a:ea typeface="+mn-ea"/>
          <a:cs typeface="+mn-cs"/>
        </a:defRPr>
      </a:lvl2pPr>
      <a:lvl3pPr marL="1097280">
        <a:defRPr>
          <a:latin typeface="+mn-lt"/>
          <a:ea typeface="+mn-ea"/>
          <a:cs typeface="+mn-cs"/>
        </a:defRPr>
      </a:lvl3pPr>
      <a:lvl4pPr marL="1645920">
        <a:defRPr>
          <a:latin typeface="+mn-lt"/>
          <a:ea typeface="+mn-ea"/>
          <a:cs typeface="+mn-cs"/>
        </a:defRPr>
      </a:lvl4pPr>
      <a:lvl5pPr marL="2194560">
        <a:defRPr>
          <a:latin typeface="+mn-lt"/>
          <a:ea typeface="+mn-ea"/>
          <a:cs typeface="+mn-cs"/>
        </a:defRPr>
      </a:lvl5pPr>
      <a:lvl6pPr marL="2743200">
        <a:defRPr>
          <a:latin typeface="+mn-lt"/>
          <a:ea typeface="+mn-ea"/>
          <a:cs typeface="+mn-cs"/>
        </a:defRPr>
      </a:lvl6pPr>
      <a:lvl7pPr marL="3291840">
        <a:defRPr>
          <a:latin typeface="+mn-lt"/>
          <a:ea typeface="+mn-ea"/>
          <a:cs typeface="+mn-cs"/>
        </a:defRPr>
      </a:lvl7pPr>
      <a:lvl8pPr marL="3840480">
        <a:defRPr>
          <a:latin typeface="+mn-lt"/>
          <a:ea typeface="+mn-ea"/>
          <a:cs typeface="+mn-cs"/>
        </a:defRPr>
      </a:lvl8pPr>
      <a:lvl9pPr marL="438912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548640">
        <a:defRPr>
          <a:latin typeface="+mn-lt"/>
          <a:ea typeface="+mn-ea"/>
          <a:cs typeface="+mn-cs"/>
        </a:defRPr>
      </a:lvl2pPr>
      <a:lvl3pPr marL="1097280">
        <a:defRPr>
          <a:latin typeface="+mn-lt"/>
          <a:ea typeface="+mn-ea"/>
          <a:cs typeface="+mn-cs"/>
        </a:defRPr>
      </a:lvl3pPr>
      <a:lvl4pPr marL="1645920">
        <a:defRPr>
          <a:latin typeface="+mn-lt"/>
          <a:ea typeface="+mn-ea"/>
          <a:cs typeface="+mn-cs"/>
        </a:defRPr>
      </a:lvl4pPr>
      <a:lvl5pPr marL="2194560">
        <a:defRPr>
          <a:latin typeface="+mn-lt"/>
          <a:ea typeface="+mn-ea"/>
          <a:cs typeface="+mn-cs"/>
        </a:defRPr>
      </a:lvl5pPr>
      <a:lvl6pPr marL="2743200">
        <a:defRPr>
          <a:latin typeface="+mn-lt"/>
          <a:ea typeface="+mn-ea"/>
          <a:cs typeface="+mn-cs"/>
        </a:defRPr>
      </a:lvl6pPr>
      <a:lvl7pPr marL="3291840">
        <a:defRPr>
          <a:latin typeface="+mn-lt"/>
          <a:ea typeface="+mn-ea"/>
          <a:cs typeface="+mn-cs"/>
        </a:defRPr>
      </a:lvl7pPr>
      <a:lvl8pPr marL="3840480">
        <a:defRPr>
          <a:latin typeface="+mn-lt"/>
          <a:ea typeface="+mn-ea"/>
          <a:cs typeface="+mn-cs"/>
        </a:defRPr>
      </a:lvl8pPr>
      <a:lvl9pPr marL="438912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is Machine Learning?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Teaching computers to learn from data and make decisions </a:t>
            </a:r>
            <a:r>
              <a:rPr lang="en-US" sz="175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without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being explicitly programmed for every </a:t>
            </a:r>
            <a:r>
              <a:rPr lang="en-US" sz="1750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single task.</a:t>
            </a:r>
            <a:endParaRPr lang="en-US" sz="1750" dirty="0"/>
          </a:p>
        </p:txBody>
      </p:sp>
      <p:sp>
        <p:nvSpPr>
          <p:cNvPr id="5" name="TextBox 4"/>
          <p:cNvSpPr txBox="1"/>
          <p:nvPr/>
        </p:nvSpPr>
        <p:spPr>
          <a:xfrm>
            <a:off x="793790" y="7124700"/>
            <a:ext cx="3435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Dr. Zainab Malik | zainabmalik@um.edu.my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742" y="1025957"/>
            <a:ext cx="6332220" cy="835152"/>
          </a:xfrm>
        </p:spPr>
        <p:txBody>
          <a:bodyPr/>
          <a:lstStyle/>
          <a:p>
            <a:r>
              <a:rPr lang="en-US" dirty="0" smtClean="0"/>
              <a:t>Machine Learning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9742" y="2211019"/>
            <a:ext cx="12563855" cy="1772794"/>
          </a:xfrm>
        </p:spPr>
        <p:txBody>
          <a:bodyPr/>
          <a:lstStyle/>
          <a:p>
            <a:r>
              <a:rPr lang="en-US" dirty="0"/>
              <a:t>Machine Learning is the science of teaching computers to learn from examples, without being explicitly programmed for every single task.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158" y="5515586"/>
            <a:ext cx="8069365" cy="228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40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9585" y="384691"/>
            <a:ext cx="4110990" cy="43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440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Why is ML Everywhere?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65351" y="1514231"/>
            <a:ext cx="13651230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4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Machine learning powers the digital experiences you use every day, often without you even realizing it.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9585" y="2367392"/>
            <a:ext cx="2738914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Personalized Recommendations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9585" y="2669930"/>
            <a:ext cx="4433888" cy="121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2000" dirty="0" smtClean="0">
              <a:solidFill>
                <a:srgbClr val="504C49"/>
              </a:solidFill>
              <a:latin typeface="Times New Roman" panose="02020603050405020304" pitchFamily="18" charset="0"/>
              <a:ea typeface="Source Serif 4" pitchFamily="34" charset="-122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Netflix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, Spotify, and YouTube suggest content tailored to your preferences.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98256" y="2367392"/>
            <a:ext cx="1748671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Voice Assistants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98256" y="2669930"/>
            <a:ext cx="4433888" cy="160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2000" dirty="0" smtClean="0">
              <a:solidFill>
                <a:srgbClr val="504C49"/>
              </a:solidFill>
              <a:latin typeface="Times New Roman" panose="02020603050405020304" pitchFamily="18" charset="0"/>
              <a:ea typeface="Source Serif 4" pitchFamily="34" charset="-122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Siri 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and Alexa understand and respond to natural language commands.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706928" y="2367392"/>
            <a:ext cx="1748671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Face Recognition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706928" y="2669930"/>
            <a:ext cx="4433888" cy="1579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2000" dirty="0" smtClean="0">
              <a:solidFill>
                <a:srgbClr val="504C49"/>
              </a:solidFill>
              <a:latin typeface="Times New Roman" panose="02020603050405020304" pitchFamily="18" charset="0"/>
              <a:ea typeface="Source Serif 4" pitchFamily="34" charset="-122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Your 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phone unlocks instantly by recognizing your unique facial features</a:t>
            </a:r>
            <a:r>
              <a:rPr lang="en-US" sz="2000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9216" y="4991266"/>
            <a:ext cx="1748671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40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Why Now?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9216" y="5349763"/>
            <a:ext cx="6654998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Massive amounts of data available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9216" y="5622535"/>
            <a:ext cx="6654998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Powerful and affordable computing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9216" y="5895307"/>
            <a:ext cx="6654998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Continuously improving algorithms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3858" y="4021015"/>
            <a:ext cx="5006542" cy="42085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9565"/>
            <a:ext cx="121162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The Three Main Types of Machine Learning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4419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Understanding these foundational approaches will help you grasp how different ML systems work.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060025"/>
            <a:ext cx="4196358" cy="3889891"/>
          </a:xfrm>
          <a:prstGeom prst="roundRect">
            <a:avLst>
              <a:gd name="adj" fmla="val 875"/>
            </a:avLst>
          </a:prstGeom>
          <a:solidFill>
            <a:srgbClr val="3E2513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3286839"/>
            <a:ext cx="342447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Supervised Learning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0604" y="3848219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Learn from labeled examples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20604" y="434721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Predict an output from input data. Like studying with an answer key.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20604" y="5498306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i="1" dirty="0">
                <a:solidFill>
                  <a:srgbClr val="FFFFFF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Example: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Predict house prices based on size and location.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216962" y="3060025"/>
            <a:ext cx="4196358" cy="3889891"/>
          </a:xfrm>
          <a:prstGeom prst="roundRect">
            <a:avLst>
              <a:gd name="adj" fmla="val 875"/>
            </a:avLst>
          </a:prstGeom>
          <a:solidFill>
            <a:srgbClr val="3E2513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43776" y="3286839"/>
            <a:ext cx="3742730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Unsupervised Learning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43776" y="4273510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Find hidden patterns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43776" y="4772501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Discover structure in unlabeled data without predefined categories.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43776" y="5997297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i="1" dirty="0">
                <a:solidFill>
                  <a:srgbClr val="FFFFFF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Example: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Group customers by shopping behavior patterns.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640133" y="3060025"/>
            <a:ext cx="4196358" cy="3889891"/>
          </a:xfrm>
          <a:prstGeom prst="roundRect">
            <a:avLst>
              <a:gd name="adj" fmla="val 875"/>
            </a:avLst>
          </a:prstGeom>
          <a:solidFill>
            <a:srgbClr val="3E2513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866948" y="3286839"/>
            <a:ext cx="3742730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Reinforcement Learning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866948" y="4273510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Learn by trial and error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866948" y="4772501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Learn optimal actions through rewards and penalties over time.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866948" y="563439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i="1" dirty="0">
                <a:solidFill>
                  <a:srgbClr val="FFFFFF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Example: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Computer mastering video games through practice.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373" y="1066800"/>
            <a:ext cx="12733867" cy="716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58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167" y="1009650"/>
            <a:ext cx="12463679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807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280" y="877651"/>
            <a:ext cx="8967652" cy="690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748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0326" y="1483157"/>
            <a:ext cx="12446509" cy="1107996"/>
          </a:xfrm>
        </p:spPr>
        <p:txBody>
          <a:bodyPr/>
          <a:lstStyle/>
          <a:p>
            <a:r>
              <a:rPr lang="en-US" sz="3600" dirty="0"/>
              <a:t>E-commerce Company Challenge: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3565" y="3125420"/>
            <a:ext cx="12463271" cy="4431983"/>
          </a:xfrm>
        </p:spPr>
        <p:txBody>
          <a:bodyPr/>
          <a:lstStyle/>
          <a:p>
            <a:r>
              <a:rPr lang="en-US" sz="2400" dirty="0" smtClean="0"/>
              <a:t>"</a:t>
            </a:r>
            <a:r>
              <a:rPr lang="en-US" sz="2400" dirty="0"/>
              <a:t>We have 50,000 </a:t>
            </a:r>
            <a:r>
              <a:rPr lang="en-US" sz="2400" dirty="0" smtClean="0"/>
              <a:t>customers, </a:t>
            </a:r>
            <a:r>
              <a:rPr lang="en-US" sz="2400" dirty="0"/>
              <a:t>but don't understand who they are.</a:t>
            </a:r>
            <a:br>
              <a:rPr lang="en-US" sz="2400" dirty="0"/>
            </a:br>
            <a:r>
              <a:rPr lang="en-US" sz="2400" dirty="0"/>
              <a:t>How can we </a:t>
            </a:r>
            <a:r>
              <a:rPr lang="en-US" sz="2400" b="1" dirty="0"/>
              <a:t>group similar customers</a:t>
            </a:r>
            <a:r>
              <a:rPr lang="en-US" sz="2400" dirty="0"/>
              <a:t> to personalize marketing</a:t>
            </a:r>
            <a:r>
              <a:rPr lang="en-US" sz="2400" dirty="0" smtClean="0"/>
              <a:t>?“</a:t>
            </a:r>
          </a:p>
          <a:p>
            <a:endParaRPr lang="en-US" sz="2400" dirty="0"/>
          </a:p>
          <a:p>
            <a:r>
              <a:rPr lang="en-US" sz="2400" b="1" dirty="0"/>
              <a:t>Business Goals: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Targeted email campaigns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Product recommendations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Loyalty programs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Inventory planning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Customer retention </a:t>
            </a:r>
            <a:r>
              <a:rPr lang="en-US" sz="2400" dirty="0" smtClean="0"/>
              <a:t>strategies</a:t>
            </a:r>
          </a:p>
          <a:p>
            <a:endParaRPr lang="en-US" sz="2400" dirty="0"/>
          </a:p>
          <a:p>
            <a:r>
              <a:rPr lang="en-US" sz="2400" b="1" dirty="0"/>
              <a:t>ML Task:</a:t>
            </a:r>
            <a:r>
              <a:rPr lang="en-US" sz="2400" dirty="0"/>
              <a:t> Group customers by behavior </a:t>
            </a:r>
            <a:r>
              <a:rPr lang="en-US" sz="2400" b="1" dirty="0"/>
              <a:t>without predefined categories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1353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1" y="1005839"/>
            <a:ext cx="9662159" cy="689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7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52185" y="691396"/>
            <a:ext cx="5855375" cy="505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400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Supervised Learning in Detail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052185" y="1438870"/>
            <a:ext cx="8012430" cy="51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Supervised learning is the most common type of ML, where the algorithm learns from labeled training data to make predictions on new, unseen data.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052185" y="2299454"/>
            <a:ext cx="2424827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80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Two Main Tasks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052185" y="2784396"/>
            <a:ext cx="4211002" cy="2334458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29325" y="2784396"/>
            <a:ext cx="91440" cy="2334458"/>
          </a:xfrm>
          <a:prstGeom prst="roundRect">
            <a:avLst>
              <a:gd name="adj" fmla="val 26518"/>
            </a:avLst>
          </a:prstGeom>
          <a:solidFill>
            <a:srgbClr val="3E2513"/>
          </a:solidFill>
          <a:ln/>
        </p:spPr>
      </p:sp>
      <p:sp>
        <p:nvSpPr>
          <p:cNvPr id="8" name="Text 5"/>
          <p:cNvSpPr/>
          <p:nvPr/>
        </p:nvSpPr>
        <p:spPr>
          <a:xfrm>
            <a:off x="6305193" y="2968823"/>
            <a:ext cx="2020610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Regression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305193" y="3382923"/>
            <a:ext cx="3371612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Predict a </a:t>
            </a: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continuous number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305193" y="3786902"/>
            <a:ext cx="3371612" cy="51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What will the temperature be tomorrow?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305193" y="4360664"/>
            <a:ext cx="3371612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How much will this stock be worth?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305193" y="4675823"/>
            <a:ext cx="3371612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What's the expected delivery time?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052185" y="5280422"/>
            <a:ext cx="4211002" cy="2075855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29325" y="5280422"/>
            <a:ext cx="91440" cy="2075855"/>
          </a:xfrm>
          <a:prstGeom prst="roundRect">
            <a:avLst>
              <a:gd name="adj" fmla="val 26518"/>
            </a:avLst>
          </a:prstGeom>
          <a:solidFill>
            <a:srgbClr val="3E2513"/>
          </a:solidFill>
          <a:ln/>
        </p:spPr>
      </p:sp>
      <p:sp>
        <p:nvSpPr>
          <p:cNvPr id="15" name="Text 12"/>
          <p:cNvSpPr/>
          <p:nvPr/>
        </p:nvSpPr>
        <p:spPr>
          <a:xfrm>
            <a:off x="6305193" y="5464850"/>
            <a:ext cx="2020610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Classification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305193" y="5878949"/>
            <a:ext cx="3371612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Predict a </a:t>
            </a: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category or label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305193" y="6282928"/>
            <a:ext cx="3371612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Is this email spam or not spam?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305193" y="6598087"/>
            <a:ext cx="3371612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Does this image contain a cat or dog?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305193" y="6913245"/>
            <a:ext cx="3371612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Will this customer churn?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0263187" y="2299454"/>
            <a:ext cx="2424827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80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The Process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1767" y="2784396"/>
            <a:ext cx="739616" cy="125444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232952" y="2945963"/>
            <a:ext cx="2379226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Train with Labeled Data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11232952" y="3360063"/>
            <a:ext cx="2839283" cy="51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Provide historical examples with known answers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1767" y="4038838"/>
            <a:ext cx="739616" cy="125444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232952" y="4200406"/>
            <a:ext cx="2242661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Model Learns Patterns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11232952" y="4614505"/>
            <a:ext cx="2839283" cy="51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Algorithm identifies relationships in the data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1767" y="5293281"/>
            <a:ext cx="739616" cy="125444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232952" y="5454848"/>
            <a:ext cx="2020610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Predict New Data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11232952" y="5868948"/>
            <a:ext cx="2839283" cy="51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Apply learned patterns to make predictions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640" y="589121"/>
            <a:ext cx="5992773" cy="657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80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A Simple ML Workflow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6640" y="1667589"/>
            <a:ext cx="13157121" cy="336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Every machine learning project follows a similar pipeline, from raw data to deployed predictions.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6640" y="2240994"/>
            <a:ext cx="210383" cy="263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Platypi Light" pitchFamily="34" charset="-122"/>
                <a:cs typeface="Times New Roman" panose="02020603050405020304" pitchFamily="18" charset="0"/>
              </a:rPr>
              <a:t>01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6640" y="2575679"/>
            <a:ext cx="6473309" cy="2286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6" name="Text 4"/>
          <p:cNvSpPr/>
          <p:nvPr/>
        </p:nvSpPr>
        <p:spPr>
          <a:xfrm>
            <a:off x="736640" y="2726531"/>
            <a:ext cx="2630805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800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Collect Data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6640" y="3181588"/>
            <a:ext cx="6473309" cy="336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Gather relevant data from various sources and systems.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20332" y="2240994"/>
            <a:ext cx="210383" cy="263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Platypi Light" pitchFamily="34" charset="-122"/>
                <a:cs typeface="Times New Roman" panose="02020603050405020304" pitchFamily="18" charset="0"/>
              </a:rPr>
              <a:t>02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20332" y="2575679"/>
            <a:ext cx="6473428" cy="2286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0" name="Text 8"/>
          <p:cNvSpPr/>
          <p:nvPr/>
        </p:nvSpPr>
        <p:spPr>
          <a:xfrm>
            <a:off x="7420332" y="2726531"/>
            <a:ext cx="2748796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800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Clean &amp; Prepare Data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20332" y="3181588"/>
            <a:ext cx="6473428" cy="673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Handle missing values, remove errors, and format consistently. </a:t>
            </a:r>
            <a:r>
              <a:rPr lang="en-US" sz="2000" b="1" dirty="0">
                <a:solidFill>
                  <a:srgbClr val="3E2513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This is the most time-consuming step!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6640" y="4223147"/>
            <a:ext cx="210383" cy="263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Platypi Light" pitchFamily="34" charset="-122"/>
                <a:cs typeface="Times New Roman" panose="02020603050405020304" pitchFamily="18" charset="0"/>
              </a:rPr>
              <a:t>03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6640" y="4557832"/>
            <a:ext cx="6473309" cy="2286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4" name="Text 12"/>
          <p:cNvSpPr/>
          <p:nvPr/>
        </p:nvSpPr>
        <p:spPr>
          <a:xfrm>
            <a:off x="736640" y="4708684"/>
            <a:ext cx="2630805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800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Choose a Model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6640" y="5163741"/>
            <a:ext cx="6473309" cy="336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Select the appropriate algorithm for your specific </a:t>
            </a:r>
            <a:endParaRPr lang="en-US" sz="2000" dirty="0" smtClean="0">
              <a:solidFill>
                <a:srgbClr val="504C49"/>
              </a:solidFill>
              <a:latin typeface="Times New Roman" panose="02020603050405020304" pitchFamily="18" charset="0"/>
              <a:ea typeface="Source Serif 4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650"/>
              </a:lnSpc>
              <a:buNone/>
            </a:pPr>
            <a:r>
              <a:rPr lang="en-US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problem 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type.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20332" y="4223147"/>
            <a:ext cx="210383" cy="263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Platypi Light" pitchFamily="34" charset="-122"/>
                <a:cs typeface="Times New Roman" panose="02020603050405020304" pitchFamily="18" charset="0"/>
              </a:rPr>
              <a:t>04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20332" y="4557832"/>
            <a:ext cx="6473428" cy="2286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8" name="Text 16"/>
          <p:cNvSpPr/>
          <p:nvPr/>
        </p:nvSpPr>
        <p:spPr>
          <a:xfrm>
            <a:off x="7420332" y="4708684"/>
            <a:ext cx="2630805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800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Train the Model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20332" y="5163741"/>
            <a:ext cx="6473428" cy="673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Let the algorithm learn patterns from your prepared training data.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6640" y="6205299"/>
            <a:ext cx="210383" cy="263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Platypi Light" pitchFamily="34" charset="-122"/>
                <a:cs typeface="Times New Roman" panose="02020603050405020304" pitchFamily="18" charset="0"/>
              </a:rPr>
              <a:t>05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36640" y="6539984"/>
            <a:ext cx="6473309" cy="2286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22" name="Text 20"/>
          <p:cNvSpPr/>
          <p:nvPr/>
        </p:nvSpPr>
        <p:spPr>
          <a:xfrm>
            <a:off x="736640" y="6690836"/>
            <a:ext cx="2818924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800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Evaluate Performance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6640" y="7145893"/>
            <a:ext cx="6473309" cy="336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Test how well the model performs on new, unseen data.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420332" y="6205299"/>
            <a:ext cx="210383" cy="263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Platypi Light" pitchFamily="34" charset="-122"/>
                <a:cs typeface="Times New Roman" panose="02020603050405020304" pitchFamily="18" charset="0"/>
              </a:rPr>
              <a:t>06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420332" y="6539984"/>
            <a:ext cx="6473428" cy="2286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26" name="Text 24"/>
          <p:cNvSpPr/>
          <p:nvPr/>
        </p:nvSpPr>
        <p:spPr>
          <a:xfrm>
            <a:off x="7420332" y="6690836"/>
            <a:ext cx="2630805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800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Deploy &amp; Use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420332" y="7145893"/>
            <a:ext cx="6473428" cy="336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Put the model into production to make real-world predictions.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167" y="601980"/>
            <a:ext cx="7235785" cy="684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Understanding the "Model"</a:t>
            </a:r>
            <a:endParaRPr 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6167" y="1833324"/>
            <a:ext cx="3283744" cy="410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What is a model?</a:t>
            </a:r>
            <a:endParaRPr lang="en-US" sz="2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6167" y="2462570"/>
            <a:ext cx="7645122" cy="1050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A model is the </a:t>
            </a:r>
            <a:r>
              <a:rPr lang="en-US" b="1" dirty="0">
                <a:solidFill>
                  <a:srgbClr val="3E2513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"program"</a:t>
            </a: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or </a:t>
            </a:r>
            <a:r>
              <a:rPr lang="en-US" b="1" dirty="0">
                <a:solidFill>
                  <a:srgbClr val="3E2513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"function"</a:t>
            </a: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that the ML algorithm creates from your data. It's a mathematical representation of the patterns discovered during training.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6167" y="3759637"/>
            <a:ext cx="7645122" cy="2374821"/>
          </a:xfrm>
          <a:prstGeom prst="roundRect">
            <a:avLst>
              <a:gd name="adj" fmla="val 1383"/>
            </a:avLst>
          </a:prstGeom>
          <a:solidFill>
            <a:srgbClr val="EDD5C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004" y="4085392"/>
            <a:ext cx="273606" cy="2188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77447" y="4033123"/>
            <a:ext cx="6715006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Simple Example - A Linear Model: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477447" y="4580334"/>
            <a:ext cx="6715006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Predicted Price = (a × Size) + b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477447" y="5127546"/>
            <a:ext cx="6715006" cy="700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The ML algorithm finds the </a:t>
            </a:r>
            <a:r>
              <a:rPr lang="en-US" sz="1700" i="1" dirty="0">
                <a:solidFill>
                  <a:srgbClr val="000000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best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numbers for </a:t>
            </a:r>
            <a:r>
              <a:rPr 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a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and </a:t>
            </a:r>
            <a:r>
              <a:rPr 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b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by analyzing your data.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66167" y="6380678"/>
            <a:ext cx="7645122" cy="1050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Think of it as a recipe the computer writes for itself based on examples you've shown it. Once trained, this recipe can be applied to new situations to make predictions.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024" y="1860709"/>
            <a:ext cx="4918710" cy="49187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9821" y="585549"/>
            <a:ext cx="5078135" cy="419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600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points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69821" y="1206341"/>
            <a:ext cx="8204359" cy="21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Keep these fundamental principles in mind as you continue your </a:t>
            </a:r>
            <a:r>
              <a:rPr lang="en-US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machine learning</a:t>
            </a:r>
          </a:p>
          <a:p>
            <a:pPr marL="0" indent="0" algn="l">
              <a:buNone/>
            </a:pPr>
            <a:r>
              <a:rPr lang="en-US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journey.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35637" y="1966198"/>
            <a:ext cx="8204359" cy="1524714"/>
          </a:xfrm>
          <a:prstGeom prst="roundRect">
            <a:avLst>
              <a:gd name="adj" fmla="val 1321"/>
            </a:avLst>
          </a:prstGeom>
          <a:solidFill>
            <a:srgbClr val="F9F7F7"/>
          </a:solidFill>
          <a:ln/>
        </p:spPr>
      </p:sp>
      <p:sp>
        <p:nvSpPr>
          <p:cNvPr id="8" name="Text 4"/>
          <p:cNvSpPr/>
          <p:nvPr/>
        </p:nvSpPr>
        <p:spPr>
          <a:xfrm>
            <a:off x="469820" y="2150745"/>
            <a:ext cx="2023705" cy="209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Garbage In, Garbage Out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69820" y="2536668"/>
            <a:ext cx="7935992" cy="42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The quality of your data is absolutely crucial. Poor data leads to poor predictions, no matter how sophisticated your algorithm.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35637" y="3721595"/>
            <a:ext cx="8204359" cy="1310045"/>
          </a:xfrm>
          <a:prstGeom prst="roundRect">
            <a:avLst>
              <a:gd name="adj" fmla="val 1537"/>
            </a:avLst>
          </a:prstGeom>
          <a:solidFill>
            <a:srgbClr val="F9F7F7"/>
          </a:solidFill>
          <a:ln/>
        </p:spPr>
      </p:sp>
      <p:sp>
        <p:nvSpPr>
          <p:cNvPr id="13" name="Text 8"/>
          <p:cNvSpPr/>
          <p:nvPr/>
        </p:nvSpPr>
        <p:spPr>
          <a:xfrm>
            <a:off x="469820" y="3791189"/>
            <a:ext cx="1677948" cy="209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It's Not Magic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469820" y="4161948"/>
            <a:ext cx="7935992" cy="21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ML is built on math, statistics, and careful experimentation. Understanding the </a:t>
            </a:r>
            <a:endParaRPr lang="en-US" sz="1600" dirty="0" smtClean="0">
              <a:solidFill>
                <a:srgbClr val="504C49"/>
              </a:solidFill>
              <a:latin typeface="Times New Roman" panose="02020603050405020304" pitchFamily="18" charset="0"/>
              <a:ea typeface="Source Serif 4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1650"/>
              </a:lnSpc>
              <a:buNone/>
            </a:pPr>
            <a:r>
              <a:rPr lang="en-US" sz="16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fundamentals </a:t>
            </a: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helps you use it effectively.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335637" y="5069324"/>
            <a:ext cx="8204359" cy="1310045"/>
          </a:xfrm>
          <a:prstGeom prst="roundRect">
            <a:avLst>
              <a:gd name="adj" fmla="val 1537"/>
            </a:avLst>
          </a:prstGeom>
          <a:solidFill>
            <a:srgbClr val="F9F7F7"/>
          </a:solidFill>
          <a:ln/>
        </p:spPr>
      </p:sp>
      <p:sp>
        <p:nvSpPr>
          <p:cNvPr id="18" name="Text 12"/>
          <p:cNvSpPr/>
          <p:nvPr/>
        </p:nvSpPr>
        <p:spPr>
          <a:xfrm>
            <a:off x="469820" y="5262324"/>
            <a:ext cx="1677948" cy="209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Start Simple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469820" y="5664993"/>
            <a:ext cx="7935992" cy="21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A simple model you understand is always better than a complex "black box" you don't. </a:t>
            </a:r>
            <a:endParaRPr lang="en-US" sz="1600" dirty="0" smtClean="0">
              <a:solidFill>
                <a:srgbClr val="504C49"/>
              </a:solidFill>
              <a:latin typeface="Times New Roman" panose="02020603050405020304" pitchFamily="18" charset="0"/>
              <a:ea typeface="Source Serif 4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1650"/>
              </a:lnSpc>
              <a:buNone/>
            </a:pPr>
            <a:r>
              <a:rPr lang="en-US" sz="16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Build </a:t>
            </a: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complexity gradually.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335637" y="6513552"/>
            <a:ext cx="8204359" cy="1524714"/>
          </a:xfrm>
          <a:prstGeom prst="roundRect">
            <a:avLst>
              <a:gd name="adj" fmla="val 1321"/>
            </a:avLst>
          </a:prstGeom>
          <a:solidFill>
            <a:srgbClr val="F9F7F7"/>
          </a:solidFill>
          <a:ln/>
        </p:spPr>
      </p:sp>
      <p:sp>
        <p:nvSpPr>
          <p:cNvPr id="23" name="Text 16"/>
          <p:cNvSpPr/>
          <p:nvPr/>
        </p:nvSpPr>
        <p:spPr>
          <a:xfrm>
            <a:off x="469820" y="6679645"/>
            <a:ext cx="1677948" cy="209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Ethics Matters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469820" y="7034450"/>
            <a:ext cx="7935992" cy="42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Models can reflect and amplify human biases present in training data. We must build AI systems responsibly and thoughtfully.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59792" y="3441290"/>
            <a:ext cx="2674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Thank You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10528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717</Words>
  <Application>Microsoft Office PowerPoint</Application>
  <PresentationFormat>Custom</PresentationFormat>
  <Paragraphs>119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 MT</vt:lpstr>
      <vt:lpstr>Platypi Medium</vt:lpstr>
      <vt:lpstr>Calibri</vt:lpstr>
      <vt:lpstr>Times New Roman</vt:lpstr>
      <vt:lpstr>Source Serif 4</vt:lpstr>
      <vt:lpstr>Platypi Light</vt:lpstr>
      <vt:lpstr>Arial</vt:lpstr>
      <vt:lpstr>Office Theme</vt:lpstr>
      <vt:lpstr>1_Office Theme</vt:lpstr>
      <vt:lpstr>PowerPoint Presentation</vt:lpstr>
      <vt:lpstr>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E-commerce Company Challenge: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Zainab</cp:lastModifiedBy>
  <cp:revision>9</cp:revision>
  <dcterms:created xsi:type="dcterms:W3CDTF">2025-12-22T16:13:55Z</dcterms:created>
  <dcterms:modified xsi:type="dcterms:W3CDTF">2025-12-24T03:08:29Z</dcterms:modified>
</cp:coreProperties>
</file>