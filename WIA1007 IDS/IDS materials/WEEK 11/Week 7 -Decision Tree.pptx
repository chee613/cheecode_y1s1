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62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317" r:id="rId14"/>
    <p:sldId id="286" r:id="rId15"/>
    <p:sldId id="287" r:id="rId16"/>
    <p:sldId id="288" r:id="rId17"/>
    <p:sldId id="289" r:id="rId18"/>
    <p:sldId id="290" r:id="rId19"/>
    <p:sldId id="291" r:id="rId20"/>
    <p:sldId id="292" r:id="rId21"/>
    <p:sldId id="293" r:id="rId22"/>
    <p:sldId id="294" r:id="rId23"/>
    <p:sldId id="296" r:id="rId24"/>
    <p:sldId id="297" r:id="rId25"/>
    <p:sldId id="298" r:id="rId26"/>
    <p:sldId id="299" r:id="rId27"/>
    <p:sldId id="300" r:id="rId28"/>
    <p:sldId id="301" r:id="rId29"/>
    <p:sldId id="302" r:id="rId30"/>
    <p:sldId id="303" r:id="rId31"/>
    <p:sldId id="265" r:id="rId32"/>
    <p:sldId id="266" r:id="rId33"/>
    <p:sldId id="267" r:id="rId34"/>
    <p:sldId id="304" r:id="rId35"/>
    <p:sldId id="305" r:id="rId36"/>
    <p:sldId id="306" r:id="rId37"/>
    <p:sldId id="307" r:id="rId38"/>
    <p:sldId id="308" r:id="rId39"/>
    <p:sldId id="309" r:id="rId40"/>
    <p:sldId id="310" r:id="rId41"/>
    <p:sldId id="311" r:id="rId42"/>
    <p:sldId id="312" r:id="rId43"/>
    <p:sldId id="313" r:id="rId44"/>
    <p:sldId id="314" r:id="rId45"/>
    <p:sldId id="315" r:id="rId46"/>
    <p:sldId id="316" r:id="rId47"/>
    <p:sldId id="270" r:id="rId48"/>
    <p:sldId id="271" r:id="rId49"/>
    <p:sldId id="272" r:id="rId50"/>
    <p:sldId id="273" r:id="rId51"/>
    <p:sldId id="274" r:id="rId52"/>
    <p:sldId id="275" r:id="rId53"/>
    <p:sldId id="279" r:id="rId54"/>
    <p:sldId id="280" r:id="rId55"/>
    <p:sldId id="281" r:id="rId56"/>
    <p:sldId id="282" r:id="rId57"/>
    <p:sldId id="283" r:id="rId58"/>
    <p:sldId id="284" r:id="rId59"/>
    <p:sldId id="285" r:id="rId60"/>
    <p:sldId id="318" r:id="rId61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790" autoAdjust="0"/>
    <p:restoredTop sz="38586" autoAdjust="0"/>
  </p:normalViewPr>
  <p:slideViewPr>
    <p:cSldViewPr>
      <p:cViewPr varScale="1">
        <p:scale>
          <a:sx n="36" d="100"/>
          <a:sy n="36" d="100"/>
        </p:scale>
        <p:origin x="2376" y="2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61" Type="http://schemas.openxmlformats.org/officeDocument/2006/relationships/slide" Target="slides/slide57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FB73E0-E782-4148-BCC5-6DBC3613979A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26DDD7-9EC9-4B1E-99F0-349E113F6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8423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26DDD7-9EC9-4B1E-99F0-349E113F694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3184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26DDD7-9EC9-4B1E-99F0-349E113F694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222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26DDD7-9EC9-4B1E-99F0-349E113F694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0216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26DDD7-9EC9-4B1E-99F0-349E113F694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3711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26DDD7-9EC9-4B1E-99F0-349E113F694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4270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26DDD7-9EC9-4B1E-99F0-349E113F694F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0709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26DDD7-9EC9-4B1E-99F0-349E113F694F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7293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26DDD7-9EC9-4B1E-99F0-349E113F694F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1498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26DDD7-9EC9-4B1E-99F0-349E113F694F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4732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26DDD7-9EC9-4B1E-99F0-349E113F694F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0807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26DDD7-9EC9-4B1E-99F0-349E113F694F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0503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26DDD7-9EC9-4B1E-99F0-349E113F694F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7868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26DDD7-9EC9-4B1E-99F0-349E113F694F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2120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57200" y="6248400"/>
            <a:ext cx="8229600" cy="1905"/>
          </a:xfrm>
          <a:custGeom>
            <a:avLst/>
            <a:gdLst/>
            <a:ahLst/>
            <a:cxnLst/>
            <a:rect l="l" t="t" r="r" b="b"/>
            <a:pathLst>
              <a:path w="8229600" h="1904">
                <a:moveTo>
                  <a:pt x="0" y="0"/>
                </a:moveTo>
                <a:lnTo>
                  <a:pt x="8229600" y="1587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13866" y="1467433"/>
            <a:ext cx="7117080" cy="13677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23670" y="1190356"/>
            <a:ext cx="8296659" cy="106454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457199" y="1219200"/>
            <a:ext cx="8229600" cy="1905"/>
          </a:xfrm>
          <a:custGeom>
            <a:avLst/>
            <a:gdLst/>
            <a:ahLst/>
            <a:cxnLst/>
            <a:rect l="l" t="t" r="r" b="b"/>
            <a:pathLst>
              <a:path w="8229600" h="1905">
                <a:moveTo>
                  <a:pt x="0" y="0"/>
                </a:moveTo>
                <a:lnTo>
                  <a:pt x="8229600" y="1650"/>
                </a:lnTo>
              </a:path>
            </a:pathLst>
          </a:custGeom>
          <a:ln w="381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57200" y="6248400"/>
            <a:ext cx="8229600" cy="1905"/>
          </a:xfrm>
          <a:custGeom>
            <a:avLst/>
            <a:gdLst/>
            <a:ahLst/>
            <a:cxnLst/>
            <a:rect l="l" t="t" r="r" b="b"/>
            <a:pathLst>
              <a:path w="8229600" h="1904">
                <a:moveTo>
                  <a:pt x="0" y="0"/>
                </a:moveTo>
                <a:lnTo>
                  <a:pt x="8229600" y="1587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74065" y="132664"/>
            <a:ext cx="6757314" cy="1026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18617" y="1223848"/>
            <a:ext cx="4358640" cy="14674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g"/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g"/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26135" marR="5080" indent="-814069">
              <a:lnSpc>
                <a:spcPct val="100000"/>
              </a:lnSpc>
              <a:spcBef>
                <a:spcPts val="105"/>
              </a:spcBef>
            </a:pPr>
            <a:r>
              <a:rPr sz="4400" b="1" dirty="0">
                <a:latin typeface="Calibri"/>
                <a:cs typeface="Calibri"/>
              </a:rPr>
              <a:t>Decision</a:t>
            </a:r>
            <a:r>
              <a:rPr sz="4400" b="1" spc="-105" dirty="0">
                <a:latin typeface="Calibri"/>
                <a:cs typeface="Calibri"/>
              </a:rPr>
              <a:t> </a:t>
            </a:r>
            <a:r>
              <a:rPr sz="4400" b="1" spc="-20" dirty="0">
                <a:latin typeface="Calibri"/>
                <a:cs typeface="Calibri"/>
              </a:rPr>
              <a:t>Trees,</a:t>
            </a:r>
            <a:r>
              <a:rPr sz="4400" b="1" spc="-90" dirty="0">
                <a:latin typeface="Calibri"/>
                <a:cs typeface="Calibri"/>
              </a:rPr>
              <a:t> </a:t>
            </a:r>
            <a:r>
              <a:rPr sz="4400" b="1" dirty="0">
                <a:latin typeface="Calibri"/>
                <a:cs typeface="Calibri"/>
              </a:rPr>
              <a:t>Random</a:t>
            </a:r>
            <a:r>
              <a:rPr sz="4400" b="1" spc="-100" dirty="0">
                <a:latin typeface="Calibri"/>
                <a:cs typeface="Calibri"/>
              </a:rPr>
              <a:t> </a:t>
            </a:r>
            <a:r>
              <a:rPr sz="4400" b="1" spc="-10" dirty="0">
                <a:latin typeface="Calibri"/>
                <a:cs typeface="Calibri"/>
              </a:rPr>
              <a:t>Forest </a:t>
            </a:r>
            <a:r>
              <a:rPr sz="4400" b="1" dirty="0">
                <a:latin typeface="Calibri"/>
                <a:cs typeface="Calibri"/>
              </a:rPr>
              <a:t>and</a:t>
            </a:r>
            <a:r>
              <a:rPr sz="4400" b="1" spc="-30" dirty="0">
                <a:latin typeface="Calibri"/>
                <a:cs typeface="Calibri"/>
              </a:rPr>
              <a:t> </a:t>
            </a:r>
            <a:r>
              <a:rPr sz="4400" b="1" dirty="0">
                <a:latin typeface="Calibri"/>
                <a:cs typeface="Calibri"/>
              </a:rPr>
              <a:t>Ensemble</a:t>
            </a:r>
            <a:r>
              <a:rPr sz="4400" b="1" spc="-40" dirty="0">
                <a:latin typeface="Calibri"/>
                <a:cs typeface="Calibri"/>
              </a:rPr>
              <a:t> </a:t>
            </a:r>
            <a:r>
              <a:rPr sz="4400" b="1" spc="-10" dirty="0">
                <a:latin typeface="Calibri"/>
                <a:cs typeface="Calibri"/>
              </a:rPr>
              <a:t>Methods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12414" y="3479672"/>
            <a:ext cx="252031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4400" b="1" dirty="0" smtClean="0">
                <a:latin typeface="Calibri"/>
                <a:cs typeface="Calibri"/>
              </a:rPr>
              <a:t>WIA1007</a:t>
            </a:r>
            <a:endParaRPr sz="4400"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2265" rIns="0" bIns="0" rtlCol="0">
            <a:spAutoFit/>
          </a:bodyPr>
          <a:lstStyle/>
          <a:p>
            <a:pPr marL="74295">
              <a:lnSpc>
                <a:spcPct val="100000"/>
              </a:lnSpc>
              <a:spcBef>
                <a:spcPts val="105"/>
              </a:spcBef>
            </a:pPr>
            <a:r>
              <a:rPr sz="4400" b="1" dirty="0">
                <a:latin typeface="Calibri"/>
                <a:cs typeface="Calibri"/>
              </a:rPr>
              <a:t>Decision</a:t>
            </a:r>
            <a:r>
              <a:rPr sz="4400" b="1" spc="-35" dirty="0">
                <a:latin typeface="Calibri"/>
                <a:cs typeface="Calibri"/>
              </a:rPr>
              <a:t> </a:t>
            </a:r>
            <a:r>
              <a:rPr sz="4400" b="1" spc="-10" dirty="0">
                <a:latin typeface="Calibri"/>
                <a:cs typeface="Calibri"/>
              </a:rPr>
              <a:t>trees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607565"/>
            <a:ext cx="7842250" cy="450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1049655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spc="-10" dirty="0">
                <a:latin typeface="Calibri"/>
                <a:cs typeface="Calibri"/>
              </a:rPr>
              <a:t>Non-</a:t>
            </a:r>
            <a:r>
              <a:rPr sz="3200" dirty="0">
                <a:latin typeface="Calibri"/>
                <a:cs typeface="Calibri"/>
              </a:rPr>
              <a:t>linear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classifier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-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-50" dirty="0">
                <a:latin typeface="Calibri"/>
                <a:cs typeface="Calibri"/>
              </a:rPr>
              <a:t>Target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function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spc="-35" dirty="0">
                <a:latin typeface="Calibri"/>
                <a:cs typeface="Calibri"/>
              </a:rPr>
              <a:t>is </a:t>
            </a:r>
            <a:r>
              <a:rPr sz="3200" spc="-10" dirty="0">
                <a:latin typeface="Calibri"/>
                <a:cs typeface="Calibri"/>
              </a:rPr>
              <a:t>discrete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valued</a:t>
            </a:r>
            <a:endParaRPr sz="3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Easy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use</a:t>
            </a:r>
            <a:endParaRPr sz="3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Easy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interpret</a:t>
            </a:r>
            <a:endParaRPr sz="3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65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Susceptible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overfitting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but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can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be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avoided.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2600" b="1" spc="-10" dirty="0">
                <a:latin typeface="Calibri"/>
                <a:cs typeface="Calibri"/>
              </a:rPr>
              <a:t>Examples:</a:t>
            </a:r>
            <a:endParaRPr sz="2600">
              <a:latin typeface="Calibri"/>
              <a:cs typeface="Calibri"/>
            </a:endParaRPr>
          </a:p>
          <a:p>
            <a:pPr marL="469900" marR="4883150">
              <a:lnSpc>
                <a:spcPct val="110000"/>
              </a:lnSpc>
            </a:pPr>
            <a:r>
              <a:rPr sz="2600" dirty="0">
                <a:latin typeface="Calibri"/>
                <a:cs typeface="Calibri"/>
              </a:rPr>
              <a:t>Medical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diagnosis </a:t>
            </a:r>
            <a:r>
              <a:rPr sz="2600" dirty="0">
                <a:latin typeface="Calibri"/>
                <a:cs typeface="Calibri"/>
              </a:rPr>
              <a:t>Credit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risk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analysis</a:t>
            </a:r>
            <a:endParaRPr sz="26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315"/>
              </a:spcBef>
            </a:pPr>
            <a:r>
              <a:rPr sz="2600" dirty="0">
                <a:latin typeface="Calibri"/>
                <a:cs typeface="Calibri"/>
              </a:rPr>
              <a:t>Natural</a:t>
            </a:r>
            <a:r>
              <a:rPr sz="2600" spc="-10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Language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Processing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2265" rIns="0" bIns="0" rtlCol="0">
            <a:spAutoFit/>
          </a:bodyPr>
          <a:lstStyle/>
          <a:p>
            <a:pPr marL="74295">
              <a:lnSpc>
                <a:spcPct val="100000"/>
              </a:lnSpc>
              <a:spcBef>
                <a:spcPts val="105"/>
              </a:spcBef>
            </a:pPr>
            <a:r>
              <a:rPr sz="4400" b="1" dirty="0">
                <a:latin typeface="Calibri"/>
                <a:cs typeface="Calibri"/>
              </a:rPr>
              <a:t>Anatomy</a:t>
            </a:r>
            <a:r>
              <a:rPr sz="4400" b="1" spc="-65" dirty="0">
                <a:latin typeface="Calibri"/>
                <a:cs typeface="Calibri"/>
              </a:rPr>
              <a:t> </a:t>
            </a:r>
            <a:r>
              <a:rPr sz="4400" b="1" dirty="0">
                <a:latin typeface="Calibri"/>
                <a:cs typeface="Calibri"/>
              </a:rPr>
              <a:t>of</a:t>
            </a:r>
            <a:r>
              <a:rPr sz="4400" b="1" spc="-80" dirty="0">
                <a:latin typeface="Calibri"/>
                <a:cs typeface="Calibri"/>
              </a:rPr>
              <a:t> </a:t>
            </a:r>
            <a:r>
              <a:rPr sz="4400" b="1" dirty="0">
                <a:latin typeface="Calibri"/>
                <a:cs typeface="Calibri"/>
              </a:rPr>
              <a:t>a</a:t>
            </a:r>
            <a:r>
              <a:rPr sz="4400" b="1" spc="-65" dirty="0">
                <a:latin typeface="Calibri"/>
                <a:cs typeface="Calibri"/>
              </a:rPr>
              <a:t> </a:t>
            </a:r>
            <a:r>
              <a:rPr sz="4400" b="1" dirty="0">
                <a:latin typeface="Calibri"/>
                <a:cs typeface="Calibri"/>
              </a:rPr>
              <a:t>decision</a:t>
            </a:r>
            <a:r>
              <a:rPr sz="4400" b="1" spc="-105" dirty="0">
                <a:latin typeface="Calibri"/>
                <a:cs typeface="Calibri"/>
              </a:rPr>
              <a:t> </a:t>
            </a:r>
            <a:r>
              <a:rPr sz="4400" b="1" spc="-20" dirty="0">
                <a:latin typeface="Calibri"/>
                <a:cs typeface="Calibri"/>
              </a:rPr>
              <a:t>tree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08934" y="2902966"/>
            <a:ext cx="98933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Arial MT"/>
                <a:cs typeface="Arial MT"/>
              </a:rPr>
              <a:t>overcast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77239" y="4784597"/>
            <a:ext cx="50673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0" dirty="0">
                <a:latin typeface="Arial MT"/>
                <a:cs typeface="Arial MT"/>
              </a:rPr>
              <a:t>high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45155" y="4784597"/>
            <a:ext cx="80454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Arial MT"/>
                <a:cs typeface="Arial MT"/>
              </a:rPr>
              <a:t>normal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35293" y="4798821"/>
            <a:ext cx="56324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Arial MT"/>
                <a:cs typeface="Arial MT"/>
              </a:rPr>
              <a:t>false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287136" y="4813172"/>
            <a:ext cx="46418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0" dirty="0">
                <a:latin typeface="Arial MT"/>
                <a:cs typeface="Arial MT"/>
              </a:rPr>
              <a:t>true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101850" y="2279650"/>
            <a:ext cx="3619500" cy="727075"/>
            <a:chOff x="2101850" y="2279650"/>
            <a:chExt cx="3619500" cy="727075"/>
          </a:xfrm>
        </p:grpSpPr>
        <p:sp>
          <p:nvSpPr>
            <p:cNvPr id="9" name="object 9"/>
            <p:cNvSpPr/>
            <p:nvPr/>
          </p:nvSpPr>
          <p:spPr>
            <a:xfrm>
              <a:off x="2438400" y="2286000"/>
              <a:ext cx="3276600" cy="698500"/>
            </a:xfrm>
            <a:custGeom>
              <a:avLst/>
              <a:gdLst/>
              <a:ahLst/>
              <a:cxnLst/>
              <a:rect l="l" t="t" r="r" b="b"/>
              <a:pathLst>
                <a:path w="3276600" h="698500">
                  <a:moveTo>
                    <a:pt x="968375" y="0"/>
                  </a:moveTo>
                  <a:lnTo>
                    <a:pt x="0" y="457200"/>
                  </a:lnTo>
                </a:path>
                <a:path w="3276600" h="698500">
                  <a:moveTo>
                    <a:pt x="1525651" y="152400"/>
                  </a:moveTo>
                  <a:lnTo>
                    <a:pt x="1524000" y="698500"/>
                  </a:lnTo>
                </a:path>
                <a:path w="3276600" h="698500">
                  <a:moveTo>
                    <a:pt x="1905000" y="0"/>
                  </a:moveTo>
                  <a:lnTo>
                    <a:pt x="3276600" y="5334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108200" y="2590800"/>
              <a:ext cx="875030" cy="409575"/>
            </a:xfrm>
            <a:custGeom>
              <a:avLst/>
              <a:gdLst/>
              <a:ahLst/>
              <a:cxnLst/>
              <a:rect l="l" t="t" r="r" b="b"/>
              <a:pathLst>
                <a:path w="875030" h="409575">
                  <a:moveTo>
                    <a:pt x="0" y="409575"/>
                  </a:moveTo>
                  <a:lnTo>
                    <a:pt x="874712" y="409575"/>
                  </a:lnTo>
                  <a:lnTo>
                    <a:pt x="874712" y="0"/>
                  </a:lnTo>
                  <a:lnTo>
                    <a:pt x="0" y="0"/>
                  </a:lnTo>
                  <a:lnTo>
                    <a:pt x="0" y="40957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192527" y="2617088"/>
            <a:ext cx="70548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Arial MT"/>
                <a:cs typeface="Arial MT"/>
              </a:rPr>
              <a:t>sunny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700776" y="2769488"/>
            <a:ext cx="45021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20" dirty="0">
                <a:latin typeface="Arial MT"/>
                <a:cs typeface="Arial MT"/>
              </a:rPr>
              <a:t>rain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443037" y="3652837"/>
            <a:ext cx="1762125" cy="1214755"/>
            <a:chOff x="1443037" y="3652837"/>
            <a:chExt cx="1762125" cy="1214755"/>
          </a:xfrm>
        </p:grpSpPr>
        <p:sp>
          <p:nvSpPr>
            <p:cNvPr id="14" name="object 14"/>
            <p:cNvSpPr/>
            <p:nvPr/>
          </p:nvSpPr>
          <p:spPr>
            <a:xfrm>
              <a:off x="1479550" y="4345051"/>
              <a:ext cx="1549400" cy="516255"/>
            </a:xfrm>
            <a:custGeom>
              <a:avLst/>
              <a:gdLst/>
              <a:ahLst/>
              <a:cxnLst/>
              <a:rect l="l" t="t" r="r" b="b"/>
              <a:pathLst>
                <a:path w="1549400" h="516254">
                  <a:moveTo>
                    <a:pt x="493775" y="0"/>
                  </a:moveTo>
                  <a:lnTo>
                    <a:pt x="0" y="515874"/>
                  </a:lnTo>
                </a:path>
                <a:path w="1549400" h="516254">
                  <a:moveTo>
                    <a:pt x="1128776" y="45974"/>
                  </a:moveTo>
                  <a:lnTo>
                    <a:pt x="1549400" y="469773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447800" y="3657600"/>
              <a:ext cx="1752600" cy="838200"/>
            </a:xfrm>
            <a:custGeom>
              <a:avLst/>
              <a:gdLst/>
              <a:ahLst/>
              <a:cxnLst/>
              <a:rect l="l" t="t" r="r" b="b"/>
              <a:pathLst>
                <a:path w="1752600" h="838200">
                  <a:moveTo>
                    <a:pt x="876300" y="0"/>
                  </a:moveTo>
                  <a:lnTo>
                    <a:pt x="0" y="419100"/>
                  </a:lnTo>
                  <a:lnTo>
                    <a:pt x="876300" y="838200"/>
                  </a:lnTo>
                  <a:lnTo>
                    <a:pt x="1752600" y="419100"/>
                  </a:lnTo>
                  <a:lnTo>
                    <a:pt x="8763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447800" y="3657600"/>
              <a:ext cx="1752600" cy="838200"/>
            </a:xfrm>
            <a:custGeom>
              <a:avLst/>
              <a:gdLst/>
              <a:ahLst/>
              <a:cxnLst/>
              <a:rect l="l" t="t" r="r" b="b"/>
              <a:pathLst>
                <a:path w="1752600" h="838200">
                  <a:moveTo>
                    <a:pt x="0" y="419100"/>
                  </a:moveTo>
                  <a:lnTo>
                    <a:pt x="876300" y="0"/>
                  </a:lnTo>
                  <a:lnTo>
                    <a:pt x="1752600" y="419100"/>
                  </a:lnTo>
                  <a:lnTo>
                    <a:pt x="876300" y="838200"/>
                  </a:lnTo>
                  <a:lnTo>
                    <a:pt x="0" y="4191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/>
          <p:nvPr/>
        </p:nvSpPr>
        <p:spPr>
          <a:xfrm>
            <a:off x="1430400" y="5229225"/>
            <a:ext cx="0" cy="405130"/>
          </a:xfrm>
          <a:custGeom>
            <a:avLst/>
            <a:gdLst/>
            <a:ahLst/>
            <a:cxnLst/>
            <a:rect l="l" t="t" r="r" b="b"/>
            <a:pathLst>
              <a:path h="405129">
                <a:moveTo>
                  <a:pt x="0" y="0"/>
                </a:moveTo>
                <a:lnTo>
                  <a:pt x="0" y="404812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815201" y="5183123"/>
            <a:ext cx="0" cy="440055"/>
          </a:xfrm>
          <a:custGeom>
            <a:avLst/>
            <a:gdLst/>
            <a:ahLst/>
            <a:cxnLst/>
            <a:rect l="l" t="t" r="r" b="b"/>
            <a:pathLst>
              <a:path h="440054">
                <a:moveTo>
                  <a:pt x="0" y="0"/>
                </a:moveTo>
                <a:lnTo>
                  <a:pt x="0" y="4398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516626" y="5199126"/>
            <a:ext cx="0" cy="434975"/>
          </a:xfrm>
          <a:custGeom>
            <a:avLst/>
            <a:gdLst/>
            <a:ahLst/>
            <a:cxnLst/>
            <a:rect l="l" t="t" r="r" b="b"/>
            <a:pathLst>
              <a:path h="434975">
                <a:moveTo>
                  <a:pt x="0" y="0"/>
                </a:moveTo>
                <a:lnTo>
                  <a:pt x="0" y="434911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044825" y="5199126"/>
            <a:ext cx="0" cy="434975"/>
          </a:xfrm>
          <a:custGeom>
            <a:avLst/>
            <a:gdLst/>
            <a:ahLst/>
            <a:cxnLst/>
            <a:rect l="l" t="t" r="r" b="b"/>
            <a:pathLst>
              <a:path h="434975">
                <a:moveTo>
                  <a:pt x="0" y="0"/>
                </a:moveTo>
                <a:lnTo>
                  <a:pt x="0" y="434911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902075" y="3294126"/>
            <a:ext cx="0" cy="440055"/>
          </a:xfrm>
          <a:custGeom>
            <a:avLst/>
            <a:gdLst/>
            <a:ahLst/>
            <a:cxnLst/>
            <a:rect l="l" t="t" r="r" b="b"/>
            <a:pathLst>
              <a:path h="440054">
                <a:moveTo>
                  <a:pt x="0" y="0"/>
                </a:moveTo>
                <a:lnTo>
                  <a:pt x="0" y="439674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1160462" y="5634037"/>
            <a:ext cx="542925" cy="415925"/>
          </a:xfrm>
          <a:prstGeom prst="rect">
            <a:avLst/>
          </a:prstGeom>
          <a:solidFill>
            <a:srgbClr val="C0504D"/>
          </a:solidFill>
          <a:ln w="19050">
            <a:solidFill>
              <a:srgbClr val="000000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315"/>
              </a:spcBef>
            </a:pPr>
            <a:r>
              <a:rPr sz="2000" b="1" spc="-25" dirty="0">
                <a:latin typeface="Arial"/>
                <a:cs typeface="Arial"/>
              </a:rPr>
              <a:t>No</a:t>
            </a:r>
            <a:endParaRPr sz="20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245100" y="5634037"/>
            <a:ext cx="542925" cy="415925"/>
          </a:xfrm>
          <a:prstGeom prst="rect">
            <a:avLst/>
          </a:prstGeom>
          <a:solidFill>
            <a:srgbClr val="C0504D"/>
          </a:solidFill>
          <a:ln w="19050">
            <a:solidFill>
              <a:srgbClr val="000000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101600">
              <a:lnSpc>
                <a:spcPct val="100000"/>
              </a:lnSpc>
              <a:spcBef>
                <a:spcPts val="315"/>
              </a:spcBef>
            </a:pPr>
            <a:r>
              <a:rPr sz="2000" b="1" spc="-25" dirty="0">
                <a:latin typeface="Arial"/>
                <a:cs typeface="Arial"/>
              </a:rPr>
              <a:t>No</a:t>
            </a:r>
            <a:endParaRPr sz="20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717800" y="5634037"/>
            <a:ext cx="649605" cy="409575"/>
          </a:xfrm>
          <a:prstGeom prst="rect">
            <a:avLst/>
          </a:prstGeom>
          <a:solidFill>
            <a:srgbClr val="FFCC00"/>
          </a:solidFill>
          <a:ln w="12700">
            <a:solidFill>
              <a:srgbClr val="000000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104139">
              <a:lnSpc>
                <a:spcPct val="100000"/>
              </a:lnSpc>
              <a:spcBef>
                <a:spcPts val="315"/>
              </a:spcBef>
            </a:pPr>
            <a:r>
              <a:rPr sz="2000" b="1" spc="-25" dirty="0">
                <a:latin typeface="Arial"/>
                <a:cs typeface="Arial"/>
              </a:rPr>
              <a:t>Yes</a:t>
            </a:r>
            <a:endParaRPr sz="20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489700" y="5634037"/>
            <a:ext cx="649605" cy="409575"/>
          </a:xfrm>
          <a:prstGeom prst="rect">
            <a:avLst/>
          </a:prstGeom>
          <a:solidFill>
            <a:srgbClr val="FFCC00"/>
          </a:solidFill>
          <a:ln w="12700">
            <a:solidFill>
              <a:srgbClr val="000000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104775">
              <a:lnSpc>
                <a:spcPct val="100000"/>
              </a:lnSpc>
              <a:spcBef>
                <a:spcPts val="315"/>
              </a:spcBef>
            </a:pPr>
            <a:r>
              <a:rPr sz="2000" b="1" spc="-25" dirty="0">
                <a:latin typeface="Arial"/>
                <a:cs typeface="Arial"/>
              </a:rPr>
              <a:t>Yes</a:t>
            </a:r>
            <a:endParaRPr sz="20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576701" y="3794125"/>
            <a:ext cx="649605" cy="409575"/>
          </a:xfrm>
          <a:prstGeom prst="rect">
            <a:avLst/>
          </a:prstGeom>
          <a:solidFill>
            <a:srgbClr val="FFCC00"/>
          </a:solidFill>
          <a:ln w="12700">
            <a:solidFill>
              <a:srgbClr val="000000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marL="105410">
              <a:lnSpc>
                <a:spcPct val="100000"/>
              </a:lnSpc>
              <a:spcBef>
                <a:spcPts val="310"/>
              </a:spcBef>
            </a:pPr>
            <a:r>
              <a:rPr sz="2000" b="1" spc="-25" dirty="0">
                <a:latin typeface="Arial"/>
                <a:cs typeface="Arial"/>
              </a:rPr>
              <a:t>Yes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3059112" y="1630362"/>
            <a:ext cx="1762125" cy="847725"/>
            <a:chOff x="3059112" y="1630362"/>
            <a:chExt cx="1762125" cy="847725"/>
          </a:xfrm>
        </p:grpSpPr>
        <p:sp>
          <p:nvSpPr>
            <p:cNvPr id="28" name="object 28"/>
            <p:cNvSpPr/>
            <p:nvPr/>
          </p:nvSpPr>
          <p:spPr>
            <a:xfrm>
              <a:off x="3063875" y="1635125"/>
              <a:ext cx="1752600" cy="838200"/>
            </a:xfrm>
            <a:custGeom>
              <a:avLst/>
              <a:gdLst/>
              <a:ahLst/>
              <a:cxnLst/>
              <a:rect l="l" t="t" r="r" b="b"/>
              <a:pathLst>
                <a:path w="1752600" h="838200">
                  <a:moveTo>
                    <a:pt x="876300" y="0"/>
                  </a:moveTo>
                  <a:lnTo>
                    <a:pt x="0" y="419100"/>
                  </a:lnTo>
                  <a:lnTo>
                    <a:pt x="876300" y="838200"/>
                  </a:lnTo>
                  <a:lnTo>
                    <a:pt x="1752600" y="419100"/>
                  </a:lnTo>
                  <a:lnTo>
                    <a:pt x="8763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063875" y="1635125"/>
              <a:ext cx="1752600" cy="838200"/>
            </a:xfrm>
            <a:custGeom>
              <a:avLst/>
              <a:gdLst/>
              <a:ahLst/>
              <a:cxnLst/>
              <a:rect l="l" t="t" r="r" b="b"/>
              <a:pathLst>
                <a:path w="1752600" h="838200">
                  <a:moveTo>
                    <a:pt x="0" y="419100"/>
                  </a:moveTo>
                  <a:lnTo>
                    <a:pt x="876300" y="0"/>
                  </a:lnTo>
                  <a:lnTo>
                    <a:pt x="1752600" y="419100"/>
                  </a:lnTo>
                  <a:lnTo>
                    <a:pt x="876300" y="838200"/>
                  </a:lnTo>
                  <a:lnTo>
                    <a:pt x="0" y="4191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0" name="object 30"/>
          <p:cNvGrpSpPr/>
          <p:nvPr/>
        </p:nvGrpSpPr>
        <p:grpSpPr>
          <a:xfrm>
            <a:off x="5176837" y="3805237"/>
            <a:ext cx="1762125" cy="1076325"/>
            <a:chOff x="5176837" y="3805237"/>
            <a:chExt cx="1762125" cy="1076325"/>
          </a:xfrm>
        </p:grpSpPr>
        <p:sp>
          <p:nvSpPr>
            <p:cNvPr id="31" name="object 31"/>
            <p:cNvSpPr/>
            <p:nvPr/>
          </p:nvSpPr>
          <p:spPr>
            <a:xfrm>
              <a:off x="5410200" y="4495800"/>
              <a:ext cx="1352550" cy="379730"/>
            </a:xfrm>
            <a:custGeom>
              <a:avLst/>
              <a:gdLst/>
              <a:ahLst/>
              <a:cxnLst/>
              <a:rect l="l" t="t" r="r" b="b"/>
              <a:pathLst>
                <a:path w="1352550" h="379729">
                  <a:moveTo>
                    <a:pt x="304800" y="0"/>
                  </a:moveTo>
                  <a:lnTo>
                    <a:pt x="0" y="379349"/>
                  </a:lnTo>
                </a:path>
                <a:path w="1352550" h="379729">
                  <a:moveTo>
                    <a:pt x="1143000" y="0"/>
                  </a:moveTo>
                  <a:lnTo>
                    <a:pt x="1352550" y="3048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181600" y="3810000"/>
              <a:ext cx="1752600" cy="838200"/>
            </a:xfrm>
            <a:custGeom>
              <a:avLst/>
              <a:gdLst/>
              <a:ahLst/>
              <a:cxnLst/>
              <a:rect l="l" t="t" r="r" b="b"/>
              <a:pathLst>
                <a:path w="1752600" h="838200">
                  <a:moveTo>
                    <a:pt x="876300" y="0"/>
                  </a:moveTo>
                  <a:lnTo>
                    <a:pt x="0" y="419100"/>
                  </a:lnTo>
                  <a:lnTo>
                    <a:pt x="876300" y="838200"/>
                  </a:lnTo>
                  <a:lnTo>
                    <a:pt x="1752600" y="419100"/>
                  </a:lnTo>
                  <a:lnTo>
                    <a:pt x="8763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181600" y="3810000"/>
              <a:ext cx="1752600" cy="838200"/>
            </a:xfrm>
            <a:custGeom>
              <a:avLst/>
              <a:gdLst/>
              <a:ahLst/>
              <a:cxnLst/>
              <a:rect l="l" t="t" r="r" b="b"/>
              <a:pathLst>
                <a:path w="1752600" h="838200">
                  <a:moveTo>
                    <a:pt x="0" y="419100"/>
                  </a:moveTo>
                  <a:lnTo>
                    <a:pt x="876300" y="0"/>
                  </a:lnTo>
                  <a:lnTo>
                    <a:pt x="1752600" y="419100"/>
                  </a:lnTo>
                  <a:lnTo>
                    <a:pt x="876300" y="838200"/>
                  </a:lnTo>
                  <a:lnTo>
                    <a:pt x="0" y="4191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3432175" y="1900504"/>
            <a:ext cx="902969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Arial MT"/>
                <a:cs typeface="Arial MT"/>
              </a:rPr>
              <a:t>Outlook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755394" y="3882390"/>
            <a:ext cx="101536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Arial MT"/>
                <a:cs typeface="Arial MT"/>
              </a:rPr>
              <a:t>Humidity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566028" y="4110990"/>
            <a:ext cx="73342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Arial MT"/>
                <a:cs typeface="Arial MT"/>
              </a:rPr>
              <a:t>Windy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6019800" y="3124200"/>
            <a:ext cx="0" cy="685800"/>
          </a:xfrm>
          <a:custGeom>
            <a:avLst/>
            <a:gdLst/>
            <a:ahLst/>
            <a:cxnLst/>
            <a:rect l="l" t="t" r="r" b="b"/>
            <a:pathLst>
              <a:path h="685800">
                <a:moveTo>
                  <a:pt x="0" y="0"/>
                </a:moveTo>
                <a:lnTo>
                  <a:pt x="0" y="6858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8" name="object 38"/>
          <p:cNvGrpSpPr/>
          <p:nvPr/>
        </p:nvGrpSpPr>
        <p:grpSpPr>
          <a:xfrm>
            <a:off x="2357437" y="1615186"/>
            <a:ext cx="2792730" cy="1966595"/>
            <a:chOff x="2357437" y="1615186"/>
            <a:chExt cx="2792730" cy="1966595"/>
          </a:xfrm>
        </p:grpSpPr>
        <p:sp>
          <p:nvSpPr>
            <p:cNvPr id="39" name="object 39"/>
            <p:cNvSpPr/>
            <p:nvPr/>
          </p:nvSpPr>
          <p:spPr>
            <a:xfrm>
              <a:off x="2362200" y="2971800"/>
              <a:ext cx="0" cy="609600"/>
            </a:xfrm>
            <a:custGeom>
              <a:avLst/>
              <a:gdLst/>
              <a:ahLst/>
              <a:cxnLst/>
              <a:rect l="l" t="t" r="r" b="b"/>
              <a:pathLst>
                <a:path h="609600">
                  <a:moveTo>
                    <a:pt x="0" y="0"/>
                  </a:moveTo>
                  <a:lnTo>
                    <a:pt x="0" y="6096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496054" y="1615186"/>
              <a:ext cx="654050" cy="243204"/>
            </a:xfrm>
            <a:custGeom>
              <a:avLst/>
              <a:gdLst/>
              <a:ahLst/>
              <a:cxnLst/>
              <a:rect l="l" t="t" r="r" b="b"/>
              <a:pathLst>
                <a:path w="654050" h="243205">
                  <a:moveTo>
                    <a:pt x="567952" y="27119"/>
                  </a:moveTo>
                  <a:lnTo>
                    <a:pt x="0" y="215900"/>
                  </a:lnTo>
                  <a:lnTo>
                    <a:pt x="9017" y="243077"/>
                  </a:lnTo>
                  <a:lnTo>
                    <a:pt x="576958" y="54177"/>
                  </a:lnTo>
                  <a:lnTo>
                    <a:pt x="567952" y="27119"/>
                  </a:lnTo>
                  <a:close/>
                </a:path>
                <a:path w="654050" h="243205">
                  <a:moveTo>
                    <a:pt x="644762" y="22605"/>
                  </a:moveTo>
                  <a:lnTo>
                    <a:pt x="581533" y="22605"/>
                  </a:lnTo>
                  <a:lnTo>
                    <a:pt x="590550" y="49656"/>
                  </a:lnTo>
                  <a:lnTo>
                    <a:pt x="576958" y="54177"/>
                  </a:lnTo>
                  <a:lnTo>
                    <a:pt x="585978" y="81279"/>
                  </a:lnTo>
                  <a:lnTo>
                    <a:pt x="644762" y="22605"/>
                  </a:lnTo>
                  <a:close/>
                </a:path>
                <a:path w="654050" h="243205">
                  <a:moveTo>
                    <a:pt x="581533" y="22605"/>
                  </a:moveTo>
                  <a:lnTo>
                    <a:pt x="567952" y="27119"/>
                  </a:lnTo>
                  <a:lnTo>
                    <a:pt x="576958" y="54177"/>
                  </a:lnTo>
                  <a:lnTo>
                    <a:pt x="590550" y="49656"/>
                  </a:lnTo>
                  <a:lnTo>
                    <a:pt x="581533" y="22605"/>
                  </a:lnTo>
                  <a:close/>
                </a:path>
                <a:path w="654050" h="243205">
                  <a:moveTo>
                    <a:pt x="558926" y="0"/>
                  </a:moveTo>
                  <a:lnTo>
                    <a:pt x="567952" y="27119"/>
                  </a:lnTo>
                  <a:lnTo>
                    <a:pt x="581533" y="22605"/>
                  </a:lnTo>
                  <a:lnTo>
                    <a:pt x="644762" y="22605"/>
                  </a:lnTo>
                  <a:lnTo>
                    <a:pt x="653796" y="13588"/>
                  </a:lnTo>
                  <a:lnTo>
                    <a:pt x="55892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5227701" y="1440307"/>
            <a:ext cx="24422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4F81BC"/>
                </a:solidFill>
                <a:latin typeface="Arial"/>
                <a:cs typeface="Arial"/>
              </a:rPr>
              <a:t>Each node</a:t>
            </a:r>
            <a:r>
              <a:rPr sz="1800" b="1" spc="-20" dirty="0">
                <a:solidFill>
                  <a:srgbClr val="4F81BC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F81BC"/>
                </a:solidFill>
                <a:latin typeface="Arial"/>
                <a:cs typeface="Arial"/>
              </a:rPr>
              <a:t>is</a:t>
            </a:r>
            <a:r>
              <a:rPr sz="1800" b="1" spc="-5" dirty="0">
                <a:solidFill>
                  <a:srgbClr val="4F81BC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F81BC"/>
                </a:solidFill>
                <a:latin typeface="Arial"/>
                <a:cs typeface="Arial"/>
              </a:rPr>
              <a:t>a test</a:t>
            </a:r>
            <a:r>
              <a:rPr sz="1800" b="1" spc="-5" dirty="0">
                <a:solidFill>
                  <a:srgbClr val="4F81BC"/>
                </a:solidFill>
                <a:latin typeface="Arial"/>
                <a:cs typeface="Arial"/>
              </a:rPr>
              <a:t> </a:t>
            </a:r>
            <a:r>
              <a:rPr sz="1800" b="1" spc="-25" dirty="0">
                <a:solidFill>
                  <a:srgbClr val="4F81BC"/>
                </a:solidFill>
                <a:latin typeface="Arial"/>
                <a:cs typeface="Arial"/>
              </a:rPr>
              <a:t>on </a:t>
            </a:r>
            <a:r>
              <a:rPr sz="1800" b="1" dirty="0">
                <a:solidFill>
                  <a:srgbClr val="4F81BC"/>
                </a:solidFill>
                <a:latin typeface="Arial"/>
                <a:cs typeface="Arial"/>
              </a:rPr>
              <a:t>one</a:t>
            </a:r>
            <a:r>
              <a:rPr sz="1800" b="1" spc="-30" dirty="0">
                <a:solidFill>
                  <a:srgbClr val="4F81BC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4F81BC"/>
                </a:solidFill>
                <a:latin typeface="Arial"/>
                <a:cs typeface="Arial"/>
              </a:rPr>
              <a:t>attribute</a:t>
            </a:r>
            <a:endParaRPr sz="18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307582" y="2802382"/>
            <a:ext cx="249999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Possible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attribute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values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of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node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315961" y="5481015"/>
            <a:ext cx="152844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CC0000"/>
                </a:solidFill>
                <a:latin typeface="Arial MT"/>
                <a:cs typeface="Arial MT"/>
              </a:rPr>
              <a:t>Leafs</a:t>
            </a:r>
            <a:r>
              <a:rPr sz="1600" spc="-40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CC0000"/>
                </a:solidFill>
                <a:latin typeface="Arial MT"/>
                <a:cs typeface="Arial MT"/>
              </a:rPr>
              <a:t>(class)</a:t>
            </a:r>
            <a:r>
              <a:rPr sz="1600" spc="-50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rgbClr val="CC0000"/>
                </a:solidFill>
                <a:latin typeface="Arial MT"/>
                <a:cs typeface="Arial MT"/>
              </a:rPr>
              <a:t>are</a:t>
            </a:r>
            <a:endParaRPr sz="1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solidFill>
                  <a:srgbClr val="CC0000"/>
                </a:solidFill>
                <a:latin typeface="Arial MT"/>
                <a:cs typeface="Arial MT"/>
              </a:rPr>
              <a:t>the</a:t>
            </a:r>
            <a:r>
              <a:rPr sz="1600" spc="-25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CC0000"/>
                </a:solidFill>
                <a:latin typeface="Arial MT"/>
                <a:cs typeface="Arial MT"/>
              </a:rPr>
              <a:t>decisions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2265" rIns="0" bIns="0" rtlCol="0">
            <a:spAutoFit/>
          </a:bodyPr>
          <a:lstStyle/>
          <a:p>
            <a:pPr marL="74295">
              <a:lnSpc>
                <a:spcPct val="100000"/>
              </a:lnSpc>
              <a:spcBef>
                <a:spcPts val="105"/>
              </a:spcBef>
            </a:pPr>
            <a:r>
              <a:rPr sz="4400" b="1" dirty="0">
                <a:latin typeface="Calibri"/>
                <a:cs typeface="Calibri"/>
              </a:rPr>
              <a:t>Anatomy</a:t>
            </a:r>
            <a:r>
              <a:rPr sz="4400" b="1" spc="-65" dirty="0">
                <a:latin typeface="Calibri"/>
                <a:cs typeface="Calibri"/>
              </a:rPr>
              <a:t> </a:t>
            </a:r>
            <a:r>
              <a:rPr sz="4400" b="1" dirty="0">
                <a:latin typeface="Calibri"/>
                <a:cs typeface="Calibri"/>
              </a:rPr>
              <a:t>of</a:t>
            </a:r>
            <a:r>
              <a:rPr sz="4400" b="1" spc="-80" dirty="0">
                <a:latin typeface="Calibri"/>
                <a:cs typeface="Calibri"/>
              </a:rPr>
              <a:t> </a:t>
            </a:r>
            <a:r>
              <a:rPr sz="4400" b="1" dirty="0">
                <a:latin typeface="Calibri"/>
                <a:cs typeface="Calibri"/>
              </a:rPr>
              <a:t>a</a:t>
            </a:r>
            <a:r>
              <a:rPr sz="4400" b="1" spc="-65" dirty="0">
                <a:latin typeface="Calibri"/>
                <a:cs typeface="Calibri"/>
              </a:rPr>
              <a:t> </a:t>
            </a:r>
            <a:r>
              <a:rPr sz="4400" b="1" dirty="0">
                <a:latin typeface="Calibri"/>
                <a:cs typeface="Calibri"/>
              </a:rPr>
              <a:t>decision</a:t>
            </a:r>
            <a:r>
              <a:rPr sz="4400" b="1" spc="-105" dirty="0">
                <a:latin typeface="Calibri"/>
                <a:cs typeface="Calibri"/>
              </a:rPr>
              <a:t> </a:t>
            </a:r>
            <a:r>
              <a:rPr sz="4400" b="1" spc="-20" dirty="0">
                <a:latin typeface="Calibri"/>
                <a:cs typeface="Calibri"/>
              </a:rPr>
              <a:t>tree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08934" y="2902966"/>
            <a:ext cx="98933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Arial MT"/>
                <a:cs typeface="Arial MT"/>
              </a:rPr>
              <a:t>overcast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77239" y="4784597"/>
            <a:ext cx="50673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0" dirty="0">
                <a:latin typeface="Arial MT"/>
                <a:cs typeface="Arial MT"/>
              </a:rPr>
              <a:t>high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45155" y="4784597"/>
            <a:ext cx="80454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Arial MT"/>
                <a:cs typeface="Arial MT"/>
              </a:rPr>
              <a:t>normal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35293" y="4798821"/>
            <a:ext cx="56324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Arial MT"/>
                <a:cs typeface="Arial MT"/>
              </a:rPr>
              <a:t>false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287136" y="4813172"/>
            <a:ext cx="46418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0" dirty="0">
                <a:latin typeface="Arial MT"/>
                <a:cs typeface="Arial MT"/>
              </a:rPr>
              <a:t>true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101850" y="2279650"/>
            <a:ext cx="3619500" cy="727075"/>
            <a:chOff x="2101850" y="2279650"/>
            <a:chExt cx="3619500" cy="727075"/>
          </a:xfrm>
        </p:grpSpPr>
        <p:sp>
          <p:nvSpPr>
            <p:cNvPr id="9" name="object 9"/>
            <p:cNvSpPr/>
            <p:nvPr/>
          </p:nvSpPr>
          <p:spPr>
            <a:xfrm>
              <a:off x="2438400" y="2286000"/>
              <a:ext cx="3276600" cy="698500"/>
            </a:xfrm>
            <a:custGeom>
              <a:avLst/>
              <a:gdLst/>
              <a:ahLst/>
              <a:cxnLst/>
              <a:rect l="l" t="t" r="r" b="b"/>
              <a:pathLst>
                <a:path w="3276600" h="698500">
                  <a:moveTo>
                    <a:pt x="968375" y="0"/>
                  </a:moveTo>
                  <a:lnTo>
                    <a:pt x="0" y="457200"/>
                  </a:lnTo>
                </a:path>
                <a:path w="3276600" h="698500">
                  <a:moveTo>
                    <a:pt x="1525651" y="152400"/>
                  </a:moveTo>
                  <a:lnTo>
                    <a:pt x="1524000" y="698500"/>
                  </a:lnTo>
                </a:path>
                <a:path w="3276600" h="698500">
                  <a:moveTo>
                    <a:pt x="1905000" y="0"/>
                  </a:moveTo>
                  <a:lnTo>
                    <a:pt x="3276600" y="5334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108200" y="2590800"/>
              <a:ext cx="875030" cy="409575"/>
            </a:xfrm>
            <a:custGeom>
              <a:avLst/>
              <a:gdLst/>
              <a:ahLst/>
              <a:cxnLst/>
              <a:rect l="l" t="t" r="r" b="b"/>
              <a:pathLst>
                <a:path w="875030" h="409575">
                  <a:moveTo>
                    <a:pt x="0" y="409575"/>
                  </a:moveTo>
                  <a:lnTo>
                    <a:pt x="874712" y="409575"/>
                  </a:lnTo>
                  <a:lnTo>
                    <a:pt x="874712" y="0"/>
                  </a:lnTo>
                  <a:lnTo>
                    <a:pt x="0" y="0"/>
                  </a:lnTo>
                  <a:lnTo>
                    <a:pt x="0" y="40957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192527" y="2617088"/>
            <a:ext cx="70548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Arial MT"/>
                <a:cs typeface="Arial MT"/>
              </a:rPr>
              <a:t>sunny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700776" y="2769488"/>
            <a:ext cx="45021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20" dirty="0">
                <a:latin typeface="Arial MT"/>
                <a:cs typeface="Arial MT"/>
              </a:rPr>
              <a:t>rain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443037" y="3652837"/>
            <a:ext cx="1762125" cy="1214755"/>
            <a:chOff x="1443037" y="3652837"/>
            <a:chExt cx="1762125" cy="1214755"/>
          </a:xfrm>
        </p:grpSpPr>
        <p:sp>
          <p:nvSpPr>
            <p:cNvPr id="14" name="object 14"/>
            <p:cNvSpPr/>
            <p:nvPr/>
          </p:nvSpPr>
          <p:spPr>
            <a:xfrm>
              <a:off x="1479550" y="4345051"/>
              <a:ext cx="1549400" cy="516255"/>
            </a:xfrm>
            <a:custGeom>
              <a:avLst/>
              <a:gdLst/>
              <a:ahLst/>
              <a:cxnLst/>
              <a:rect l="l" t="t" r="r" b="b"/>
              <a:pathLst>
                <a:path w="1549400" h="516254">
                  <a:moveTo>
                    <a:pt x="493775" y="0"/>
                  </a:moveTo>
                  <a:lnTo>
                    <a:pt x="0" y="515874"/>
                  </a:lnTo>
                </a:path>
                <a:path w="1549400" h="516254">
                  <a:moveTo>
                    <a:pt x="1128776" y="45974"/>
                  </a:moveTo>
                  <a:lnTo>
                    <a:pt x="1549400" y="469773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447800" y="3657600"/>
              <a:ext cx="1752600" cy="838200"/>
            </a:xfrm>
            <a:custGeom>
              <a:avLst/>
              <a:gdLst/>
              <a:ahLst/>
              <a:cxnLst/>
              <a:rect l="l" t="t" r="r" b="b"/>
              <a:pathLst>
                <a:path w="1752600" h="838200">
                  <a:moveTo>
                    <a:pt x="876300" y="0"/>
                  </a:moveTo>
                  <a:lnTo>
                    <a:pt x="0" y="419100"/>
                  </a:lnTo>
                  <a:lnTo>
                    <a:pt x="876300" y="838200"/>
                  </a:lnTo>
                  <a:lnTo>
                    <a:pt x="1752600" y="419100"/>
                  </a:lnTo>
                  <a:lnTo>
                    <a:pt x="8763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447800" y="3657600"/>
              <a:ext cx="1752600" cy="838200"/>
            </a:xfrm>
            <a:custGeom>
              <a:avLst/>
              <a:gdLst/>
              <a:ahLst/>
              <a:cxnLst/>
              <a:rect l="l" t="t" r="r" b="b"/>
              <a:pathLst>
                <a:path w="1752600" h="838200">
                  <a:moveTo>
                    <a:pt x="0" y="419100"/>
                  </a:moveTo>
                  <a:lnTo>
                    <a:pt x="876300" y="0"/>
                  </a:lnTo>
                  <a:lnTo>
                    <a:pt x="1752600" y="419100"/>
                  </a:lnTo>
                  <a:lnTo>
                    <a:pt x="876300" y="838200"/>
                  </a:lnTo>
                  <a:lnTo>
                    <a:pt x="0" y="4191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/>
          <p:nvPr/>
        </p:nvSpPr>
        <p:spPr>
          <a:xfrm>
            <a:off x="1430400" y="5229225"/>
            <a:ext cx="0" cy="405130"/>
          </a:xfrm>
          <a:custGeom>
            <a:avLst/>
            <a:gdLst/>
            <a:ahLst/>
            <a:cxnLst/>
            <a:rect l="l" t="t" r="r" b="b"/>
            <a:pathLst>
              <a:path h="405129">
                <a:moveTo>
                  <a:pt x="0" y="0"/>
                </a:moveTo>
                <a:lnTo>
                  <a:pt x="0" y="404812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815201" y="5183123"/>
            <a:ext cx="0" cy="440055"/>
          </a:xfrm>
          <a:custGeom>
            <a:avLst/>
            <a:gdLst/>
            <a:ahLst/>
            <a:cxnLst/>
            <a:rect l="l" t="t" r="r" b="b"/>
            <a:pathLst>
              <a:path h="440054">
                <a:moveTo>
                  <a:pt x="0" y="0"/>
                </a:moveTo>
                <a:lnTo>
                  <a:pt x="0" y="4398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516626" y="5199126"/>
            <a:ext cx="0" cy="434975"/>
          </a:xfrm>
          <a:custGeom>
            <a:avLst/>
            <a:gdLst/>
            <a:ahLst/>
            <a:cxnLst/>
            <a:rect l="l" t="t" r="r" b="b"/>
            <a:pathLst>
              <a:path h="434975">
                <a:moveTo>
                  <a:pt x="0" y="0"/>
                </a:moveTo>
                <a:lnTo>
                  <a:pt x="0" y="434911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044825" y="5199126"/>
            <a:ext cx="0" cy="434975"/>
          </a:xfrm>
          <a:custGeom>
            <a:avLst/>
            <a:gdLst/>
            <a:ahLst/>
            <a:cxnLst/>
            <a:rect l="l" t="t" r="r" b="b"/>
            <a:pathLst>
              <a:path h="434975">
                <a:moveTo>
                  <a:pt x="0" y="0"/>
                </a:moveTo>
                <a:lnTo>
                  <a:pt x="0" y="434911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902075" y="3294126"/>
            <a:ext cx="0" cy="440055"/>
          </a:xfrm>
          <a:custGeom>
            <a:avLst/>
            <a:gdLst/>
            <a:ahLst/>
            <a:cxnLst/>
            <a:rect l="l" t="t" r="r" b="b"/>
            <a:pathLst>
              <a:path h="440054">
                <a:moveTo>
                  <a:pt x="0" y="0"/>
                </a:moveTo>
                <a:lnTo>
                  <a:pt x="0" y="439674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1160462" y="5634037"/>
            <a:ext cx="542925" cy="415925"/>
          </a:xfrm>
          <a:prstGeom prst="rect">
            <a:avLst/>
          </a:prstGeom>
          <a:solidFill>
            <a:srgbClr val="C0504D"/>
          </a:solidFill>
          <a:ln w="19050">
            <a:solidFill>
              <a:srgbClr val="000000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315"/>
              </a:spcBef>
            </a:pPr>
            <a:r>
              <a:rPr sz="2000" b="1" spc="-25" dirty="0">
                <a:latin typeface="Arial"/>
                <a:cs typeface="Arial"/>
              </a:rPr>
              <a:t>No</a:t>
            </a:r>
            <a:endParaRPr sz="20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245100" y="5634037"/>
            <a:ext cx="542925" cy="415925"/>
          </a:xfrm>
          <a:prstGeom prst="rect">
            <a:avLst/>
          </a:prstGeom>
          <a:solidFill>
            <a:srgbClr val="C0504D"/>
          </a:solidFill>
          <a:ln w="19050">
            <a:solidFill>
              <a:srgbClr val="000000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101600">
              <a:lnSpc>
                <a:spcPct val="100000"/>
              </a:lnSpc>
              <a:spcBef>
                <a:spcPts val="315"/>
              </a:spcBef>
            </a:pPr>
            <a:r>
              <a:rPr sz="2000" b="1" spc="-25" dirty="0">
                <a:latin typeface="Arial"/>
                <a:cs typeface="Arial"/>
              </a:rPr>
              <a:t>No</a:t>
            </a:r>
            <a:endParaRPr sz="20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717800" y="5634037"/>
            <a:ext cx="649605" cy="409575"/>
          </a:xfrm>
          <a:prstGeom prst="rect">
            <a:avLst/>
          </a:prstGeom>
          <a:solidFill>
            <a:srgbClr val="FFCC00"/>
          </a:solidFill>
          <a:ln w="12700">
            <a:solidFill>
              <a:srgbClr val="000000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104139">
              <a:lnSpc>
                <a:spcPct val="100000"/>
              </a:lnSpc>
              <a:spcBef>
                <a:spcPts val="315"/>
              </a:spcBef>
            </a:pPr>
            <a:r>
              <a:rPr sz="2000" b="1" spc="-25" dirty="0">
                <a:latin typeface="Arial"/>
                <a:cs typeface="Arial"/>
              </a:rPr>
              <a:t>Yes</a:t>
            </a:r>
            <a:endParaRPr sz="20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489700" y="5634037"/>
            <a:ext cx="649605" cy="409575"/>
          </a:xfrm>
          <a:prstGeom prst="rect">
            <a:avLst/>
          </a:prstGeom>
          <a:solidFill>
            <a:srgbClr val="FFCC00"/>
          </a:solidFill>
          <a:ln w="12700">
            <a:solidFill>
              <a:srgbClr val="000000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104775">
              <a:lnSpc>
                <a:spcPct val="100000"/>
              </a:lnSpc>
              <a:spcBef>
                <a:spcPts val="315"/>
              </a:spcBef>
            </a:pPr>
            <a:r>
              <a:rPr sz="2000" b="1" spc="-25" dirty="0">
                <a:latin typeface="Arial"/>
                <a:cs typeface="Arial"/>
              </a:rPr>
              <a:t>Yes</a:t>
            </a:r>
            <a:endParaRPr sz="20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576701" y="3794125"/>
            <a:ext cx="649605" cy="409575"/>
          </a:xfrm>
          <a:prstGeom prst="rect">
            <a:avLst/>
          </a:prstGeom>
          <a:solidFill>
            <a:srgbClr val="FFCC00"/>
          </a:solidFill>
          <a:ln w="12700">
            <a:solidFill>
              <a:srgbClr val="000000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marL="105410">
              <a:lnSpc>
                <a:spcPct val="100000"/>
              </a:lnSpc>
              <a:spcBef>
                <a:spcPts val="310"/>
              </a:spcBef>
            </a:pPr>
            <a:r>
              <a:rPr sz="2000" b="1" spc="-25" dirty="0">
                <a:latin typeface="Arial"/>
                <a:cs typeface="Arial"/>
              </a:rPr>
              <a:t>Yes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3059112" y="1630362"/>
            <a:ext cx="1762125" cy="847725"/>
            <a:chOff x="3059112" y="1630362"/>
            <a:chExt cx="1762125" cy="847725"/>
          </a:xfrm>
        </p:grpSpPr>
        <p:sp>
          <p:nvSpPr>
            <p:cNvPr id="28" name="object 28"/>
            <p:cNvSpPr/>
            <p:nvPr/>
          </p:nvSpPr>
          <p:spPr>
            <a:xfrm>
              <a:off x="3063875" y="1635125"/>
              <a:ext cx="1752600" cy="838200"/>
            </a:xfrm>
            <a:custGeom>
              <a:avLst/>
              <a:gdLst/>
              <a:ahLst/>
              <a:cxnLst/>
              <a:rect l="l" t="t" r="r" b="b"/>
              <a:pathLst>
                <a:path w="1752600" h="838200">
                  <a:moveTo>
                    <a:pt x="876300" y="0"/>
                  </a:moveTo>
                  <a:lnTo>
                    <a:pt x="0" y="419100"/>
                  </a:lnTo>
                  <a:lnTo>
                    <a:pt x="876300" y="838200"/>
                  </a:lnTo>
                  <a:lnTo>
                    <a:pt x="1752600" y="419100"/>
                  </a:lnTo>
                  <a:lnTo>
                    <a:pt x="8763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063875" y="1635125"/>
              <a:ext cx="1752600" cy="838200"/>
            </a:xfrm>
            <a:custGeom>
              <a:avLst/>
              <a:gdLst/>
              <a:ahLst/>
              <a:cxnLst/>
              <a:rect l="l" t="t" r="r" b="b"/>
              <a:pathLst>
                <a:path w="1752600" h="838200">
                  <a:moveTo>
                    <a:pt x="0" y="419100"/>
                  </a:moveTo>
                  <a:lnTo>
                    <a:pt x="876300" y="0"/>
                  </a:lnTo>
                  <a:lnTo>
                    <a:pt x="1752600" y="419100"/>
                  </a:lnTo>
                  <a:lnTo>
                    <a:pt x="876300" y="838200"/>
                  </a:lnTo>
                  <a:lnTo>
                    <a:pt x="0" y="4191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0" name="object 30"/>
          <p:cNvGrpSpPr/>
          <p:nvPr/>
        </p:nvGrpSpPr>
        <p:grpSpPr>
          <a:xfrm>
            <a:off x="5176837" y="3805237"/>
            <a:ext cx="1762125" cy="1076325"/>
            <a:chOff x="5176837" y="3805237"/>
            <a:chExt cx="1762125" cy="1076325"/>
          </a:xfrm>
        </p:grpSpPr>
        <p:sp>
          <p:nvSpPr>
            <p:cNvPr id="31" name="object 31"/>
            <p:cNvSpPr/>
            <p:nvPr/>
          </p:nvSpPr>
          <p:spPr>
            <a:xfrm>
              <a:off x="5410200" y="4495800"/>
              <a:ext cx="1352550" cy="379730"/>
            </a:xfrm>
            <a:custGeom>
              <a:avLst/>
              <a:gdLst/>
              <a:ahLst/>
              <a:cxnLst/>
              <a:rect l="l" t="t" r="r" b="b"/>
              <a:pathLst>
                <a:path w="1352550" h="379729">
                  <a:moveTo>
                    <a:pt x="304800" y="0"/>
                  </a:moveTo>
                  <a:lnTo>
                    <a:pt x="0" y="379349"/>
                  </a:lnTo>
                </a:path>
                <a:path w="1352550" h="379729">
                  <a:moveTo>
                    <a:pt x="1143000" y="0"/>
                  </a:moveTo>
                  <a:lnTo>
                    <a:pt x="1352550" y="3048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181600" y="3810000"/>
              <a:ext cx="1752600" cy="838200"/>
            </a:xfrm>
            <a:custGeom>
              <a:avLst/>
              <a:gdLst/>
              <a:ahLst/>
              <a:cxnLst/>
              <a:rect l="l" t="t" r="r" b="b"/>
              <a:pathLst>
                <a:path w="1752600" h="838200">
                  <a:moveTo>
                    <a:pt x="876300" y="0"/>
                  </a:moveTo>
                  <a:lnTo>
                    <a:pt x="0" y="419100"/>
                  </a:lnTo>
                  <a:lnTo>
                    <a:pt x="876300" y="838200"/>
                  </a:lnTo>
                  <a:lnTo>
                    <a:pt x="1752600" y="419100"/>
                  </a:lnTo>
                  <a:lnTo>
                    <a:pt x="8763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181600" y="3810000"/>
              <a:ext cx="1752600" cy="838200"/>
            </a:xfrm>
            <a:custGeom>
              <a:avLst/>
              <a:gdLst/>
              <a:ahLst/>
              <a:cxnLst/>
              <a:rect l="l" t="t" r="r" b="b"/>
              <a:pathLst>
                <a:path w="1752600" h="838200">
                  <a:moveTo>
                    <a:pt x="0" y="419100"/>
                  </a:moveTo>
                  <a:lnTo>
                    <a:pt x="876300" y="0"/>
                  </a:lnTo>
                  <a:lnTo>
                    <a:pt x="1752600" y="419100"/>
                  </a:lnTo>
                  <a:lnTo>
                    <a:pt x="876300" y="838200"/>
                  </a:lnTo>
                  <a:lnTo>
                    <a:pt x="0" y="4191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3432175" y="1900504"/>
            <a:ext cx="902969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Arial MT"/>
                <a:cs typeface="Arial MT"/>
              </a:rPr>
              <a:t>Outlook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755394" y="3882390"/>
            <a:ext cx="101536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Arial MT"/>
                <a:cs typeface="Arial MT"/>
              </a:rPr>
              <a:t>Humidity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566028" y="4110990"/>
            <a:ext cx="73342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Arial MT"/>
                <a:cs typeface="Arial MT"/>
              </a:rPr>
              <a:t>Windy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6019800" y="3124200"/>
            <a:ext cx="0" cy="685800"/>
          </a:xfrm>
          <a:custGeom>
            <a:avLst/>
            <a:gdLst/>
            <a:ahLst/>
            <a:cxnLst/>
            <a:rect l="l" t="t" r="r" b="b"/>
            <a:pathLst>
              <a:path h="685800">
                <a:moveTo>
                  <a:pt x="0" y="0"/>
                </a:moveTo>
                <a:lnTo>
                  <a:pt x="0" y="6858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8" name="object 38"/>
          <p:cNvGrpSpPr/>
          <p:nvPr/>
        </p:nvGrpSpPr>
        <p:grpSpPr>
          <a:xfrm>
            <a:off x="2357437" y="1615186"/>
            <a:ext cx="2792730" cy="1966595"/>
            <a:chOff x="2357437" y="1615186"/>
            <a:chExt cx="2792730" cy="1966595"/>
          </a:xfrm>
        </p:grpSpPr>
        <p:sp>
          <p:nvSpPr>
            <p:cNvPr id="39" name="object 39"/>
            <p:cNvSpPr/>
            <p:nvPr/>
          </p:nvSpPr>
          <p:spPr>
            <a:xfrm>
              <a:off x="2362200" y="2971800"/>
              <a:ext cx="0" cy="609600"/>
            </a:xfrm>
            <a:custGeom>
              <a:avLst/>
              <a:gdLst/>
              <a:ahLst/>
              <a:cxnLst/>
              <a:rect l="l" t="t" r="r" b="b"/>
              <a:pathLst>
                <a:path h="609600">
                  <a:moveTo>
                    <a:pt x="0" y="0"/>
                  </a:moveTo>
                  <a:lnTo>
                    <a:pt x="0" y="6096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496054" y="1615186"/>
              <a:ext cx="654050" cy="243204"/>
            </a:xfrm>
            <a:custGeom>
              <a:avLst/>
              <a:gdLst/>
              <a:ahLst/>
              <a:cxnLst/>
              <a:rect l="l" t="t" r="r" b="b"/>
              <a:pathLst>
                <a:path w="654050" h="243205">
                  <a:moveTo>
                    <a:pt x="567952" y="27119"/>
                  </a:moveTo>
                  <a:lnTo>
                    <a:pt x="0" y="215900"/>
                  </a:lnTo>
                  <a:lnTo>
                    <a:pt x="9017" y="243077"/>
                  </a:lnTo>
                  <a:lnTo>
                    <a:pt x="576958" y="54177"/>
                  </a:lnTo>
                  <a:lnTo>
                    <a:pt x="567952" y="27119"/>
                  </a:lnTo>
                  <a:close/>
                </a:path>
                <a:path w="654050" h="243205">
                  <a:moveTo>
                    <a:pt x="644762" y="22605"/>
                  </a:moveTo>
                  <a:lnTo>
                    <a:pt x="581533" y="22605"/>
                  </a:lnTo>
                  <a:lnTo>
                    <a:pt x="590550" y="49656"/>
                  </a:lnTo>
                  <a:lnTo>
                    <a:pt x="576958" y="54177"/>
                  </a:lnTo>
                  <a:lnTo>
                    <a:pt x="585978" y="81279"/>
                  </a:lnTo>
                  <a:lnTo>
                    <a:pt x="644762" y="22605"/>
                  </a:lnTo>
                  <a:close/>
                </a:path>
                <a:path w="654050" h="243205">
                  <a:moveTo>
                    <a:pt x="581533" y="22605"/>
                  </a:moveTo>
                  <a:lnTo>
                    <a:pt x="567952" y="27119"/>
                  </a:lnTo>
                  <a:lnTo>
                    <a:pt x="576958" y="54177"/>
                  </a:lnTo>
                  <a:lnTo>
                    <a:pt x="590550" y="49656"/>
                  </a:lnTo>
                  <a:lnTo>
                    <a:pt x="581533" y="22605"/>
                  </a:lnTo>
                  <a:close/>
                </a:path>
                <a:path w="654050" h="243205">
                  <a:moveTo>
                    <a:pt x="558926" y="0"/>
                  </a:moveTo>
                  <a:lnTo>
                    <a:pt x="567952" y="27119"/>
                  </a:lnTo>
                  <a:lnTo>
                    <a:pt x="581533" y="22605"/>
                  </a:lnTo>
                  <a:lnTo>
                    <a:pt x="644762" y="22605"/>
                  </a:lnTo>
                  <a:lnTo>
                    <a:pt x="653796" y="13588"/>
                  </a:lnTo>
                  <a:lnTo>
                    <a:pt x="55892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5227701" y="1440307"/>
            <a:ext cx="24422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4F81BC"/>
                </a:solidFill>
                <a:latin typeface="Arial"/>
                <a:cs typeface="Arial"/>
              </a:rPr>
              <a:t>Each node</a:t>
            </a:r>
            <a:r>
              <a:rPr sz="1800" b="1" spc="-20" dirty="0">
                <a:solidFill>
                  <a:srgbClr val="4F81BC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F81BC"/>
                </a:solidFill>
                <a:latin typeface="Arial"/>
                <a:cs typeface="Arial"/>
              </a:rPr>
              <a:t>is</a:t>
            </a:r>
            <a:r>
              <a:rPr sz="1800" b="1" spc="-5" dirty="0">
                <a:solidFill>
                  <a:srgbClr val="4F81BC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F81BC"/>
                </a:solidFill>
                <a:latin typeface="Arial"/>
                <a:cs typeface="Arial"/>
              </a:rPr>
              <a:t>a test</a:t>
            </a:r>
            <a:r>
              <a:rPr sz="1800" b="1" spc="-5" dirty="0">
                <a:solidFill>
                  <a:srgbClr val="4F81BC"/>
                </a:solidFill>
                <a:latin typeface="Arial"/>
                <a:cs typeface="Arial"/>
              </a:rPr>
              <a:t> </a:t>
            </a:r>
            <a:r>
              <a:rPr sz="1800" b="1" spc="-25" dirty="0">
                <a:solidFill>
                  <a:srgbClr val="4F81BC"/>
                </a:solidFill>
                <a:latin typeface="Arial"/>
                <a:cs typeface="Arial"/>
              </a:rPr>
              <a:t>on </a:t>
            </a:r>
            <a:r>
              <a:rPr sz="1800" b="1" dirty="0">
                <a:solidFill>
                  <a:srgbClr val="4F81BC"/>
                </a:solidFill>
                <a:latin typeface="Arial"/>
                <a:cs typeface="Arial"/>
              </a:rPr>
              <a:t>one</a:t>
            </a:r>
            <a:r>
              <a:rPr sz="1800" b="1" spc="-30" dirty="0">
                <a:solidFill>
                  <a:srgbClr val="4F81BC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4F81BC"/>
                </a:solidFill>
                <a:latin typeface="Arial"/>
                <a:cs typeface="Arial"/>
              </a:rPr>
              <a:t>attribute</a:t>
            </a:r>
            <a:endParaRPr sz="18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307582" y="2802382"/>
            <a:ext cx="249999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Possible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attribute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values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of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node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315961" y="5479491"/>
            <a:ext cx="13601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CC0000"/>
                </a:solidFill>
                <a:latin typeface="Arial MT"/>
                <a:cs typeface="Arial MT"/>
              </a:rPr>
              <a:t>Leafs</a:t>
            </a:r>
            <a:r>
              <a:rPr sz="1800" spc="-20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CC0000"/>
                </a:solidFill>
                <a:latin typeface="Arial MT"/>
                <a:cs typeface="Arial MT"/>
              </a:rPr>
              <a:t>are</a:t>
            </a:r>
            <a:r>
              <a:rPr sz="1800" spc="-15" dirty="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CC0000"/>
                </a:solidFill>
                <a:latin typeface="Arial MT"/>
                <a:cs typeface="Arial MT"/>
              </a:rPr>
              <a:t>the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solidFill>
                  <a:srgbClr val="CC0000"/>
                </a:solidFill>
                <a:latin typeface="Arial MT"/>
                <a:cs typeface="Arial MT"/>
              </a:rPr>
              <a:t>decisions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84212" y="1484375"/>
            <a:ext cx="1656080" cy="504825"/>
          </a:xfrm>
          <a:prstGeom prst="rect">
            <a:avLst/>
          </a:prstGeom>
          <a:solidFill>
            <a:srgbClr val="777777"/>
          </a:solidFill>
          <a:ln w="9525">
            <a:solidFill>
              <a:srgbClr val="000000"/>
            </a:solidFill>
          </a:ln>
        </p:spPr>
        <p:txBody>
          <a:bodyPr vert="horz" wrap="square" lIns="0" tIns="109220" rIns="0" bIns="0" rtlCol="0">
            <a:spAutoFit/>
          </a:bodyPr>
          <a:lstStyle/>
          <a:p>
            <a:pPr marL="173990">
              <a:lnSpc>
                <a:spcPct val="100000"/>
              </a:lnSpc>
              <a:spcBef>
                <a:spcPts val="860"/>
              </a:spcBef>
            </a:pPr>
            <a:r>
              <a:rPr sz="1800" dirty="0">
                <a:latin typeface="Arial MT"/>
                <a:cs typeface="Arial MT"/>
              </a:rPr>
              <a:t>Sample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size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246062" y="3783012"/>
            <a:ext cx="1089025" cy="514350"/>
            <a:chOff x="246062" y="3783012"/>
            <a:chExt cx="1089025" cy="514350"/>
          </a:xfrm>
        </p:grpSpPr>
        <p:sp>
          <p:nvSpPr>
            <p:cNvPr id="46" name="object 46"/>
            <p:cNvSpPr/>
            <p:nvPr/>
          </p:nvSpPr>
          <p:spPr>
            <a:xfrm>
              <a:off x="250825" y="3787775"/>
              <a:ext cx="1079500" cy="504825"/>
            </a:xfrm>
            <a:custGeom>
              <a:avLst/>
              <a:gdLst/>
              <a:ahLst/>
              <a:cxnLst/>
              <a:rect l="l" t="t" r="r" b="b"/>
              <a:pathLst>
                <a:path w="1079500" h="504825">
                  <a:moveTo>
                    <a:pt x="1079500" y="0"/>
                  </a:moveTo>
                  <a:lnTo>
                    <a:pt x="0" y="0"/>
                  </a:lnTo>
                  <a:lnTo>
                    <a:pt x="0" y="504825"/>
                  </a:lnTo>
                  <a:lnTo>
                    <a:pt x="1079500" y="504825"/>
                  </a:lnTo>
                  <a:lnTo>
                    <a:pt x="1079500" y="0"/>
                  </a:lnTo>
                  <a:close/>
                </a:path>
              </a:pathLst>
            </a:custGeom>
            <a:solidFill>
              <a:srgbClr val="7777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50825" y="3787775"/>
              <a:ext cx="1079500" cy="504825"/>
            </a:xfrm>
            <a:custGeom>
              <a:avLst/>
              <a:gdLst/>
              <a:ahLst/>
              <a:cxnLst/>
              <a:rect l="l" t="t" r="r" b="b"/>
              <a:pathLst>
                <a:path w="1079500" h="504825">
                  <a:moveTo>
                    <a:pt x="0" y="504825"/>
                  </a:moveTo>
                  <a:lnTo>
                    <a:pt x="1079500" y="504825"/>
                  </a:lnTo>
                  <a:lnTo>
                    <a:pt x="1079500" y="0"/>
                  </a:lnTo>
                  <a:lnTo>
                    <a:pt x="0" y="0"/>
                  </a:lnTo>
                  <a:lnTo>
                    <a:pt x="0" y="5048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8" name="object 48"/>
          <p:cNvGrpSpPr/>
          <p:nvPr/>
        </p:nvGrpSpPr>
        <p:grpSpPr>
          <a:xfrm>
            <a:off x="7159688" y="3998912"/>
            <a:ext cx="513080" cy="514350"/>
            <a:chOff x="7159688" y="3998912"/>
            <a:chExt cx="513080" cy="514350"/>
          </a:xfrm>
        </p:grpSpPr>
        <p:sp>
          <p:nvSpPr>
            <p:cNvPr id="49" name="object 49"/>
            <p:cNvSpPr/>
            <p:nvPr/>
          </p:nvSpPr>
          <p:spPr>
            <a:xfrm>
              <a:off x="7164451" y="4003675"/>
              <a:ext cx="503555" cy="504825"/>
            </a:xfrm>
            <a:custGeom>
              <a:avLst/>
              <a:gdLst/>
              <a:ahLst/>
              <a:cxnLst/>
              <a:rect l="l" t="t" r="r" b="b"/>
              <a:pathLst>
                <a:path w="503554" h="504825">
                  <a:moveTo>
                    <a:pt x="503237" y="0"/>
                  </a:moveTo>
                  <a:lnTo>
                    <a:pt x="0" y="0"/>
                  </a:lnTo>
                  <a:lnTo>
                    <a:pt x="0" y="504825"/>
                  </a:lnTo>
                  <a:lnTo>
                    <a:pt x="503237" y="504825"/>
                  </a:lnTo>
                  <a:lnTo>
                    <a:pt x="503237" y="0"/>
                  </a:lnTo>
                  <a:close/>
                </a:path>
              </a:pathLst>
            </a:custGeom>
            <a:solidFill>
              <a:srgbClr val="7777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164451" y="4003675"/>
              <a:ext cx="503555" cy="504825"/>
            </a:xfrm>
            <a:custGeom>
              <a:avLst/>
              <a:gdLst/>
              <a:ahLst/>
              <a:cxnLst/>
              <a:rect l="l" t="t" r="r" b="b"/>
              <a:pathLst>
                <a:path w="503554" h="504825">
                  <a:moveTo>
                    <a:pt x="0" y="504825"/>
                  </a:moveTo>
                  <a:lnTo>
                    <a:pt x="503237" y="504825"/>
                  </a:lnTo>
                  <a:lnTo>
                    <a:pt x="503237" y="0"/>
                  </a:lnTo>
                  <a:lnTo>
                    <a:pt x="0" y="0"/>
                  </a:lnTo>
                  <a:lnTo>
                    <a:pt x="0" y="5048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/>
          <p:nvPr/>
        </p:nvSpPr>
        <p:spPr>
          <a:xfrm>
            <a:off x="317588" y="3212083"/>
            <a:ext cx="102870" cy="433070"/>
          </a:xfrm>
          <a:custGeom>
            <a:avLst/>
            <a:gdLst/>
            <a:ahLst/>
            <a:cxnLst/>
            <a:rect l="l" t="t" r="r" b="b"/>
            <a:pathLst>
              <a:path w="102870" h="433070">
                <a:moveTo>
                  <a:pt x="58997" y="358668"/>
                </a:moveTo>
                <a:lnTo>
                  <a:pt x="27673" y="363854"/>
                </a:lnTo>
                <a:lnTo>
                  <a:pt x="77698" y="432815"/>
                </a:lnTo>
                <a:lnTo>
                  <a:pt x="96724" y="371220"/>
                </a:lnTo>
                <a:lnTo>
                  <a:pt x="61074" y="371220"/>
                </a:lnTo>
                <a:lnTo>
                  <a:pt x="58997" y="358668"/>
                </a:lnTo>
                <a:close/>
              </a:path>
              <a:path w="102870" h="433070">
                <a:moveTo>
                  <a:pt x="71513" y="356596"/>
                </a:moveTo>
                <a:lnTo>
                  <a:pt x="58997" y="358668"/>
                </a:lnTo>
                <a:lnTo>
                  <a:pt x="61074" y="371220"/>
                </a:lnTo>
                <a:lnTo>
                  <a:pt x="73596" y="369188"/>
                </a:lnTo>
                <a:lnTo>
                  <a:pt x="71513" y="356596"/>
                </a:lnTo>
                <a:close/>
              </a:path>
              <a:path w="102870" h="433070">
                <a:moveTo>
                  <a:pt x="102844" y="351408"/>
                </a:moveTo>
                <a:lnTo>
                  <a:pt x="71513" y="356596"/>
                </a:lnTo>
                <a:lnTo>
                  <a:pt x="73596" y="369188"/>
                </a:lnTo>
                <a:lnTo>
                  <a:pt x="61074" y="371220"/>
                </a:lnTo>
                <a:lnTo>
                  <a:pt x="96724" y="371220"/>
                </a:lnTo>
                <a:lnTo>
                  <a:pt x="102844" y="351408"/>
                </a:lnTo>
                <a:close/>
              </a:path>
              <a:path w="102870" h="433070">
                <a:moveTo>
                  <a:pt x="12522" y="0"/>
                </a:moveTo>
                <a:lnTo>
                  <a:pt x="0" y="2031"/>
                </a:lnTo>
                <a:lnTo>
                  <a:pt x="58997" y="358668"/>
                </a:lnTo>
                <a:lnTo>
                  <a:pt x="71513" y="356596"/>
                </a:lnTo>
                <a:lnTo>
                  <a:pt x="1252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/>
          <p:nvPr/>
        </p:nvSpPr>
        <p:spPr>
          <a:xfrm>
            <a:off x="78739" y="2593085"/>
            <a:ext cx="12553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Arial MT"/>
                <a:cs typeface="Arial MT"/>
              </a:rPr>
              <a:t>Your</a:t>
            </a:r>
            <a:r>
              <a:rPr sz="1800" spc="-10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data </a:t>
            </a:r>
            <a:r>
              <a:rPr sz="1800" dirty="0">
                <a:latin typeface="Arial MT"/>
                <a:cs typeface="Arial MT"/>
              </a:rPr>
              <a:t>gets</a:t>
            </a:r>
            <a:r>
              <a:rPr sz="1800" spc="-10" dirty="0">
                <a:latin typeface="Arial MT"/>
                <a:cs typeface="Arial MT"/>
              </a:rPr>
              <a:t> smaller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2265" rIns="0" bIns="0" rtlCol="0">
            <a:spAutoFit/>
          </a:bodyPr>
          <a:lstStyle/>
          <a:p>
            <a:pPr marL="74295">
              <a:lnSpc>
                <a:spcPct val="100000"/>
              </a:lnSpc>
              <a:spcBef>
                <a:spcPts val="105"/>
              </a:spcBef>
            </a:pPr>
            <a:r>
              <a:rPr sz="4400" b="1" spc="-135" dirty="0">
                <a:latin typeface="Calibri"/>
                <a:cs typeface="Calibri"/>
              </a:rPr>
              <a:t>To</a:t>
            </a:r>
            <a:r>
              <a:rPr sz="4400" b="1" spc="-75" dirty="0">
                <a:latin typeface="Calibri"/>
                <a:cs typeface="Calibri"/>
              </a:rPr>
              <a:t> </a:t>
            </a:r>
            <a:r>
              <a:rPr sz="4400" b="1" dirty="0">
                <a:latin typeface="Calibri"/>
                <a:cs typeface="Calibri"/>
              </a:rPr>
              <a:t>‘play</a:t>
            </a:r>
            <a:r>
              <a:rPr sz="4400" b="1" spc="-75" dirty="0">
                <a:latin typeface="Calibri"/>
                <a:cs typeface="Calibri"/>
              </a:rPr>
              <a:t> </a:t>
            </a:r>
            <a:r>
              <a:rPr sz="4400" b="1" dirty="0">
                <a:latin typeface="Calibri"/>
                <a:cs typeface="Calibri"/>
              </a:rPr>
              <a:t>tennis’</a:t>
            </a:r>
            <a:r>
              <a:rPr sz="4400" b="1" spc="-105" dirty="0">
                <a:latin typeface="Calibri"/>
                <a:cs typeface="Calibri"/>
              </a:rPr>
              <a:t> </a:t>
            </a:r>
            <a:r>
              <a:rPr sz="4400" b="1" dirty="0">
                <a:latin typeface="Calibri"/>
                <a:cs typeface="Calibri"/>
              </a:rPr>
              <a:t>or</a:t>
            </a:r>
            <a:r>
              <a:rPr sz="4400" b="1" spc="-80" dirty="0">
                <a:latin typeface="Calibri"/>
                <a:cs typeface="Calibri"/>
              </a:rPr>
              <a:t> </a:t>
            </a:r>
            <a:r>
              <a:rPr sz="4400" b="1" spc="-20" dirty="0">
                <a:latin typeface="Calibri"/>
                <a:cs typeface="Calibri"/>
              </a:rPr>
              <a:t>not.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12670" y="2628391"/>
            <a:ext cx="104266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Times New Roman"/>
                <a:cs typeface="Times New Roman"/>
              </a:rPr>
              <a:t>overcast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9349" y="4509896"/>
            <a:ext cx="5676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Times New Roman"/>
                <a:cs typeface="Times New Roman"/>
              </a:rPr>
              <a:t>high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33525" y="4509896"/>
            <a:ext cx="88709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Times New Roman"/>
                <a:cs typeface="Times New Roman"/>
              </a:rPr>
              <a:t>normal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47538" y="4524247"/>
            <a:ext cx="6013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Times New Roman"/>
                <a:cs typeface="Times New Roman"/>
              </a:rPr>
              <a:t>false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98111" y="4538598"/>
            <a:ext cx="5003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Times New Roman"/>
                <a:cs typeface="Times New Roman"/>
              </a:rPr>
              <a:t>true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008062" y="2008251"/>
            <a:ext cx="3645535" cy="787400"/>
            <a:chOff x="1008062" y="2008251"/>
            <a:chExt cx="3645535" cy="787400"/>
          </a:xfrm>
        </p:grpSpPr>
        <p:sp>
          <p:nvSpPr>
            <p:cNvPr id="9" name="object 9"/>
            <p:cNvSpPr/>
            <p:nvPr/>
          </p:nvSpPr>
          <p:spPr>
            <a:xfrm>
              <a:off x="1370075" y="2014601"/>
              <a:ext cx="3276600" cy="698500"/>
            </a:xfrm>
            <a:custGeom>
              <a:avLst/>
              <a:gdLst/>
              <a:ahLst/>
              <a:cxnLst/>
              <a:rect l="l" t="t" r="r" b="b"/>
              <a:pathLst>
                <a:path w="3276600" h="698500">
                  <a:moveTo>
                    <a:pt x="968375" y="0"/>
                  </a:moveTo>
                  <a:lnTo>
                    <a:pt x="0" y="457200"/>
                  </a:lnTo>
                </a:path>
                <a:path w="3276600" h="698500">
                  <a:moveTo>
                    <a:pt x="1525524" y="152400"/>
                  </a:moveTo>
                  <a:lnTo>
                    <a:pt x="1524000" y="698500"/>
                  </a:lnTo>
                </a:path>
                <a:path w="3276600" h="698500">
                  <a:moveTo>
                    <a:pt x="1905000" y="0"/>
                  </a:moveTo>
                  <a:lnTo>
                    <a:pt x="3276600" y="5334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14412" y="2319401"/>
              <a:ext cx="925830" cy="469900"/>
            </a:xfrm>
            <a:custGeom>
              <a:avLst/>
              <a:gdLst/>
              <a:ahLst/>
              <a:cxnLst/>
              <a:rect l="l" t="t" r="r" b="b"/>
              <a:pathLst>
                <a:path w="925830" h="469900">
                  <a:moveTo>
                    <a:pt x="0" y="469900"/>
                  </a:moveTo>
                  <a:lnTo>
                    <a:pt x="925512" y="469900"/>
                  </a:lnTo>
                  <a:lnTo>
                    <a:pt x="925512" y="0"/>
                  </a:lnTo>
                  <a:lnTo>
                    <a:pt x="0" y="0"/>
                  </a:lnTo>
                  <a:lnTo>
                    <a:pt x="0" y="46990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099515" y="2342515"/>
            <a:ext cx="753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Times New Roman"/>
                <a:cs typeface="Times New Roman"/>
              </a:rPr>
              <a:t>sunny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606290" y="2494915"/>
            <a:ext cx="5003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Times New Roman"/>
                <a:cs typeface="Times New Roman"/>
              </a:rPr>
              <a:t>rain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74650" y="3381311"/>
            <a:ext cx="1762760" cy="1214755"/>
            <a:chOff x="374650" y="3381311"/>
            <a:chExt cx="1762760" cy="1214755"/>
          </a:xfrm>
        </p:grpSpPr>
        <p:sp>
          <p:nvSpPr>
            <p:cNvPr id="14" name="object 14"/>
            <p:cNvSpPr/>
            <p:nvPr/>
          </p:nvSpPr>
          <p:spPr>
            <a:xfrm>
              <a:off x="411162" y="4073524"/>
              <a:ext cx="1550035" cy="516255"/>
            </a:xfrm>
            <a:custGeom>
              <a:avLst/>
              <a:gdLst/>
              <a:ahLst/>
              <a:cxnLst/>
              <a:rect l="l" t="t" r="r" b="b"/>
              <a:pathLst>
                <a:path w="1550035" h="516254">
                  <a:moveTo>
                    <a:pt x="493712" y="0"/>
                  </a:moveTo>
                  <a:lnTo>
                    <a:pt x="0" y="516000"/>
                  </a:lnTo>
                </a:path>
                <a:path w="1550035" h="516254">
                  <a:moveTo>
                    <a:pt x="1128712" y="45974"/>
                  </a:moveTo>
                  <a:lnTo>
                    <a:pt x="1549463" y="469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79412" y="3386073"/>
              <a:ext cx="1753235" cy="838200"/>
            </a:xfrm>
            <a:custGeom>
              <a:avLst/>
              <a:gdLst/>
              <a:ahLst/>
              <a:cxnLst/>
              <a:rect l="l" t="t" r="r" b="b"/>
              <a:pathLst>
                <a:path w="1753235" h="838200">
                  <a:moveTo>
                    <a:pt x="876300" y="0"/>
                  </a:moveTo>
                  <a:lnTo>
                    <a:pt x="0" y="419100"/>
                  </a:lnTo>
                  <a:lnTo>
                    <a:pt x="876300" y="838200"/>
                  </a:lnTo>
                  <a:lnTo>
                    <a:pt x="1752663" y="419100"/>
                  </a:lnTo>
                  <a:lnTo>
                    <a:pt x="8763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79412" y="3386073"/>
              <a:ext cx="1753235" cy="838200"/>
            </a:xfrm>
            <a:custGeom>
              <a:avLst/>
              <a:gdLst/>
              <a:ahLst/>
              <a:cxnLst/>
              <a:rect l="l" t="t" r="r" b="b"/>
              <a:pathLst>
                <a:path w="1753235" h="838200">
                  <a:moveTo>
                    <a:pt x="0" y="419100"/>
                  </a:moveTo>
                  <a:lnTo>
                    <a:pt x="876300" y="0"/>
                  </a:lnTo>
                  <a:lnTo>
                    <a:pt x="1752663" y="419100"/>
                  </a:lnTo>
                  <a:lnTo>
                    <a:pt x="876300" y="838200"/>
                  </a:lnTo>
                  <a:lnTo>
                    <a:pt x="0" y="4191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/>
          <p:nvPr/>
        </p:nvSpPr>
        <p:spPr>
          <a:xfrm>
            <a:off x="361950" y="4957698"/>
            <a:ext cx="0" cy="405130"/>
          </a:xfrm>
          <a:custGeom>
            <a:avLst/>
            <a:gdLst/>
            <a:ahLst/>
            <a:cxnLst/>
            <a:rect l="l" t="t" r="r" b="b"/>
            <a:pathLst>
              <a:path h="405129">
                <a:moveTo>
                  <a:pt x="0" y="0"/>
                </a:moveTo>
                <a:lnTo>
                  <a:pt x="0" y="404875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746750" y="4911725"/>
            <a:ext cx="0" cy="440055"/>
          </a:xfrm>
          <a:custGeom>
            <a:avLst/>
            <a:gdLst/>
            <a:ahLst/>
            <a:cxnLst/>
            <a:rect l="l" t="t" r="r" b="b"/>
            <a:pathLst>
              <a:path h="440054">
                <a:moveTo>
                  <a:pt x="0" y="0"/>
                </a:moveTo>
                <a:lnTo>
                  <a:pt x="0" y="4398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448175" y="4927600"/>
            <a:ext cx="0" cy="434975"/>
          </a:xfrm>
          <a:custGeom>
            <a:avLst/>
            <a:gdLst/>
            <a:ahLst/>
            <a:cxnLst/>
            <a:rect l="l" t="t" r="r" b="b"/>
            <a:pathLst>
              <a:path h="434975">
                <a:moveTo>
                  <a:pt x="0" y="0"/>
                </a:moveTo>
                <a:lnTo>
                  <a:pt x="0" y="434975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976501" y="4927600"/>
            <a:ext cx="0" cy="434975"/>
          </a:xfrm>
          <a:custGeom>
            <a:avLst/>
            <a:gdLst/>
            <a:ahLst/>
            <a:cxnLst/>
            <a:rect l="l" t="t" r="r" b="b"/>
            <a:pathLst>
              <a:path h="434975">
                <a:moveTo>
                  <a:pt x="0" y="0"/>
                </a:moveTo>
                <a:lnTo>
                  <a:pt x="0" y="434975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833751" y="3022600"/>
            <a:ext cx="0" cy="440055"/>
          </a:xfrm>
          <a:custGeom>
            <a:avLst/>
            <a:gdLst/>
            <a:ahLst/>
            <a:cxnLst/>
            <a:rect l="l" t="t" r="r" b="b"/>
            <a:pathLst>
              <a:path h="440054">
                <a:moveTo>
                  <a:pt x="0" y="0"/>
                </a:moveTo>
                <a:lnTo>
                  <a:pt x="0" y="4398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2" name="object 22"/>
          <p:cNvGrpSpPr/>
          <p:nvPr/>
        </p:nvGrpSpPr>
        <p:grpSpPr>
          <a:xfrm>
            <a:off x="4108513" y="3533711"/>
            <a:ext cx="1762125" cy="1076960"/>
            <a:chOff x="4108513" y="3533711"/>
            <a:chExt cx="1762125" cy="1076960"/>
          </a:xfrm>
        </p:grpSpPr>
        <p:sp>
          <p:nvSpPr>
            <p:cNvPr id="23" name="object 23"/>
            <p:cNvSpPr/>
            <p:nvPr/>
          </p:nvSpPr>
          <p:spPr>
            <a:xfrm>
              <a:off x="4341876" y="4224273"/>
              <a:ext cx="1352550" cy="379730"/>
            </a:xfrm>
            <a:custGeom>
              <a:avLst/>
              <a:gdLst/>
              <a:ahLst/>
              <a:cxnLst/>
              <a:rect l="l" t="t" r="r" b="b"/>
              <a:pathLst>
                <a:path w="1352550" h="379729">
                  <a:moveTo>
                    <a:pt x="304800" y="0"/>
                  </a:moveTo>
                  <a:lnTo>
                    <a:pt x="0" y="379475"/>
                  </a:lnTo>
                </a:path>
                <a:path w="1352550" h="379729">
                  <a:moveTo>
                    <a:pt x="1143000" y="0"/>
                  </a:moveTo>
                  <a:lnTo>
                    <a:pt x="1352550" y="3048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113276" y="3538473"/>
              <a:ext cx="1752600" cy="838200"/>
            </a:xfrm>
            <a:custGeom>
              <a:avLst/>
              <a:gdLst/>
              <a:ahLst/>
              <a:cxnLst/>
              <a:rect l="l" t="t" r="r" b="b"/>
              <a:pathLst>
                <a:path w="1752600" h="838200">
                  <a:moveTo>
                    <a:pt x="876300" y="0"/>
                  </a:moveTo>
                  <a:lnTo>
                    <a:pt x="0" y="419100"/>
                  </a:lnTo>
                  <a:lnTo>
                    <a:pt x="876300" y="838200"/>
                  </a:lnTo>
                  <a:lnTo>
                    <a:pt x="1752600" y="419100"/>
                  </a:lnTo>
                  <a:lnTo>
                    <a:pt x="8763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113276" y="3538473"/>
              <a:ext cx="1752600" cy="838200"/>
            </a:xfrm>
            <a:custGeom>
              <a:avLst/>
              <a:gdLst/>
              <a:ahLst/>
              <a:cxnLst/>
              <a:rect l="l" t="t" r="r" b="b"/>
              <a:pathLst>
                <a:path w="1752600" h="838200">
                  <a:moveTo>
                    <a:pt x="0" y="419100"/>
                  </a:moveTo>
                  <a:lnTo>
                    <a:pt x="876300" y="0"/>
                  </a:lnTo>
                  <a:lnTo>
                    <a:pt x="1752600" y="419100"/>
                  </a:lnTo>
                  <a:lnTo>
                    <a:pt x="876300" y="838200"/>
                  </a:lnTo>
                  <a:lnTo>
                    <a:pt x="0" y="4191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74612" y="5362575"/>
            <a:ext cx="576580" cy="476250"/>
          </a:xfrm>
          <a:prstGeom prst="rect">
            <a:avLst/>
          </a:prstGeom>
          <a:solidFill>
            <a:srgbClr val="C0504D"/>
          </a:solidFill>
          <a:ln w="19050">
            <a:solidFill>
              <a:srgbClr val="000000"/>
            </a:solidFill>
          </a:ln>
        </p:spPr>
        <p:txBody>
          <a:bodyPr vert="horz" wrap="square" lIns="0" tIns="36195" rIns="0" bIns="0" rtlCol="0">
            <a:spAutoFit/>
          </a:bodyPr>
          <a:lstStyle/>
          <a:p>
            <a:pPr marL="101600">
              <a:lnSpc>
                <a:spcPct val="100000"/>
              </a:lnSpc>
              <a:spcBef>
                <a:spcPts val="285"/>
              </a:spcBef>
            </a:pPr>
            <a:r>
              <a:rPr sz="2400" b="1" spc="-25" dirty="0">
                <a:latin typeface="Times New Roman"/>
                <a:cs typeface="Times New Roman"/>
              </a:rPr>
              <a:t>No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159250" y="5362575"/>
            <a:ext cx="576580" cy="476250"/>
          </a:xfrm>
          <a:prstGeom prst="rect">
            <a:avLst/>
          </a:prstGeom>
          <a:solidFill>
            <a:srgbClr val="C0504D"/>
          </a:solidFill>
          <a:ln w="19050">
            <a:solidFill>
              <a:srgbClr val="000000"/>
            </a:solidFill>
          </a:ln>
        </p:spPr>
        <p:txBody>
          <a:bodyPr vert="horz" wrap="square" lIns="0" tIns="36195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285"/>
              </a:spcBef>
            </a:pPr>
            <a:r>
              <a:rPr sz="2400" b="1" spc="-25" dirty="0">
                <a:latin typeface="Times New Roman"/>
                <a:cs typeface="Times New Roman"/>
              </a:rPr>
              <a:t>No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639951" y="5362575"/>
            <a:ext cx="671830" cy="469900"/>
          </a:xfrm>
          <a:prstGeom prst="rect">
            <a:avLst/>
          </a:prstGeom>
          <a:solidFill>
            <a:srgbClr val="FFCC00"/>
          </a:solidFill>
          <a:ln w="12700">
            <a:solidFill>
              <a:srgbClr val="000000"/>
            </a:solidFill>
          </a:ln>
        </p:spPr>
        <p:txBody>
          <a:bodyPr vert="horz" wrap="square" lIns="0" tIns="36195" rIns="0" bIns="0" rtlCol="0">
            <a:spAutoFit/>
          </a:bodyPr>
          <a:lstStyle/>
          <a:p>
            <a:pPr marL="115570">
              <a:lnSpc>
                <a:spcPct val="100000"/>
              </a:lnSpc>
              <a:spcBef>
                <a:spcPts val="285"/>
              </a:spcBef>
            </a:pPr>
            <a:r>
              <a:rPr sz="2400" b="1" spc="-25" dirty="0">
                <a:latin typeface="Times New Roman"/>
                <a:cs typeface="Times New Roman"/>
              </a:rPr>
              <a:t>Yes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411851" y="5362575"/>
            <a:ext cx="671830" cy="469900"/>
          </a:xfrm>
          <a:prstGeom prst="rect">
            <a:avLst/>
          </a:prstGeom>
          <a:solidFill>
            <a:srgbClr val="FFCC00"/>
          </a:solidFill>
          <a:ln w="12700">
            <a:solidFill>
              <a:srgbClr val="000000"/>
            </a:solidFill>
          </a:ln>
        </p:spPr>
        <p:txBody>
          <a:bodyPr vert="horz" wrap="square" lIns="0" tIns="36195" rIns="0" bIns="0" rtlCol="0">
            <a:spAutoFit/>
          </a:bodyPr>
          <a:lstStyle/>
          <a:p>
            <a:pPr marL="116205">
              <a:lnSpc>
                <a:spcPct val="100000"/>
              </a:lnSpc>
              <a:spcBef>
                <a:spcPts val="285"/>
              </a:spcBef>
            </a:pPr>
            <a:r>
              <a:rPr sz="2400" b="1" spc="-25" dirty="0">
                <a:latin typeface="Times New Roman"/>
                <a:cs typeface="Times New Roman"/>
              </a:rPr>
              <a:t>Yes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498725" y="3522726"/>
            <a:ext cx="671830" cy="469900"/>
          </a:xfrm>
          <a:prstGeom prst="rect">
            <a:avLst/>
          </a:prstGeom>
          <a:solidFill>
            <a:srgbClr val="FFCC00"/>
          </a:solidFill>
          <a:ln w="12700">
            <a:solidFill>
              <a:srgbClr val="000000"/>
            </a:solidFill>
          </a:ln>
        </p:spPr>
        <p:txBody>
          <a:bodyPr vert="horz" wrap="square" lIns="0" tIns="36194" rIns="0" bIns="0" rtlCol="0">
            <a:spAutoFit/>
          </a:bodyPr>
          <a:lstStyle/>
          <a:p>
            <a:pPr marL="114935">
              <a:lnSpc>
                <a:spcPct val="100000"/>
              </a:lnSpc>
              <a:spcBef>
                <a:spcPts val="284"/>
              </a:spcBef>
            </a:pPr>
            <a:r>
              <a:rPr sz="2400" b="1" spc="-25" dirty="0">
                <a:latin typeface="Times New Roman"/>
                <a:cs typeface="Times New Roman"/>
              </a:rPr>
              <a:t>Yes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1990788" y="1358963"/>
            <a:ext cx="1762125" cy="847725"/>
            <a:chOff x="1990788" y="1358963"/>
            <a:chExt cx="1762125" cy="847725"/>
          </a:xfrm>
        </p:grpSpPr>
        <p:sp>
          <p:nvSpPr>
            <p:cNvPr id="32" name="object 32"/>
            <p:cNvSpPr/>
            <p:nvPr/>
          </p:nvSpPr>
          <p:spPr>
            <a:xfrm>
              <a:off x="1995551" y="1363725"/>
              <a:ext cx="1752600" cy="838200"/>
            </a:xfrm>
            <a:custGeom>
              <a:avLst/>
              <a:gdLst/>
              <a:ahLst/>
              <a:cxnLst/>
              <a:rect l="l" t="t" r="r" b="b"/>
              <a:pathLst>
                <a:path w="1752600" h="838200">
                  <a:moveTo>
                    <a:pt x="876300" y="0"/>
                  </a:moveTo>
                  <a:lnTo>
                    <a:pt x="0" y="419100"/>
                  </a:lnTo>
                  <a:lnTo>
                    <a:pt x="876300" y="838200"/>
                  </a:lnTo>
                  <a:lnTo>
                    <a:pt x="1752600" y="419100"/>
                  </a:lnTo>
                  <a:lnTo>
                    <a:pt x="8763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995551" y="1363725"/>
              <a:ext cx="1752600" cy="838200"/>
            </a:xfrm>
            <a:custGeom>
              <a:avLst/>
              <a:gdLst/>
              <a:ahLst/>
              <a:cxnLst/>
              <a:rect l="l" t="t" r="r" b="b"/>
              <a:pathLst>
                <a:path w="1752600" h="838200">
                  <a:moveTo>
                    <a:pt x="0" y="419100"/>
                  </a:moveTo>
                  <a:lnTo>
                    <a:pt x="876300" y="0"/>
                  </a:lnTo>
                  <a:lnTo>
                    <a:pt x="1752600" y="419100"/>
                  </a:lnTo>
                  <a:lnTo>
                    <a:pt x="876300" y="838200"/>
                  </a:lnTo>
                  <a:lnTo>
                    <a:pt x="0" y="4191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2363470" y="1580134"/>
            <a:ext cx="10248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Times New Roman"/>
                <a:cs typeface="Times New Roman"/>
              </a:rPr>
              <a:t>Outlook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86816" y="3561715"/>
            <a:ext cx="11918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Times New Roman"/>
                <a:cs typeface="Times New Roman"/>
              </a:rPr>
              <a:t>Humidity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497451" y="3790315"/>
            <a:ext cx="8401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Times New Roman"/>
                <a:cs typeface="Times New Roman"/>
              </a:rPr>
              <a:t>Windy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1293875" y="2700401"/>
            <a:ext cx="0" cy="609600"/>
          </a:xfrm>
          <a:custGeom>
            <a:avLst/>
            <a:gdLst/>
            <a:ahLst/>
            <a:cxnLst/>
            <a:rect l="l" t="t" r="r" b="b"/>
            <a:pathLst>
              <a:path h="609600">
                <a:moveTo>
                  <a:pt x="0" y="0"/>
                </a:moveTo>
                <a:lnTo>
                  <a:pt x="0" y="6096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951476" y="2852801"/>
            <a:ext cx="0" cy="685800"/>
          </a:xfrm>
          <a:custGeom>
            <a:avLst/>
            <a:gdLst/>
            <a:ahLst/>
            <a:cxnLst/>
            <a:rect l="l" t="t" r="r" b="b"/>
            <a:pathLst>
              <a:path h="685800">
                <a:moveTo>
                  <a:pt x="0" y="0"/>
                </a:moveTo>
                <a:lnTo>
                  <a:pt x="0" y="6858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5566028" y="1368678"/>
            <a:ext cx="219583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latin typeface="Arial"/>
                <a:cs typeface="Arial"/>
              </a:rPr>
              <a:t>Test</a:t>
            </a:r>
            <a:r>
              <a:rPr sz="1800" b="1" spc="-8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example: </a:t>
            </a:r>
            <a:r>
              <a:rPr sz="1800" b="1" dirty="0">
                <a:latin typeface="Arial"/>
                <a:cs typeface="Arial"/>
              </a:rPr>
              <a:t>(Outlook==rain)</a:t>
            </a:r>
            <a:r>
              <a:rPr sz="1800" b="1" spc="-100" dirty="0">
                <a:latin typeface="Arial"/>
                <a:cs typeface="Arial"/>
              </a:rPr>
              <a:t> </a:t>
            </a:r>
            <a:r>
              <a:rPr sz="1800" b="1" spc="-25" dirty="0">
                <a:latin typeface="Arial"/>
                <a:cs typeface="Arial"/>
              </a:rPr>
              <a:t>and </a:t>
            </a:r>
            <a:r>
              <a:rPr sz="1800" b="1" spc="-10" dirty="0">
                <a:latin typeface="Arial"/>
                <a:cs typeface="Arial"/>
              </a:rPr>
              <a:t>(Windy==false)</a:t>
            </a:r>
            <a:endParaRPr sz="18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566028" y="2466213"/>
            <a:ext cx="17373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Decision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is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spc="-20" dirty="0">
                <a:latin typeface="Arial"/>
                <a:cs typeface="Arial"/>
              </a:rPr>
              <a:t>yes</a:t>
            </a:r>
            <a:r>
              <a:rPr sz="1800" spc="-20" dirty="0">
                <a:latin typeface="Arial MT"/>
                <a:cs typeface="Arial MT"/>
              </a:rPr>
              <a:t>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2265" rIns="0" bIns="0" rtlCol="0">
            <a:spAutoFit/>
          </a:bodyPr>
          <a:lstStyle/>
          <a:p>
            <a:pPr marL="74295">
              <a:lnSpc>
                <a:spcPct val="100000"/>
              </a:lnSpc>
              <a:spcBef>
                <a:spcPts val="105"/>
              </a:spcBef>
            </a:pPr>
            <a:r>
              <a:rPr sz="4400" b="1" spc="-135" dirty="0">
                <a:latin typeface="Calibri"/>
                <a:cs typeface="Calibri"/>
              </a:rPr>
              <a:t>To</a:t>
            </a:r>
            <a:r>
              <a:rPr sz="4400" b="1" spc="-75" dirty="0">
                <a:latin typeface="Calibri"/>
                <a:cs typeface="Calibri"/>
              </a:rPr>
              <a:t> </a:t>
            </a:r>
            <a:r>
              <a:rPr sz="4400" b="1" dirty="0">
                <a:latin typeface="Calibri"/>
                <a:cs typeface="Calibri"/>
              </a:rPr>
              <a:t>‘play</a:t>
            </a:r>
            <a:r>
              <a:rPr sz="4400" b="1" spc="-75" dirty="0">
                <a:latin typeface="Calibri"/>
                <a:cs typeface="Calibri"/>
              </a:rPr>
              <a:t> </a:t>
            </a:r>
            <a:r>
              <a:rPr sz="4400" b="1" dirty="0">
                <a:latin typeface="Calibri"/>
                <a:cs typeface="Calibri"/>
              </a:rPr>
              <a:t>tennis’</a:t>
            </a:r>
            <a:r>
              <a:rPr sz="4400" b="1" spc="-105" dirty="0">
                <a:latin typeface="Calibri"/>
                <a:cs typeface="Calibri"/>
              </a:rPr>
              <a:t> </a:t>
            </a:r>
            <a:r>
              <a:rPr sz="4400" b="1" dirty="0">
                <a:latin typeface="Calibri"/>
                <a:cs typeface="Calibri"/>
              </a:rPr>
              <a:t>or</a:t>
            </a:r>
            <a:r>
              <a:rPr sz="4400" b="1" spc="-80" dirty="0">
                <a:latin typeface="Calibri"/>
                <a:cs typeface="Calibri"/>
              </a:rPr>
              <a:t> </a:t>
            </a:r>
            <a:r>
              <a:rPr sz="4400" b="1" spc="-20" dirty="0">
                <a:latin typeface="Calibri"/>
                <a:cs typeface="Calibri"/>
              </a:rPr>
              <a:t>not.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12670" y="2628391"/>
            <a:ext cx="104266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Times New Roman"/>
                <a:cs typeface="Times New Roman"/>
              </a:rPr>
              <a:t>overcast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9349" y="4509896"/>
            <a:ext cx="5676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Times New Roman"/>
                <a:cs typeface="Times New Roman"/>
              </a:rPr>
              <a:t>high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33525" y="4509896"/>
            <a:ext cx="88709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Times New Roman"/>
                <a:cs typeface="Times New Roman"/>
              </a:rPr>
              <a:t>normal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47538" y="4524247"/>
            <a:ext cx="6013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Times New Roman"/>
                <a:cs typeface="Times New Roman"/>
              </a:rPr>
              <a:t>false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98111" y="4538598"/>
            <a:ext cx="5003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Times New Roman"/>
                <a:cs typeface="Times New Roman"/>
              </a:rPr>
              <a:t>true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008062" y="2008251"/>
            <a:ext cx="3645535" cy="787400"/>
            <a:chOff x="1008062" y="2008251"/>
            <a:chExt cx="3645535" cy="787400"/>
          </a:xfrm>
        </p:grpSpPr>
        <p:sp>
          <p:nvSpPr>
            <p:cNvPr id="9" name="object 9"/>
            <p:cNvSpPr/>
            <p:nvPr/>
          </p:nvSpPr>
          <p:spPr>
            <a:xfrm>
              <a:off x="1370075" y="2014601"/>
              <a:ext cx="3276600" cy="698500"/>
            </a:xfrm>
            <a:custGeom>
              <a:avLst/>
              <a:gdLst/>
              <a:ahLst/>
              <a:cxnLst/>
              <a:rect l="l" t="t" r="r" b="b"/>
              <a:pathLst>
                <a:path w="3276600" h="698500">
                  <a:moveTo>
                    <a:pt x="968375" y="0"/>
                  </a:moveTo>
                  <a:lnTo>
                    <a:pt x="0" y="457200"/>
                  </a:lnTo>
                </a:path>
                <a:path w="3276600" h="698500">
                  <a:moveTo>
                    <a:pt x="1525524" y="152400"/>
                  </a:moveTo>
                  <a:lnTo>
                    <a:pt x="1524000" y="698500"/>
                  </a:lnTo>
                </a:path>
                <a:path w="3276600" h="698500">
                  <a:moveTo>
                    <a:pt x="1905000" y="0"/>
                  </a:moveTo>
                  <a:lnTo>
                    <a:pt x="3276600" y="5334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14412" y="2319401"/>
              <a:ext cx="925830" cy="469900"/>
            </a:xfrm>
            <a:custGeom>
              <a:avLst/>
              <a:gdLst/>
              <a:ahLst/>
              <a:cxnLst/>
              <a:rect l="l" t="t" r="r" b="b"/>
              <a:pathLst>
                <a:path w="925830" h="469900">
                  <a:moveTo>
                    <a:pt x="0" y="469900"/>
                  </a:moveTo>
                  <a:lnTo>
                    <a:pt x="925512" y="469900"/>
                  </a:lnTo>
                  <a:lnTo>
                    <a:pt x="925512" y="0"/>
                  </a:lnTo>
                  <a:lnTo>
                    <a:pt x="0" y="0"/>
                  </a:lnTo>
                  <a:lnTo>
                    <a:pt x="0" y="46990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099515" y="2342515"/>
            <a:ext cx="753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Times New Roman"/>
                <a:cs typeface="Times New Roman"/>
              </a:rPr>
              <a:t>sunny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606290" y="2494915"/>
            <a:ext cx="5003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Times New Roman"/>
                <a:cs typeface="Times New Roman"/>
              </a:rPr>
              <a:t>rain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74650" y="3381311"/>
            <a:ext cx="1762760" cy="1214755"/>
            <a:chOff x="374650" y="3381311"/>
            <a:chExt cx="1762760" cy="1214755"/>
          </a:xfrm>
        </p:grpSpPr>
        <p:sp>
          <p:nvSpPr>
            <p:cNvPr id="14" name="object 14"/>
            <p:cNvSpPr/>
            <p:nvPr/>
          </p:nvSpPr>
          <p:spPr>
            <a:xfrm>
              <a:off x="411162" y="4073524"/>
              <a:ext cx="1550035" cy="516255"/>
            </a:xfrm>
            <a:custGeom>
              <a:avLst/>
              <a:gdLst/>
              <a:ahLst/>
              <a:cxnLst/>
              <a:rect l="l" t="t" r="r" b="b"/>
              <a:pathLst>
                <a:path w="1550035" h="516254">
                  <a:moveTo>
                    <a:pt x="493712" y="0"/>
                  </a:moveTo>
                  <a:lnTo>
                    <a:pt x="0" y="516000"/>
                  </a:lnTo>
                </a:path>
                <a:path w="1550035" h="516254">
                  <a:moveTo>
                    <a:pt x="1128712" y="45974"/>
                  </a:moveTo>
                  <a:lnTo>
                    <a:pt x="1549463" y="469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79412" y="3386073"/>
              <a:ext cx="1753235" cy="838200"/>
            </a:xfrm>
            <a:custGeom>
              <a:avLst/>
              <a:gdLst/>
              <a:ahLst/>
              <a:cxnLst/>
              <a:rect l="l" t="t" r="r" b="b"/>
              <a:pathLst>
                <a:path w="1753235" h="838200">
                  <a:moveTo>
                    <a:pt x="876300" y="0"/>
                  </a:moveTo>
                  <a:lnTo>
                    <a:pt x="0" y="419100"/>
                  </a:lnTo>
                  <a:lnTo>
                    <a:pt x="876300" y="838200"/>
                  </a:lnTo>
                  <a:lnTo>
                    <a:pt x="1752663" y="419100"/>
                  </a:lnTo>
                  <a:lnTo>
                    <a:pt x="8763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79412" y="3386073"/>
              <a:ext cx="1753235" cy="838200"/>
            </a:xfrm>
            <a:custGeom>
              <a:avLst/>
              <a:gdLst/>
              <a:ahLst/>
              <a:cxnLst/>
              <a:rect l="l" t="t" r="r" b="b"/>
              <a:pathLst>
                <a:path w="1753235" h="838200">
                  <a:moveTo>
                    <a:pt x="0" y="419100"/>
                  </a:moveTo>
                  <a:lnTo>
                    <a:pt x="876300" y="0"/>
                  </a:lnTo>
                  <a:lnTo>
                    <a:pt x="1752663" y="419100"/>
                  </a:lnTo>
                  <a:lnTo>
                    <a:pt x="876300" y="838200"/>
                  </a:lnTo>
                  <a:lnTo>
                    <a:pt x="0" y="4191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/>
          <p:nvPr/>
        </p:nvSpPr>
        <p:spPr>
          <a:xfrm>
            <a:off x="361950" y="4957698"/>
            <a:ext cx="0" cy="405130"/>
          </a:xfrm>
          <a:custGeom>
            <a:avLst/>
            <a:gdLst/>
            <a:ahLst/>
            <a:cxnLst/>
            <a:rect l="l" t="t" r="r" b="b"/>
            <a:pathLst>
              <a:path h="405129">
                <a:moveTo>
                  <a:pt x="0" y="0"/>
                </a:moveTo>
                <a:lnTo>
                  <a:pt x="0" y="404875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746750" y="4911725"/>
            <a:ext cx="0" cy="440055"/>
          </a:xfrm>
          <a:custGeom>
            <a:avLst/>
            <a:gdLst/>
            <a:ahLst/>
            <a:cxnLst/>
            <a:rect l="l" t="t" r="r" b="b"/>
            <a:pathLst>
              <a:path h="440054">
                <a:moveTo>
                  <a:pt x="0" y="0"/>
                </a:moveTo>
                <a:lnTo>
                  <a:pt x="0" y="4398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448175" y="4927600"/>
            <a:ext cx="0" cy="434975"/>
          </a:xfrm>
          <a:custGeom>
            <a:avLst/>
            <a:gdLst/>
            <a:ahLst/>
            <a:cxnLst/>
            <a:rect l="l" t="t" r="r" b="b"/>
            <a:pathLst>
              <a:path h="434975">
                <a:moveTo>
                  <a:pt x="0" y="0"/>
                </a:moveTo>
                <a:lnTo>
                  <a:pt x="0" y="434975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976501" y="4927600"/>
            <a:ext cx="0" cy="434975"/>
          </a:xfrm>
          <a:custGeom>
            <a:avLst/>
            <a:gdLst/>
            <a:ahLst/>
            <a:cxnLst/>
            <a:rect l="l" t="t" r="r" b="b"/>
            <a:pathLst>
              <a:path h="434975">
                <a:moveTo>
                  <a:pt x="0" y="0"/>
                </a:moveTo>
                <a:lnTo>
                  <a:pt x="0" y="434975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833751" y="3022600"/>
            <a:ext cx="0" cy="440055"/>
          </a:xfrm>
          <a:custGeom>
            <a:avLst/>
            <a:gdLst/>
            <a:ahLst/>
            <a:cxnLst/>
            <a:rect l="l" t="t" r="r" b="b"/>
            <a:pathLst>
              <a:path h="440054">
                <a:moveTo>
                  <a:pt x="0" y="0"/>
                </a:moveTo>
                <a:lnTo>
                  <a:pt x="0" y="4398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2" name="object 22"/>
          <p:cNvGrpSpPr/>
          <p:nvPr/>
        </p:nvGrpSpPr>
        <p:grpSpPr>
          <a:xfrm>
            <a:off x="4108513" y="3533711"/>
            <a:ext cx="1762125" cy="1076960"/>
            <a:chOff x="4108513" y="3533711"/>
            <a:chExt cx="1762125" cy="1076960"/>
          </a:xfrm>
        </p:grpSpPr>
        <p:sp>
          <p:nvSpPr>
            <p:cNvPr id="23" name="object 23"/>
            <p:cNvSpPr/>
            <p:nvPr/>
          </p:nvSpPr>
          <p:spPr>
            <a:xfrm>
              <a:off x="4341876" y="4224273"/>
              <a:ext cx="1352550" cy="379730"/>
            </a:xfrm>
            <a:custGeom>
              <a:avLst/>
              <a:gdLst/>
              <a:ahLst/>
              <a:cxnLst/>
              <a:rect l="l" t="t" r="r" b="b"/>
              <a:pathLst>
                <a:path w="1352550" h="379729">
                  <a:moveTo>
                    <a:pt x="304800" y="0"/>
                  </a:moveTo>
                  <a:lnTo>
                    <a:pt x="0" y="379475"/>
                  </a:lnTo>
                </a:path>
                <a:path w="1352550" h="379729">
                  <a:moveTo>
                    <a:pt x="1143000" y="0"/>
                  </a:moveTo>
                  <a:lnTo>
                    <a:pt x="1352550" y="3048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113276" y="3538473"/>
              <a:ext cx="1752600" cy="838200"/>
            </a:xfrm>
            <a:custGeom>
              <a:avLst/>
              <a:gdLst/>
              <a:ahLst/>
              <a:cxnLst/>
              <a:rect l="l" t="t" r="r" b="b"/>
              <a:pathLst>
                <a:path w="1752600" h="838200">
                  <a:moveTo>
                    <a:pt x="876300" y="0"/>
                  </a:moveTo>
                  <a:lnTo>
                    <a:pt x="0" y="419100"/>
                  </a:lnTo>
                  <a:lnTo>
                    <a:pt x="876300" y="838200"/>
                  </a:lnTo>
                  <a:lnTo>
                    <a:pt x="1752600" y="419100"/>
                  </a:lnTo>
                  <a:lnTo>
                    <a:pt x="8763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113276" y="3538473"/>
              <a:ext cx="1752600" cy="838200"/>
            </a:xfrm>
            <a:custGeom>
              <a:avLst/>
              <a:gdLst/>
              <a:ahLst/>
              <a:cxnLst/>
              <a:rect l="l" t="t" r="r" b="b"/>
              <a:pathLst>
                <a:path w="1752600" h="838200">
                  <a:moveTo>
                    <a:pt x="0" y="419100"/>
                  </a:moveTo>
                  <a:lnTo>
                    <a:pt x="876300" y="0"/>
                  </a:lnTo>
                  <a:lnTo>
                    <a:pt x="1752600" y="419100"/>
                  </a:lnTo>
                  <a:lnTo>
                    <a:pt x="876300" y="838200"/>
                  </a:lnTo>
                  <a:lnTo>
                    <a:pt x="0" y="4191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74612" y="5362575"/>
            <a:ext cx="576580" cy="476250"/>
          </a:xfrm>
          <a:prstGeom prst="rect">
            <a:avLst/>
          </a:prstGeom>
          <a:solidFill>
            <a:srgbClr val="C0504D"/>
          </a:solidFill>
          <a:ln w="19050">
            <a:solidFill>
              <a:srgbClr val="000000"/>
            </a:solidFill>
          </a:ln>
        </p:spPr>
        <p:txBody>
          <a:bodyPr vert="horz" wrap="square" lIns="0" tIns="36195" rIns="0" bIns="0" rtlCol="0">
            <a:spAutoFit/>
          </a:bodyPr>
          <a:lstStyle/>
          <a:p>
            <a:pPr marL="101600">
              <a:lnSpc>
                <a:spcPct val="100000"/>
              </a:lnSpc>
              <a:spcBef>
                <a:spcPts val="285"/>
              </a:spcBef>
            </a:pPr>
            <a:r>
              <a:rPr sz="2400" b="1" spc="-25" dirty="0">
                <a:latin typeface="Times New Roman"/>
                <a:cs typeface="Times New Roman"/>
              </a:rPr>
              <a:t>No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159250" y="5362575"/>
            <a:ext cx="576580" cy="476250"/>
          </a:xfrm>
          <a:prstGeom prst="rect">
            <a:avLst/>
          </a:prstGeom>
          <a:solidFill>
            <a:srgbClr val="C0504D"/>
          </a:solidFill>
          <a:ln w="19050">
            <a:solidFill>
              <a:srgbClr val="000000"/>
            </a:solidFill>
          </a:ln>
        </p:spPr>
        <p:txBody>
          <a:bodyPr vert="horz" wrap="square" lIns="0" tIns="36195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285"/>
              </a:spcBef>
            </a:pPr>
            <a:r>
              <a:rPr sz="2400" b="1" spc="-25" dirty="0">
                <a:latin typeface="Times New Roman"/>
                <a:cs typeface="Times New Roman"/>
              </a:rPr>
              <a:t>No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639951" y="5362575"/>
            <a:ext cx="671830" cy="469900"/>
          </a:xfrm>
          <a:prstGeom prst="rect">
            <a:avLst/>
          </a:prstGeom>
          <a:solidFill>
            <a:srgbClr val="FFCC00"/>
          </a:solidFill>
          <a:ln w="12700">
            <a:solidFill>
              <a:srgbClr val="000000"/>
            </a:solidFill>
          </a:ln>
        </p:spPr>
        <p:txBody>
          <a:bodyPr vert="horz" wrap="square" lIns="0" tIns="36195" rIns="0" bIns="0" rtlCol="0">
            <a:spAutoFit/>
          </a:bodyPr>
          <a:lstStyle/>
          <a:p>
            <a:pPr marL="115570">
              <a:lnSpc>
                <a:spcPct val="100000"/>
              </a:lnSpc>
              <a:spcBef>
                <a:spcPts val="285"/>
              </a:spcBef>
            </a:pPr>
            <a:r>
              <a:rPr sz="2400" b="1" spc="-25" dirty="0">
                <a:latin typeface="Times New Roman"/>
                <a:cs typeface="Times New Roman"/>
              </a:rPr>
              <a:t>Yes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411851" y="5362575"/>
            <a:ext cx="671830" cy="469900"/>
          </a:xfrm>
          <a:prstGeom prst="rect">
            <a:avLst/>
          </a:prstGeom>
          <a:solidFill>
            <a:srgbClr val="FFCC00"/>
          </a:solidFill>
          <a:ln w="12700">
            <a:solidFill>
              <a:srgbClr val="000000"/>
            </a:solidFill>
          </a:ln>
        </p:spPr>
        <p:txBody>
          <a:bodyPr vert="horz" wrap="square" lIns="0" tIns="36195" rIns="0" bIns="0" rtlCol="0">
            <a:spAutoFit/>
          </a:bodyPr>
          <a:lstStyle/>
          <a:p>
            <a:pPr marL="116205">
              <a:lnSpc>
                <a:spcPct val="100000"/>
              </a:lnSpc>
              <a:spcBef>
                <a:spcPts val="285"/>
              </a:spcBef>
            </a:pPr>
            <a:r>
              <a:rPr sz="2400" b="1" spc="-25" dirty="0">
                <a:latin typeface="Times New Roman"/>
                <a:cs typeface="Times New Roman"/>
              </a:rPr>
              <a:t>Yes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498725" y="3522726"/>
            <a:ext cx="671830" cy="469900"/>
          </a:xfrm>
          <a:prstGeom prst="rect">
            <a:avLst/>
          </a:prstGeom>
          <a:solidFill>
            <a:srgbClr val="FFCC00"/>
          </a:solidFill>
          <a:ln w="12700">
            <a:solidFill>
              <a:srgbClr val="000000"/>
            </a:solidFill>
          </a:ln>
        </p:spPr>
        <p:txBody>
          <a:bodyPr vert="horz" wrap="square" lIns="0" tIns="36194" rIns="0" bIns="0" rtlCol="0">
            <a:spAutoFit/>
          </a:bodyPr>
          <a:lstStyle/>
          <a:p>
            <a:pPr marL="114935">
              <a:lnSpc>
                <a:spcPct val="100000"/>
              </a:lnSpc>
              <a:spcBef>
                <a:spcPts val="284"/>
              </a:spcBef>
            </a:pPr>
            <a:r>
              <a:rPr sz="2400" b="1" spc="-25" dirty="0">
                <a:latin typeface="Times New Roman"/>
                <a:cs typeface="Times New Roman"/>
              </a:rPr>
              <a:t>Yes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1990788" y="1358963"/>
            <a:ext cx="1762125" cy="847725"/>
            <a:chOff x="1990788" y="1358963"/>
            <a:chExt cx="1762125" cy="847725"/>
          </a:xfrm>
        </p:grpSpPr>
        <p:sp>
          <p:nvSpPr>
            <p:cNvPr id="32" name="object 32"/>
            <p:cNvSpPr/>
            <p:nvPr/>
          </p:nvSpPr>
          <p:spPr>
            <a:xfrm>
              <a:off x="1995551" y="1363725"/>
              <a:ext cx="1752600" cy="838200"/>
            </a:xfrm>
            <a:custGeom>
              <a:avLst/>
              <a:gdLst/>
              <a:ahLst/>
              <a:cxnLst/>
              <a:rect l="l" t="t" r="r" b="b"/>
              <a:pathLst>
                <a:path w="1752600" h="838200">
                  <a:moveTo>
                    <a:pt x="876300" y="0"/>
                  </a:moveTo>
                  <a:lnTo>
                    <a:pt x="0" y="419100"/>
                  </a:lnTo>
                  <a:lnTo>
                    <a:pt x="876300" y="838200"/>
                  </a:lnTo>
                  <a:lnTo>
                    <a:pt x="1752600" y="419100"/>
                  </a:lnTo>
                  <a:lnTo>
                    <a:pt x="8763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995551" y="1363725"/>
              <a:ext cx="1752600" cy="838200"/>
            </a:xfrm>
            <a:custGeom>
              <a:avLst/>
              <a:gdLst/>
              <a:ahLst/>
              <a:cxnLst/>
              <a:rect l="l" t="t" r="r" b="b"/>
              <a:pathLst>
                <a:path w="1752600" h="838200">
                  <a:moveTo>
                    <a:pt x="0" y="419100"/>
                  </a:moveTo>
                  <a:lnTo>
                    <a:pt x="876300" y="0"/>
                  </a:lnTo>
                  <a:lnTo>
                    <a:pt x="1752600" y="419100"/>
                  </a:lnTo>
                  <a:lnTo>
                    <a:pt x="876300" y="838200"/>
                  </a:lnTo>
                  <a:lnTo>
                    <a:pt x="0" y="4191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2363470" y="1580134"/>
            <a:ext cx="10248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Times New Roman"/>
                <a:cs typeface="Times New Roman"/>
              </a:rPr>
              <a:t>Outlook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86816" y="3561715"/>
            <a:ext cx="11918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Times New Roman"/>
                <a:cs typeface="Times New Roman"/>
              </a:rPr>
              <a:t>Humidity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497451" y="3790315"/>
            <a:ext cx="8401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Times New Roman"/>
                <a:cs typeface="Times New Roman"/>
              </a:rPr>
              <a:t>Windy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1293875" y="2700401"/>
            <a:ext cx="0" cy="609600"/>
          </a:xfrm>
          <a:custGeom>
            <a:avLst/>
            <a:gdLst/>
            <a:ahLst/>
            <a:cxnLst/>
            <a:rect l="l" t="t" r="r" b="b"/>
            <a:pathLst>
              <a:path h="609600">
                <a:moveTo>
                  <a:pt x="0" y="0"/>
                </a:moveTo>
                <a:lnTo>
                  <a:pt x="0" y="6096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951476" y="2852801"/>
            <a:ext cx="0" cy="685800"/>
          </a:xfrm>
          <a:custGeom>
            <a:avLst/>
            <a:gdLst/>
            <a:ahLst/>
            <a:cxnLst/>
            <a:rect l="l" t="t" r="r" b="b"/>
            <a:pathLst>
              <a:path h="685800">
                <a:moveTo>
                  <a:pt x="0" y="0"/>
                </a:moveTo>
                <a:lnTo>
                  <a:pt x="0" y="6858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3930777" y="1368678"/>
            <a:ext cx="519366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25065" algn="l"/>
              </a:tabLst>
            </a:pPr>
            <a:r>
              <a:rPr sz="1800" b="1" dirty="0">
                <a:latin typeface="Arial"/>
                <a:cs typeface="Arial"/>
              </a:rPr>
              <a:t>(Outlook</a:t>
            </a:r>
            <a:r>
              <a:rPr sz="1800" b="1" spc="-7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==overcast)</a:t>
            </a:r>
            <a:r>
              <a:rPr sz="1800" b="1" dirty="0">
                <a:latin typeface="Arial"/>
                <a:cs typeface="Arial"/>
              </a:rPr>
              <a:t>	</a:t>
            </a:r>
            <a:r>
              <a:rPr sz="1800" b="1" spc="-10" dirty="0">
                <a:latin typeface="Arial"/>
                <a:cs typeface="Arial"/>
              </a:rPr>
              <a:t>-</a:t>
            </a:r>
            <a:r>
              <a:rPr sz="1800" b="1" dirty="0">
                <a:latin typeface="Arial"/>
                <a:cs typeface="Arial"/>
              </a:rPr>
              <a:t>&gt;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25" dirty="0">
                <a:latin typeface="Arial"/>
                <a:cs typeface="Arial"/>
              </a:rPr>
              <a:t>yes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(Outlook==rain)</a:t>
            </a:r>
            <a:r>
              <a:rPr sz="1800" b="1" spc="-6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and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(not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Windy==True)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-</a:t>
            </a:r>
            <a:r>
              <a:rPr sz="1800" b="1" spc="-20" dirty="0">
                <a:latin typeface="Arial"/>
                <a:cs typeface="Arial"/>
              </a:rPr>
              <a:t>&gt;yes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(Outlook==sunny)</a:t>
            </a:r>
            <a:r>
              <a:rPr sz="1800" b="1" spc="-5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and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(Humidity=normal)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-</a:t>
            </a:r>
            <a:r>
              <a:rPr sz="1800" b="1" spc="-20" dirty="0">
                <a:latin typeface="Arial"/>
                <a:cs typeface="Arial"/>
              </a:rPr>
              <a:t>&gt;yes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54025" y="1017587"/>
          <a:ext cx="8305800" cy="50406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91440">
                        <a:lnSpc>
                          <a:spcPts val="2039"/>
                        </a:lnSpc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Day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1B1B1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2039"/>
                        </a:lnSpc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Outlook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1B1B1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2039"/>
                        </a:lnSpc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Temp.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1B1B1"/>
                    </a:solidFill>
                  </a:tcPr>
                </a:tc>
                <a:tc>
                  <a:txBody>
                    <a:bodyPr/>
                    <a:lstStyle/>
                    <a:p>
                      <a:pPr marR="232410" algn="r">
                        <a:lnSpc>
                          <a:spcPts val="2039"/>
                        </a:lnSpc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Humidity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1B1B1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039"/>
                        </a:lnSpc>
                      </a:pPr>
                      <a:r>
                        <a:rPr sz="1800" spc="-20" dirty="0">
                          <a:latin typeface="Arial MT"/>
                          <a:cs typeface="Arial MT"/>
                        </a:rPr>
                        <a:t>Wind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1B1B1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039"/>
                        </a:lnSpc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Play</a:t>
                      </a:r>
                      <a:r>
                        <a:rPr sz="18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Tennis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1B1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645">
                <a:tc>
                  <a:txBody>
                    <a:bodyPr/>
                    <a:lstStyle/>
                    <a:p>
                      <a:pPr marL="234950">
                        <a:lnSpc>
                          <a:spcPts val="2039"/>
                        </a:lnSpc>
                      </a:pPr>
                      <a:r>
                        <a:rPr sz="1800" spc="-25" dirty="0">
                          <a:solidFill>
                            <a:srgbClr val="800080"/>
                          </a:solidFill>
                          <a:latin typeface="Arial MT"/>
                          <a:cs typeface="Arial MT"/>
                        </a:rPr>
                        <a:t>D1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2039"/>
                        </a:lnSpc>
                      </a:pPr>
                      <a:r>
                        <a:rPr sz="1800" spc="-10" dirty="0">
                          <a:solidFill>
                            <a:srgbClr val="800080"/>
                          </a:solidFill>
                          <a:latin typeface="Arial MT"/>
                          <a:cs typeface="Arial MT"/>
                        </a:rPr>
                        <a:t>Sunny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R="399415" algn="r">
                        <a:lnSpc>
                          <a:spcPts val="2039"/>
                        </a:lnSpc>
                      </a:pPr>
                      <a:r>
                        <a:rPr sz="1800" spc="-25" dirty="0">
                          <a:solidFill>
                            <a:srgbClr val="800080"/>
                          </a:solidFill>
                          <a:latin typeface="Arial MT"/>
                          <a:cs typeface="Arial MT"/>
                        </a:rPr>
                        <a:t>Hot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375920">
                        <a:lnSpc>
                          <a:spcPts val="2039"/>
                        </a:lnSpc>
                      </a:pPr>
                      <a:r>
                        <a:rPr sz="1800" spc="-20" dirty="0">
                          <a:solidFill>
                            <a:srgbClr val="800080"/>
                          </a:solidFill>
                          <a:latin typeface="Arial MT"/>
                          <a:cs typeface="Arial MT"/>
                        </a:rPr>
                        <a:t>High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281940">
                        <a:lnSpc>
                          <a:spcPts val="2039"/>
                        </a:lnSpc>
                      </a:pPr>
                      <a:r>
                        <a:rPr sz="1800" spc="-20" dirty="0">
                          <a:solidFill>
                            <a:srgbClr val="800080"/>
                          </a:solidFill>
                          <a:latin typeface="Arial MT"/>
                          <a:cs typeface="Arial MT"/>
                        </a:rPr>
                        <a:t>Weak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2039"/>
                        </a:lnSpc>
                      </a:pPr>
                      <a:r>
                        <a:rPr sz="1800" spc="-25" dirty="0">
                          <a:solidFill>
                            <a:srgbClr val="006600"/>
                          </a:solidFill>
                          <a:latin typeface="Arial MT"/>
                          <a:cs typeface="Arial MT"/>
                        </a:rPr>
                        <a:t>No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645">
                <a:tc>
                  <a:txBody>
                    <a:bodyPr/>
                    <a:lstStyle/>
                    <a:p>
                      <a:pPr marL="234950">
                        <a:lnSpc>
                          <a:spcPts val="2039"/>
                        </a:lnSpc>
                      </a:pPr>
                      <a:r>
                        <a:rPr sz="1800" spc="-25" dirty="0">
                          <a:solidFill>
                            <a:srgbClr val="800080"/>
                          </a:solidFill>
                          <a:latin typeface="Arial MT"/>
                          <a:cs typeface="Arial MT"/>
                        </a:rPr>
                        <a:t>D2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2039"/>
                        </a:lnSpc>
                      </a:pPr>
                      <a:r>
                        <a:rPr sz="1800" spc="-10" dirty="0">
                          <a:solidFill>
                            <a:srgbClr val="800080"/>
                          </a:solidFill>
                          <a:latin typeface="Arial MT"/>
                          <a:cs typeface="Arial MT"/>
                        </a:rPr>
                        <a:t>Sunny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R="399415" algn="r">
                        <a:lnSpc>
                          <a:spcPts val="2039"/>
                        </a:lnSpc>
                      </a:pPr>
                      <a:r>
                        <a:rPr sz="1800" spc="-25" dirty="0">
                          <a:solidFill>
                            <a:srgbClr val="800080"/>
                          </a:solidFill>
                          <a:latin typeface="Arial MT"/>
                          <a:cs typeface="Arial MT"/>
                        </a:rPr>
                        <a:t>Hot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375920">
                        <a:lnSpc>
                          <a:spcPts val="2039"/>
                        </a:lnSpc>
                      </a:pPr>
                      <a:r>
                        <a:rPr sz="1800" spc="-20" dirty="0">
                          <a:solidFill>
                            <a:srgbClr val="800080"/>
                          </a:solidFill>
                          <a:latin typeface="Arial MT"/>
                          <a:cs typeface="Arial MT"/>
                        </a:rPr>
                        <a:t>High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R="226060" algn="r">
                        <a:lnSpc>
                          <a:spcPts val="2039"/>
                        </a:lnSpc>
                      </a:pPr>
                      <a:r>
                        <a:rPr sz="1800" spc="-10" dirty="0">
                          <a:solidFill>
                            <a:srgbClr val="800080"/>
                          </a:solidFill>
                          <a:latin typeface="Arial MT"/>
                          <a:cs typeface="Arial MT"/>
                        </a:rPr>
                        <a:t>Strong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2039"/>
                        </a:lnSpc>
                      </a:pPr>
                      <a:r>
                        <a:rPr sz="1800" spc="-25" dirty="0">
                          <a:solidFill>
                            <a:srgbClr val="006600"/>
                          </a:solidFill>
                          <a:latin typeface="Arial MT"/>
                          <a:cs typeface="Arial MT"/>
                        </a:rPr>
                        <a:t>No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645">
                <a:tc>
                  <a:txBody>
                    <a:bodyPr/>
                    <a:lstStyle/>
                    <a:p>
                      <a:pPr marL="234950">
                        <a:lnSpc>
                          <a:spcPts val="2045"/>
                        </a:lnSpc>
                      </a:pPr>
                      <a:r>
                        <a:rPr sz="1800" spc="-25" dirty="0">
                          <a:solidFill>
                            <a:srgbClr val="800080"/>
                          </a:solidFill>
                          <a:latin typeface="Arial MT"/>
                          <a:cs typeface="Arial MT"/>
                        </a:rPr>
                        <a:t>D3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R="665480" algn="r">
                        <a:lnSpc>
                          <a:spcPts val="2045"/>
                        </a:lnSpc>
                      </a:pPr>
                      <a:r>
                        <a:rPr sz="1800" spc="-10" dirty="0">
                          <a:solidFill>
                            <a:srgbClr val="800080"/>
                          </a:solidFill>
                          <a:latin typeface="Arial MT"/>
                          <a:cs typeface="Arial MT"/>
                        </a:rPr>
                        <a:t>Overcast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R="399415" algn="r">
                        <a:lnSpc>
                          <a:spcPts val="2045"/>
                        </a:lnSpc>
                      </a:pPr>
                      <a:r>
                        <a:rPr sz="1800" spc="-25" dirty="0">
                          <a:solidFill>
                            <a:srgbClr val="800080"/>
                          </a:solidFill>
                          <a:latin typeface="Arial MT"/>
                          <a:cs typeface="Arial MT"/>
                        </a:rPr>
                        <a:t>Hot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375920">
                        <a:lnSpc>
                          <a:spcPts val="2045"/>
                        </a:lnSpc>
                      </a:pPr>
                      <a:r>
                        <a:rPr sz="1800" spc="-20" dirty="0">
                          <a:solidFill>
                            <a:srgbClr val="800080"/>
                          </a:solidFill>
                          <a:latin typeface="Arial MT"/>
                          <a:cs typeface="Arial MT"/>
                        </a:rPr>
                        <a:t>High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281940">
                        <a:lnSpc>
                          <a:spcPts val="2045"/>
                        </a:lnSpc>
                      </a:pPr>
                      <a:r>
                        <a:rPr sz="1800" spc="-20" dirty="0">
                          <a:solidFill>
                            <a:srgbClr val="800080"/>
                          </a:solidFill>
                          <a:latin typeface="Arial MT"/>
                          <a:cs typeface="Arial MT"/>
                        </a:rPr>
                        <a:t>Weak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045"/>
                        </a:lnSpc>
                      </a:pPr>
                      <a:r>
                        <a:rPr sz="1800" spc="-25" dirty="0">
                          <a:solidFill>
                            <a:srgbClr val="006600"/>
                          </a:solidFill>
                          <a:latin typeface="Arial MT"/>
                          <a:cs typeface="Arial MT"/>
                        </a:rPr>
                        <a:t>Yes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645">
                <a:tc>
                  <a:txBody>
                    <a:bodyPr/>
                    <a:lstStyle/>
                    <a:p>
                      <a:pPr marL="234950">
                        <a:lnSpc>
                          <a:spcPts val="2045"/>
                        </a:lnSpc>
                      </a:pPr>
                      <a:r>
                        <a:rPr sz="1800" spc="-25" dirty="0">
                          <a:solidFill>
                            <a:srgbClr val="800080"/>
                          </a:solidFill>
                          <a:latin typeface="Arial MT"/>
                          <a:cs typeface="Arial MT"/>
                        </a:rPr>
                        <a:t>D4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2045"/>
                        </a:lnSpc>
                      </a:pPr>
                      <a:r>
                        <a:rPr sz="1800" spc="-20" dirty="0">
                          <a:solidFill>
                            <a:srgbClr val="800080"/>
                          </a:solidFill>
                          <a:latin typeface="Arial MT"/>
                          <a:cs typeface="Arial MT"/>
                        </a:rPr>
                        <a:t>Rain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R="366395" algn="r">
                        <a:lnSpc>
                          <a:spcPts val="2045"/>
                        </a:lnSpc>
                      </a:pPr>
                      <a:r>
                        <a:rPr sz="1800" spc="-20" dirty="0">
                          <a:solidFill>
                            <a:srgbClr val="800080"/>
                          </a:solidFill>
                          <a:latin typeface="Arial MT"/>
                          <a:cs typeface="Arial MT"/>
                        </a:rPr>
                        <a:t>Mild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375920">
                        <a:lnSpc>
                          <a:spcPts val="2045"/>
                        </a:lnSpc>
                      </a:pPr>
                      <a:r>
                        <a:rPr sz="1800" spc="-20" dirty="0">
                          <a:solidFill>
                            <a:srgbClr val="800080"/>
                          </a:solidFill>
                          <a:latin typeface="Arial MT"/>
                          <a:cs typeface="Arial MT"/>
                        </a:rPr>
                        <a:t>High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281940">
                        <a:lnSpc>
                          <a:spcPts val="2045"/>
                        </a:lnSpc>
                      </a:pPr>
                      <a:r>
                        <a:rPr sz="1800" spc="-20" dirty="0">
                          <a:solidFill>
                            <a:srgbClr val="800080"/>
                          </a:solidFill>
                          <a:latin typeface="Arial MT"/>
                          <a:cs typeface="Arial MT"/>
                        </a:rPr>
                        <a:t>Weak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045"/>
                        </a:lnSpc>
                      </a:pPr>
                      <a:r>
                        <a:rPr sz="1800" spc="-25" dirty="0">
                          <a:solidFill>
                            <a:srgbClr val="006600"/>
                          </a:solidFill>
                          <a:latin typeface="Arial MT"/>
                          <a:cs typeface="Arial MT"/>
                        </a:rPr>
                        <a:t>Yes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4645">
                <a:tc>
                  <a:txBody>
                    <a:bodyPr/>
                    <a:lstStyle/>
                    <a:p>
                      <a:pPr marL="234950">
                        <a:lnSpc>
                          <a:spcPts val="2045"/>
                        </a:lnSpc>
                      </a:pPr>
                      <a:r>
                        <a:rPr sz="1800" spc="-25" dirty="0">
                          <a:solidFill>
                            <a:srgbClr val="800080"/>
                          </a:solidFill>
                          <a:latin typeface="Arial MT"/>
                          <a:cs typeface="Arial MT"/>
                        </a:rPr>
                        <a:t>D5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2045"/>
                        </a:lnSpc>
                      </a:pPr>
                      <a:r>
                        <a:rPr sz="1800" spc="-20" dirty="0">
                          <a:solidFill>
                            <a:srgbClr val="800080"/>
                          </a:solidFill>
                          <a:latin typeface="Arial MT"/>
                          <a:cs typeface="Arial MT"/>
                        </a:rPr>
                        <a:t>Rain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R="341630" algn="r">
                        <a:lnSpc>
                          <a:spcPts val="2045"/>
                        </a:lnSpc>
                      </a:pPr>
                      <a:r>
                        <a:rPr sz="1800" spc="-20" dirty="0">
                          <a:solidFill>
                            <a:srgbClr val="800080"/>
                          </a:solidFill>
                          <a:latin typeface="Arial MT"/>
                          <a:cs typeface="Arial MT"/>
                        </a:rPr>
                        <a:t>Cool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R="233679" algn="r">
                        <a:lnSpc>
                          <a:spcPts val="2045"/>
                        </a:lnSpc>
                      </a:pPr>
                      <a:r>
                        <a:rPr sz="1800" spc="-10" dirty="0">
                          <a:solidFill>
                            <a:srgbClr val="800080"/>
                          </a:solidFill>
                          <a:latin typeface="Arial MT"/>
                          <a:cs typeface="Arial MT"/>
                        </a:rPr>
                        <a:t>Normal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281940">
                        <a:lnSpc>
                          <a:spcPts val="2045"/>
                        </a:lnSpc>
                      </a:pPr>
                      <a:r>
                        <a:rPr sz="1800" spc="-20" dirty="0">
                          <a:solidFill>
                            <a:srgbClr val="800080"/>
                          </a:solidFill>
                          <a:latin typeface="Arial MT"/>
                          <a:cs typeface="Arial MT"/>
                        </a:rPr>
                        <a:t>Weak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045"/>
                        </a:lnSpc>
                      </a:pPr>
                      <a:r>
                        <a:rPr sz="1800" spc="-25" dirty="0">
                          <a:solidFill>
                            <a:srgbClr val="006600"/>
                          </a:solidFill>
                          <a:latin typeface="Arial MT"/>
                          <a:cs typeface="Arial MT"/>
                        </a:rPr>
                        <a:t>Yes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4645">
                <a:tc>
                  <a:txBody>
                    <a:bodyPr/>
                    <a:lstStyle/>
                    <a:p>
                      <a:pPr marL="234950">
                        <a:lnSpc>
                          <a:spcPts val="2045"/>
                        </a:lnSpc>
                      </a:pPr>
                      <a:r>
                        <a:rPr sz="1800" spc="-25" dirty="0">
                          <a:solidFill>
                            <a:srgbClr val="800080"/>
                          </a:solidFill>
                          <a:latin typeface="Arial MT"/>
                          <a:cs typeface="Arial MT"/>
                        </a:rPr>
                        <a:t>D6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2045"/>
                        </a:lnSpc>
                      </a:pPr>
                      <a:r>
                        <a:rPr sz="1800" spc="-20" dirty="0">
                          <a:solidFill>
                            <a:srgbClr val="800080"/>
                          </a:solidFill>
                          <a:latin typeface="Arial MT"/>
                          <a:cs typeface="Arial MT"/>
                        </a:rPr>
                        <a:t>Rain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R="341630" algn="r">
                        <a:lnSpc>
                          <a:spcPts val="2045"/>
                        </a:lnSpc>
                      </a:pPr>
                      <a:r>
                        <a:rPr sz="1800" spc="-20" dirty="0">
                          <a:solidFill>
                            <a:srgbClr val="800080"/>
                          </a:solidFill>
                          <a:latin typeface="Arial MT"/>
                          <a:cs typeface="Arial MT"/>
                        </a:rPr>
                        <a:t>Cool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R="233679" algn="r">
                        <a:lnSpc>
                          <a:spcPts val="2045"/>
                        </a:lnSpc>
                      </a:pPr>
                      <a:r>
                        <a:rPr sz="1800" spc="-10" dirty="0">
                          <a:solidFill>
                            <a:srgbClr val="800080"/>
                          </a:solidFill>
                          <a:latin typeface="Arial MT"/>
                          <a:cs typeface="Arial MT"/>
                        </a:rPr>
                        <a:t>Normal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R="226060" algn="r">
                        <a:lnSpc>
                          <a:spcPts val="2045"/>
                        </a:lnSpc>
                      </a:pPr>
                      <a:r>
                        <a:rPr sz="1800" spc="-10" dirty="0">
                          <a:solidFill>
                            <a:srgbClr val="800080"/>
                          </a:solidFill>
                          <a:latin typeface="Arial MT"/>
                          <a:cs typeface="Arial MT"/>
                        </a:rPr>
                        <a:t>Strong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2045"/>
                        </a:lnSpc>
                      </a:pPr>
                      <a:r>
                        <a:rPr sz="1800" spc="-25" dirty="0">
                          <a:solidFill>
                            <a:srgbClr val="006600"/>
                          </a:solidFill>
                          <a:latin typeface="Arial MT"/>
                          <a:cs typeface="Arial MT"/>
                        </a:rPr>
                        <a:t>No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4645">
                <a:tc>
                  <a:txBody>
                    <a:bodyPr/>
                    <a:lstStyle/>
                    <a:p>
                      <a:pPr marL="234950">
                        <a:lnSpc>
                          <a:spcPts val="2045"/>
                        </a:lnSpc>
                      </a:pPr>
                      <a:r>
                        <a:rPr sz="1800" spc="-25" dirty="0">
                          <a:solidFill>
                            <a:srgbClr val="800080"/>
                          </a:solidFill>
                          <a:latin typeface="Arial MT"/>
                          <a:cs typeface="Arial MT"/>
                        </a:rPr>
                        <a:t>D7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R="665480" algn="r">
                        <a:lnSpc>
                          <a:spcPts val="2045"/>
                        </a:lnSpc>
                      </a:pPr>
                      <a:r>
                        <a:rPr sz="1800" spc="-10" dirty="0">
                          <a:solidFill>
                            <a:srgbClr val="800080"/>
                          </a:solidFill>
                          <a:latin typeface="Arial MT"/>
                          <a:cs typeface="Arial MT"/>
                        </a:rPr>
                        <a:t>Overcast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R="342265" algn="r">
                        <a:lnSpc>
                          <a:spcPts val="2045"/>
                        </a:lnSpc>
                      </a:pPr>
                      <a:r>
                        <a:rPr sz="1800" spc="-20" dirty="0">
                          <a:solidFill>
                            <a:srgbClr val="800080"/>
                          </a:solidFill>
                          <a:latin typeface="Arial MT"/>
                          <a:cs typeface="Arial MT"/>
                        </a:rPr>
                        <a:t>Cool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R="234315" algn="r">
                        <a:lnSpc>
                          <a:spcPts val="2045"/>
                        </a:lnSpc>
                      </a:pPr>
                      <a:r>
                        <a:rPr sz="1800" spc="-10" dirty="0">
                          <a:solidFill>
                            <a:srgbClr val="800080"/>
                          </a:solidFill>
                          <a:latin typeface="Arial MT"/>
                          <a:cs typeface="Arial MT"/>
                        </a:rPr>
                        <a:t>Normal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281940">
                        <a:lnSpc>
                          <a:spcPts val="2045"/>
                        </a:lnSpc>
                      </a:pPr>
                      <a:r>
                        <a:rPr sz="1800" spc="-20" dirty="0">
                          <a:solidFill>
                            <a:srgbClr val="800080"/>
                          </a:solidFill>
                          <a:latin typeface="Arial MT"/>
                          <a:cs typeface="Arial MT"/>
                        </a:rPr>
                        <a:t>Weak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045"/>
                        </a:lnSpc>
                      </a:pPr>
                      <a:r>
                        <a:rPr sz="1800" spc="-25" dirty="0">
                          <a:solidFill>
                            <a:srgbClr val="006600"/>
                          </a:solidFill>
                          <a:latin typeface="Arial MT"/>
                          <a:cs typeface="Arial MT"/>
                        </a:rPr>
                        <a:t>Yes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4645">
                <a:tc>
                  <a:txBody>
                    <a:bodyPr/>
                    <a:lstStyle/>
                    <a:p>
                      <a:pPr marL="234950">
                        <a:lnSpc>
                          <a:spcPts val="2045"/>
                        </a:lnSpc>
                      </a:pPr>
                      <a:r>
                        <a:rPr sz="1800" spc="-25" dirty="0">
                          <a:solidFill>
                            <a:srgbClr val="800080"/>
                          </a:solidFill>
                          <a:latin typeface="Arial MT"/>
                          <a:cs typeface="Arial MT"/>
                        </a:rPr>
                        <a:t>D8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2045"/>
                        </a:lnSpc>
                      </a:pPr>
                      <a:r>
                        <a:rPr sz="1800" spc="-10" dirty="0">
                          <a:solidFill>
                            <a:srgbClr val="800080"/>
                          </a:solidFill>
                          <a:latin typeface="Arial MT"/>
                          <a:cs typeface="Arial MT"/>
                        </a:rPr>
                        <a:t>Sunny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R="366395" algn="r">
                        <a:lnSpc>
                          <a:spcPts val="2045"/>
                        </a:lnSpc>
                      </a:pPr>
                      <a:r>
                        <a:rPr sz="1800" spc="-20" dirty="0">
                          <a:solidFill>
                            <a:srgbClr val="800080"/>
                          </a:solidFill>
                          <a:latin typeface="Arial MT"/>
                          <a:cs typeface="Arial MT"/>
                        </a:rPr>
                        <a:t>Mild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375920">
                        <a:lnSpc>
                          <a:spcPts val="2045"/>
                        </a:lnSpc>
                      </a:pPr>
                      <a:r>
                        <a:rPr sz="1800" spc="-20" dirty="0">
                          <a:solidFill>
                            <a:srgbClr val="800080"/>
                          </a:solidFill>
                          <a:latin typeface="Arial MT"/>
                          <a:cs typeface="Arial MT"/>
                        </a:rPr>
                        <a:t>High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281940">
                        <a:lnSpc>
                          <a:spcPts val="2045"/>
                        </a:lnSpc>
                      </a:pPr>
                      <a:r>
                        <a:rPr sz="1800" spc="-20" dirty="0">
                          <a:solidFill>
                            <a:srgbClr val="800080"/>
                          </a:solidFill>
                          <a:latin typeface="Arial MT"/>
                          <a:cs typeface="Arial MT"/>
                        </a:rPr>
                        <a:t>Weak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2045"/>
                        </a:lnSpc>
                      </a:pPr>
                      <a:r>
                        <a:rPr sz="1800" spc="-25" dirty="0">
                          <a:solidFill>
                            <a:srgbClr val="006600"/>
                          </a:solidFill>
                          <a:latin typeface="Arial MT"/>
                          <a:cs typeface="Arial MT"/>
                        </a:rPr>
                        <a:t>No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4645">
                <a:tc>
                  <a:txBody>
                    <a:bodyPr/>
                    <a:lstStyle/>
                    <a:p>
                      <a:pPr marL="234950">
                        <a:lnSpc>
                          <a:spcPts val="2050"/>
                        </a:lnSpc>
                      </a:pPr>
                      <a:r>
                        <a:rPr sz="1800" spc="-25" dirty="0">
                          <a:solidFill>
                            <a:srgbClr val="800080"/>
                          </a:solidFill>
                          <a:latin typeface="Arial MT"/>
                          <a:cs typeface="Arial MT"/>
                        </a:rPr>
                        <a:t>D9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2050"/>
                        </a:lnSpc>
                      </a:pPr>
                      <a:r>
                        <a:rPr sz="1800" spc="-10" dirty="0">
                          <a:solidFill>
                            <a:srgbClr val="800080"/>
                          </a:solidFill>
                          <a:latin typeface="Arial MT"/>
                          <a:cs typeface="Arial MT"/>
                        </a:rPr>
                        <a:t>Sunny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R="341630" algn="r">
                        <a:lnSpc>
                          <a:spcPts val="2050"/>
                        </a:lnSpc>
                      </a:pPr>
                      <a:r>
                        <a:rPr sz="1800" spc="-20" dirty="0">
                          <a:solidFill>
                            <a:srgbClr val="800080"/>
                          </a:solidFill>
                          <a:latin typeface="Arial MT"/>
                          <a:cs typeface="Arial MT"/>
                        </a:rPr>
                        <a:t>Cold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R="233679" algn="r">
                        <a:lnSpc>
                          <a:spcPts val="2050"/>
                        </a:lnSpc>
                      </a:pPr>
                      <a:r>
                        <a:rPr sz="1800" spc="-10" dirty="0">
                          <a:solidFill>
                            <a:srgbClr val="800080"/>
                          </a:solidFill>
                          <a:latin typeface="Arial MT"/>
                          <a:cs typeface="Arial MT"/>
                        </a:rPr>
                        <a:t>Normal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281940">
                        <a:lnSpc>
                          <a:spcPts val="2050"/>
                        </a:lnSpc>
                      </a:pPr>
                      <a:r>
                        <a:rPr sz="1800" spc="-20" dirty="0">
                          <a:solidFill>
                            <a:srgbClr val="800080"/>
                          </a:solidFill>
                          <a:latin typeface="Arial MT"/>
                          <a:cs typeface="Arial MT"/>
                        </a:rPr>
                        <a:t>Weak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050"/>
                        </a:lnSpc>
                      </a:pPr>
                      <a:r>
                        <a:rPr sz="1800" spc="-25" dirty="0">
                          <a:solidFill>
                            <a:srgbClr val="006600"/>
                          </a:solidFill>
                          <a:latin typeface="Arial MT"/>
                          <a:cs typeface="Arial MT"/>
                        </a:rPr>
                        <a:t>Yes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4645">
                <a:tc>
                  <a:txBody>
                    <a:bodyPr/>
                    <a:lstStyle/>
                    <a:p>
                      <a:pPr marR="164465" algn="r">
                        <a:lnSpc>
                          <a:spcPts val="2045"/>
                        </a:lnSpc>
                      </a:pPr>
                      <a:r>
                        <a:rPr sz="1800" spc="-25" dirty="0">
                          <a:solidFill>
                            <a:srgbClr val="800080"/>
                          </a:solidFill>
                          <a:latin typeface="Arial MT"/>
                          <a:cs typeface="Arial MT"/>
                        </a:rPr>
                        <a:t>D10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2045"/>
                        </a:lnSpc>
                      </a:pPr>
                      <a:r>
                        <a:rPr sz="1800" spc="-20" dirty="0">
                          <a:solidFill>
                            <a:srgbClr val="800080"/>
                          </a:solidFill>
                          <a:latin typeface="Arial MT"/>
                          <a:cs typeface="Arial MT"/>
                        </a:rPr>
                        <a:t>Rain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R="366395" algn="r">
                        <a:lnSpc>
                          <a:spcPts val="2045"/>
                        </a:lnSpc>
                      </a:pPr>
                      <a:r>
                        <a:rPr sz="1800" spc="-20" dirty="0">
                          <a:solidFill>
                            <a:srgbClr val="800080"/>
                          </a:solidFill>
                          <a:latin typeface="Arial MT"/>
                          <a:cs typeface="Arial MT"/>
                        </a:rPr>
                        <a:t>Mild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R="233679" algn="r">
                        <a:lnSpc>
                          <a:spcPts val="2045"/>
                        </a:lnSpc>
                      </a:pPr>
                      <a:r>
                        <a:rPr sz="1800" spc="-10" dirty="0">
                          <a:solidFill>
                            <a:srgbClr val="800080"/>
                          </a:solidFill>
                          <a:latin typeface="Arial MT"/>
                          <a:cs typeface="Arial MT"/>
                        </a:rPr>
                        <a:t>Normal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R="226060" algn="r">
                        <a:lnSpc>
                          <a:spcPts val="2045"/>
                        </a:lnSpc>
                      </a:pPr>
                      <a:r>
                        <a:rPr sz="1800" spc="-10" dirty="0">
                          <a:solidFill>
                            <a:srgbClr val="800080"/>
                          </a:solidFill>
                          <a:latin typeface="Arial MT"/>
                          <a:cs typeface="Arial MT"/>
                        </a:rPr>
                        <a:t>Strong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045"/>
                        </a:lnSpc>
                      </a:pPr>
                      <a:r>
                        <a:rPr sz="1800" spc="-25" dirty="0">
                          <a:solidFill>
                            <a:srgbClr val="006600"/>
                          </a:solidFill>
                          <a:latin typeface="Arial MT"/>
                          <a:cs typeface="Arial MT"/>
                        </a:rPr>
                        <a:t>Yes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4645">
                <a:tc>
                  <a:txBody>
                    <a:bodyPr/>
                    <a:lstStyle/>
                    <a:p>
                      <a:pPr marR="172085" algn="r">
                        <a:lnSpc>
                          <a:spcPts val="2050"/>
                        </a:lnSpc>
                      </a:pPr>
                      <a:r>
                        <a:rPr sz="1800" spc="-25" dirty="0">
                          <a:solidFill>
                            <a:srgbClr val="800080"/>
                          </a:solidFill>
                          <a:latin typeface="Arial MT"/>
                          <a:cs typeface="Arial MT"/>
                        </a:rPr>
                        <a:t>D11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2050"/>
                        </a:lnSpc>
                      </a:pPr>
                      <a:r>
                        <a:rPr sz="1800" spc="-10" dirty="0">
                          <a:solidFill>
                            <a:srgbClr val="800080"/>
                          </a:solidFill>
                          <a:latin typeface="Arial MT"/>
                          <a:cs typeface="Arial MT"/>
                        </a:rPr>
                        <a:t>Sunny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R="366395" algn="r">
                        <a:lnSpc>
                          <a:spcPts val="2050"/>
                        </a:lnSpc>
                      </a:pPr>
                      <a:r>
                        <a:rPr sz="1800" spc="-20" dirty="0">
                          <a:solidFill>
                            <a:srgbClr val="800080"/>
                          </a:solidFill>
                          <a:latin typeface="Arial MT"/>
                          <a:cs typeface="Arial MT"/>
                        </a:rPr>
                        <a:t>Mild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R="233679" algn="r">
                        <a:lnSpc>
                          <a:spcPts val="2050"/>
                        </a:lnSpc>
                      </a:pPr>
                      <a:r>
                        <a:rPr sz="1800" spc="-10" dirty="0">
                          <a:solidFill>
                            <a:srgbClr val="800080"/>
                          </a:solidFill>
                          <a:latin typeface="Arial MT"/>
                          <a:cs typeface="Arial MT"/>
                        </a:rPr>
                        <a:t>Normal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R="226060" algn="r">
                        <a:lnSpc>
                          <a:spcPts val="2050"/>
                        </a:lnSpc>
                      </a:pPr>
                      <a:r>
                        <a:rPr sz="1800" spc="-10" dirty="0">
                          <a:solidFill>
                            <a:srgbClr val="800080"/>
                          </a:solidFill>
                          <a:latin typeface="Arial MT"/>
                          <a:cs typeface="Arial MT"/>
                        </a:rPr>
                        <a:t>Strong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050"/>
                        </a:lnSpc>
                      </a:pPr>
                      <a:r>
                        <a:rPr sz="1800" spc="-25" dirty="0">
                          <a:solidFill>
                            <a:srgbClr val="006600"/>
                          </a:solidFill>
                          <a:latin typeface="Arial MT"/>
                          <a:cs typeface="Arial MT"/>
                        </a:rPr>
                        <a:t>Yes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4645">
                <a:tc>
                  <a:txBody>
                    <a:bodyPr/>
                    <a:lstStyle/>
                    <a:p>
                      <a:pPr marR="165100" algn="r">
                        <a:lnSpc>
                          <a:spcPts val="2050"/>
                        </a:lnSpc>
                      </a:pPr>
                      <a:r>
                        <a:rPr sz="1800" spc="-25" dirty="0">
                          <a:solidFill>
                            <a:srgbClr val="800080"/>
                          </a:solidFill>
                          <a:latin typeface="Arial MT"/>
                          <a:cs typeface="Arial MT"/>
                        </a:rPr>
                        <a:t>D12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R="665480" algn="r">
                        <a:lnSpc>
                          <a:spcPts val="2050"/>
                        </a:lnSpc>
                      </a:pPr>
                      <a:r>
                        <a:rPr sz="1800" spc="-10" dirty="0">
                          <a:solidFill>
                            <a:srgbClr val="800080"/>
                          </a:solidFill>
                          <a:latin typeface="Arial MT"/>
                          <a:cs typeface="Arial MT"/>
                        </a:rPr>
                        <a:t>Overcast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R="365760" algn="r">
                        <a:lnSpc>
                          <a:spcPts val="2050"/>
                        </a:lnSpc>
                      </a:pPr>
                      <a:r>
                        <a:rPr sz="1800" spc="-20" dirty="0">
                          <a:solidFill>
                            <a:srgbClr val="800080"/>
                          </a:solidFill>
                          <a:latin typeface="Arial MT"/>
                          <a:cs typeface="Arial MT"/>
                        </a:rPr>
                        <a:t>Mild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375920">
                        <a:lnSpc>
                          <a:spcPts val="2050"/>
                        </a:lnSpc>
                      </a:pPr>
                      <a:r>
                        <a:rPr sz="1800" spc="-20" dirty="0">
                          <a:solidFill>
                            <a:srgbClr val="800080"/>
                          </a:solidFill>
                          <a:latin typeface="Arial MT"/>
                          <a:cs typeface="Arial MT"/>
                        </a:rPr>
                        <a:t>High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R="226060" algn="r">
                        <a:lnSpc>
                          <a:spcPts val="2050"/>
                        </a:lnSpc>
                      </a:pPr>
                      <a:r>
                        <a:rPr sz="1800" spc="-10" dirty="0">
                          <a:solidFill>
                            <a:srgbClr val="800080"/>
                          </a:solidFill>
                          <a:latin typeface="Arial MT"/>
                          <a:cs typeface="Arial MT"/>
                        </a:rPr>
                        <a:t>Strong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050"/>
                        </a:lnSpc>
                      </a:pPr>
                      <a:r>
                        <a:rPr sz="1800" spc="-25" dirty="0">
                          <a:solidFill>
                            <a:srgbClr val="006600"/>
                          </a:solidFill>
                          <a:latin typeface="Arial MT"/>
                          <a:cs typeface="Arial MT"/>
                        </a:rPr>
                        <a:t>Yes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4645">
                <a:tc>
                  <a:txBody>
                    <a:bodyPr/>
                    <a:lstStyle/>
                    <a:p>
                      <a:pPr marR="164465" algn="r">
                        <a:lnSpc>
                          <a:spcPts val="2050"/>
                        </a:lnSpc>
                      </a:pPr>
                      <a:r>
                        <a:rPr sz="1800" spc="-25" dirty="0">
                          <a:solidFill>
                            <a:srgbClr val="800080"/>
                          </a:solidFill>
                          <a:latin typeface="Arial MT"/>
                          <a:cs typeface="Arial MT"/>
                        </a:rPr>
                        <a:t>D13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R="665480" algn="r">
                        <a:lnSpc>
                          <a:spcPts val="2050"/>
                        </a:lnSpc>
                      </a:pPr>
                      <a:r>
                        <a:rPr sz="1800" spc="-10" dirty="0">
                          <a:solidFill>
                            <a:srgbClr val="800080"/>
                          </a:solidFill>
                          <a:latin typeface="Arial MT"/>
                          <a:cs typeface="Arial MT"/>
                        </a:rPr>
                        <a:t>Overcast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R="399415" algn="r">
                        <a:lnSpc>
                          <a:spcPts val="2050"/>
                        </a:lnSpc>
                      </a:pPr>
                      <a:r>
                        <a:rPr sz="1800" spc="-25" dirty="0">
                          <a:solidFill>
                            <a:srgbClr val="800080"/>
                          </a:solidFill>
                          <a:latin typeface="Arial MT"/>
                          <a:cs typeface="Arial MT"/>
                        </a:rPr>
                        <a:t>Hot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R="233679" algn="r">
                        <a:lnSpc>
                          <a:spcPts val="2050"/>
                        </a:lnSpc>
                      </a:pPr>
                      <a:r>
                        <a:rPr sz="1800" spc="-10" dirty="0">
                          <a:solidFill>
                            <a:srgbClr val="800080"/>
                          </a:solidFill>
                          <a:latin typeface="Arial MT"/>
                          <a:cs typeface="Arial MT"/>
                        </a:rPr>
                        <a:t>Normal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281940">
                        <a:lnSpc>
                          <a:spcPts val="2050"/>
                        </a:lnSpc>
                      </a:pPr>
                      <a:r>
                        <a:rPr sz="1800" spc="-20" dirty="0">
                          <a:solidFill>
                            <a:srgbClr val="800080"/>
                          </a:solidFill>
                          <a:latin typeface="Arial MT"/>
                          <a:cs typeface="Arial MT"/>
                        </a:rPr>
                        <a:t>Weak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050"/>
                        </a:lnSpc>
                      </a:pPr>
                      <a:r>
                        <a:rPr sz="1800" spc="-25" dirty="0">
                          <a:solidFill>
                            <a:srgbClr val="006600"/>
                          </a:solidFill>
                          <a:latin typeface="Arial MT"/>
                          <a:cs typeface="Arial MT"/>
                        </a:rPr>
                        <a:t>Yes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34645">
                <a:tc>
                  <a:txBody>
                    <a:bodyPr/>
                    <a:lstStyle/>
                    <a:p>
                      <a:pPr marR="164465" algn="r">
                        <a:lnSpc>
                          <a:spcPts val="2050"/>
                        </a:lnSpc>
                      </a:pPr>
                      <a:r>
                        <a:rPr sz="1800" spc="-25" dirty="0">
                          <a:solidFill>
                            <a:srgbClr val="800080"/>
                          </a:solidFill>
                          <a:latin typeface="Arial MT"/>
                          <a:cs typeface="Arial MT"/>
                        </a:rPr>
                        <a:t>D14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2050"/>
                        </a:lnSpc>
                      </a:pPr>
                      <a:r>
                        <a:rPr sz="1800" spc="-20" dirty="0">
                          <a:solidFill>
                            <a:srgbClr val="800080"/>
                          </a:solidFill>
                          <a:latin typeface="Arial MT"/>
                          <a:cs typeface="Arial MT"/>
                        </a:rPr>
                        <a:t>Rain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R="366395" algn="r">
                        <a:lnSpc>
                          <a:spcPts val="2050"/>
                        </a:lnSpc>
                      </a:pPr>
                      <a:r>
                        <a:rPr sz="1800" spc="-20" dirty="0">
                          <a:solidFill>
                            <a:srgbClr val="800080"/>
                          </a:solidFill>
                          <a:latin typeface="Arial MT"/>
                          <a:cs typeface="Arial MT"/>
                        </a:rPr>
                        <a:t>Mild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375920">
                        <a:lnSpc>
                          <a:spcPts val="2050"/>
                        </a:lnSpc>
                      </a:pPr>
                      <a:r>
                        <a:rPr sz="1800" spc="-20" dirty="0">
                          <a:solidFill>
                            <a:srgbClr val="800080"/>
                          </a:solidFill>
                          <a:latin typeface="Arial MT"/>
                          <a:cs typeface="Arial MT"/>
                        </a:rPr>
                        <a:t>High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R="226060" algn="r">
                        <a:lnSpc>
                          <a:spcPts val="2050"/>
                        </a:lnSpc>
                      </a:pPr>
                      <a:r>
                        <a:rPr sz="1800" spc="-10" dirty="0">
                          <a:solidFill>
                            <a:srgbClr val="800080"/>
                          </a:solidFill>
                          <a:latin typeface="Arial MT"/>
                          <a:cs typeface="Arial MT"/>
                        </a:rPr>
                        <a:t>Strong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2050"/>
                        </a:lnSpc>
                      </a:pPr>
                      <a:r>
                        <a:rPr sz="1800" spc="-25" dirty="0">
                          <a:solidFill>
                            <a:srgbClr val="006600"/>
                          </a:solidFill>
                          <a:latin typeface="Arial MT"/>
                          <a:cs typeface="Arial MT"/>
                        </a:rPr>
                        <a:t>No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66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2265" rIns="0" bIns="0" rtlCol="0">
            <a:spAutoFit/>
          </a:bodyPr>
          <a:lstStyle/>
          <a:p>
            <a:pPr marL="74295">
              <a:lnSpc>
                <a:spcPct val="100000"/>
              </a:lnSpc>
              <a:spcBef>
                <a:spcPts val="105"/>
              </a:spcBef>
            </a:pPr>
            <a:r>
              <a:rPr sz="4400" b="1" dirty="0">
                <a:latin typeface="Calibri"/>
                <a:cs typeface="Calibri"/>
              </a:rPr>
              <a:t>How</a:t>
            </a:r>
            <a:r>
              <a:rPr sz="4400" b="1" spc="-65" dirty="0">
                <a:latin typeface="Calibri"/>
                <a:cs typeface="Calibri"/>
              </a:rPr>
              <a:t> </a:t>
            </a:r>
            <a:r>
              <a:rPr sz="4400" b="1" dirty="0">
                <a:latin typeface="Calibri"/>
                <a:cs typeface="Calibri"/>
              </a:rPr>
              <a:t>do</a:t>
            </a:r>
            <a:r>
              <a:rPr sz="4400" b="1" spc="-35" dirty="0">
                <a:latin typeface="Calibri"/>
                <a:cs typeface="Calibri"/>
              </a:rPr>
              <a:t> </a:t>
            </a:r>
            <a:r>
              <a:rPr sz="4400" b="1" dirty="0">
                <a:latin typeface="Calibri"/>
                <a:cs typeface="Calibri"/>
              </a:rPr>
              <a:t>we</a:t>
            </a:r>
            <a:r>
              <a:rPr sz="4400" b="1" spc="-40" dirty="0">
                <a:latin typeface="Calibri"/>
                <a:cs typeface="Calibri"/>
              </a:rPr>
              <a:t> </a:t>
            </a:r>
            <a:r>
              <a:rPr sz="4400" b="1" dirty="0">
                <a:latin typeface="Calibri"/>
                <a:cs typeface="Calibri"/>
              </a:rPr>
              <a:t>choose</a:t>
            </a:r>
            <a:r>
              <a:rPr sz="4400" b="1" spc="-65" dirty="0">
                <a:latin typeface="Calibri"/>
                <a:cs typeface="Calibri"/>
              </a:rPr>
              <a:t> </a:t>
            </a:r>
            <a:r>
              <a:rPr sz="4400" b="1" dirty="0">
                <a:latin typeface="Calibri"/>
                <a:cs typeface="Calibri"/>
              </a:rPr>
              <a:t>the</a:t>
            </a:r>
            <a:r>
              <a:rPr sz="4400" b="1" spc="-55" dirty="0">
                <a:latin typeface="Calibri"/>
                <a:cs typeface="Calibri"/>
              </a:rPr>
              <a:t> </a:t>
            </a:r>
            <a:r>
              <a:rPr sz="4400" b="1" dirty="0">
                <a:latin typeface="Calibri"/>
                <a:cs typeface="Calibri"/>
              </a:rPr>
              <a:t>test</a:t>
            </a:r>
            <a:r>
              <a:rPr sz="4400" b="1" spc="-30" dirty="0">
                <a:latin typeface="Calibri"/>
                <a:cs typeface="Calibri"/>
              </a:rPr>
              <a:t> </a:t>
            </a:r>
            <a:r>
              <a:rPr sz="4400" b="1" spc="-60" dirty="0">
                <a:latin typeface="Calibri"/>
                <a:cs typeface="Calibri"/>
              </a:rPr>
              <a:t>?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47217" y="1354963"/>
            <a:ext cx="5408295" cy="1854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Which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attribute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should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test?</a:t>
            </a:r>
            <a:endParaRPr sz="2400">
              <a:latin typeface="Calibri"/>
              <a:cs typeface="Calibri"/>
            </a:endParaRPr>
          </a:p>
          <a:p>
            <a:pPr marL="12700" marR="1436370" algn="just">
              <a:lnSpc>
                <a:spcPct val="100000"/>
              </a:lnSpc>
              <a:spcBef>
                <a:spcPts val="2880"/>
              </a:spcBef>
            </a:pPr>
            <a:r>
              <a:rPr sz="2400" spc="-20" dirty="0">
                <a:latin typeface="Calibri"/>
                <a:cs typeface="Calibri"/>
              </a:rPr>
              <a:t>Intuitively,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you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would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prefer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separates</a:t>
            </a:r>
            <a:r>
              <a:rPr sz="2400" i="1" spc="4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training examples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much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possible.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4001" y="3362137"/>
            <a:ext cx="1547470" cy="266242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43726" y="1341374"/>
            <a:ext cx="1515390" cy="23622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62726" y="3784481"/>
            <a:ext cx="2310303" cy="219404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3850" y="3720910"/>
            <a:ext cx="2636322" cy="198932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3670" y="1113974"/>
            <a:ext cx="8296909" cy="181610"/>
            <a:chOff x="423670" y="1113974"/>
            <a:chExt cx="8296909" cy="181610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3670" y="1113974"/>
              <a:ext cx="8296659" cy="18149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57199" y="1143000"/>
              <a:ext cx="8229600" cy="76200"/>
            </a:xfrm>
            <a:custGeom>
              <a:avLst/>
              <a:gdLst/>
              <a:ahLst/>
              <a:cxnLst/>
              <a:rect l="l" t="t" r="r" b="b"/>
              <a:pathLst>
                <a:path w="8229600" h="76200">
                  <a:moveTo>
                    <a:pt x="0" y="76200"/>
                  </a:moveTo>
                  <a:lnTo>
                    <a:pt x="8229600" y="0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457200" y="6248400"/>
            <a:ext cx="8229600" cy="1905"/>
          </a:xfrm>
          <a:custGeom>
            <a:avLst/>
            <a:gdLst/>
            <a:ahLst/>
            <a:cxnLst/>
            <a:rect l="l" t="t" r="r" b="b"/>
            <a:pathLst>
              <a:path w="8229600" h="1904">
                <a:moveTo>
                  <a:pt x="0" y="0"/>
                </a:moveTo>
                <a:lnTo>
                  <a:pt x="8229600" y="1587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2265" rIns="0" bIns="0" rtlCol="0">
            <a:spAutoFit/>
          </a:bodyPr>
          <a:lstStyle/>
          <a:p>
            <a:pPr marL="74295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Im(purity)</a:t>
            </a:r>
            <a:r>
              <a:rPr sz="4400" spc="-35" dirty="0"/>
              <a:t> </a:t>
            </a:r>
            <a:r>
              <a:rPr sz="4400" spc="-10" dirty="0"/>
              <a:t>Measures</a:t>
            </a:r>
            <a:endParaRPr sz="4400"/>
          </a:p>
        </p:txBody>
      </p:sp>
      <p:sp>
        <p:nvSpPr>
          <p:cNvPr id="7" name="object 7"/>
          <p:cNvSpPr txBox="1"/>
          <p:nvPr/>
        </p:nvSpPr>
        <p:spPr>
          <a:xfrm>
            <a:off x="535940" y="1510258"/>
            <a:ext cx="7304405" cy="1794080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869"/>
              </a:spcBef>
              <a:buChar char="-"/>
              <a:tabLst>
                <a:tab pos="469900" algn="l"/>
              </a:tabLst>
            </a:pPr>
            <a:r>
              <a:rPr sz="3200" spc="-20" dirty="0">
                <a:latin typeface="Calibri"/>
                <a:cs typeface="Calibri"/>
              </a:rPr>
              <a:t>Gini</a:t>
            </a:r>
            <a:endParaRPr sz="3200" dirty="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770"/>
              </a:spcBef>
              <a:buFont typeface="Calibri"/>
              <a:buChar char="-"/>
              <a:tabLst>
                <a:tab pos="469900" algn="l"/>
              </a:tabLst>
            </a:pPr>
            <a:r>
              <a:rPr sz="3200" dirty="0">
                <a:latin typeface="Calibri"/>
                <a:cs typeface="Calibri"/>
              </a:rPr>
              <a:t>Information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gain/entropy</a:t>
            </a:r>
            <a:r>
              <a:rPr sz="3200" spc="-130" dirty="0">
                <a:latin typeface="Calibri"/>
                <a:cs typeface="Calibri"/>
              </a:rPr>
              <a:t> </a:t>
            </a:r>
            <a:endParaRPr lang="en-US" sz="3200" spc="-130" dirty="0" smtClean="0">
              <a:latin typeface="Calibri"/>
              <a:cs typeface="Calibri"/>
            </a:endParaRPr>
          </a:p>
          <a:p>
            <a:pPr marL="469900" indent="-457200">
              <a:spcBef>
                <a:spcPts val="770"/>
              </a:spcBef>
              <a:buFont typeface="Calibri"/>
              <a:buChar char="-"/>
              <a:tabLst>
                <a:tab pos="469900" algn="l"/>
              </a:tabLst>
            </a:pPr>
            <a:r>
              <a:rPr sz="3200" spc="-20" dirty="0" smtClean="0">
                <a:latin typeface="Calibri"/>
                <a:cs typeface="Calibri"/>
              </a:rPr>
              <a:t>Chi-</a:t>
            </a:r>
            <a:r>
              <a:rPr sz="3200" dirty="0" smtClean="0">
                <a:latin typeface="Calibri"/>
                <a:cs typeface="Calibri"/>
              </a:rPr>
              <a:t>square</a:t>
            </a:r>
            <a:r>
              <a:rPr sz="3200" spc="-80" dirty="0" smtClean="0">
                <a:latin typeface="Calibri"/>
                <a:cs typeface="Calibri"/>
              </a:rPr>
              <a:t> </a:t>
            </a:r>
            <a:r>
              <a:rPr sz="3200" spc="-20" dirty="0" smtClean="0">
                <a:latin typeface="Calibri"/>
                <a:cs typeface="Calibri"/>
              </a:rPr>
              <a:t>test</a:t>
            </a:r>
            <a:r>
              <a:rPr lang="en-US" sz="3200" spc="-20" dirty="0" smtClean="0">
                <a:latin typeface="Calibri"/>
                <a:cs typeface="Calibri"/>
              </a:rPr>
              <a:t> </a:t>
            </a:r>
            <a:r>
              <a:rPr lang="en-US" sz="3200" b="1" spc="-10" dirty="0" smtClean="0">
                <a:latin typeface="Calibri"/>
                <a:cs typeface="Calibri"/>
              </a:rPr>
              <a:t>(HOMEWORK)</a:t>
            </a:r>
            <a:endParaRPr lang="en-US" sz="3200" dirty="0" smtClean="0">
              <a:latin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4064" y="132664"/>
            <a:ext cx="8060335" cy="615553"/>
          </a:xfrm>
        </p:spPr>
        <p:txBody>
          <a:bodyPr/>
          <a:lstStyle/>
          <a:p>
            <a:r>
              <a:rPr lang="en-US" dirty="0"/>
              <a:t>Gini </a:t>
            </a:r>
            <a:r>
              <a:rPr lang="en-US" dirty="0" smtClean="0"/>
              <a:t>for </a:t>
            </a:r>
            <a:r>
              <a:rPr lang="en-US" dirty="0"/>
              <a:t>Binary Classification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425324"/>
            <a:ext cx="4358640" cy="677108"/>
          </a:xfrm>
        </p:spPr>
        <p:txBody>
          <a:bodyPr/>
          <a:lstStyle/>
          <a:p>
            <a:r>
              <a:rPr lang="en-US" b="1" dirty="0"/>
              <a:t>For Two Classes (Yes/No, Cat/Dog):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1488" y="1900956"/>
            <a:ext cx="4041112" cy="10842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662263"/>
            <a:ext cx="3962400" cy="2306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9163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81000" y="228600"/>
            <a:ext cx="69342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b="1" dirty="0" smtClean="0">
                <a:solidFill>
                  <a:srgbClr val="0F1115"/>
                </a:solidFill>
                <a:effectLst/>
                <a:latin typeface="quote-cjk-patch"/>
              </a:rPr>
              <a:t>2. DISTRIBUTION TABLES FOR EACH ATTRIBUTE</a:t>
            </a:r>
          </a:p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990600"/>
            <a:ext cx="8628675" cy="271483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4038600"/>
            <a:ext cx="8337177" cy="236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88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57200"/>
            <a:ext cx="8651468" cy="4934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539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4065" y="132664"/>
            <a:ext cx="6757314" cy="615553"/>
          </a:xfrm>
        </p:spPr>
        <p:txBody>
          <a:bodyPr/>
          <a:lstStyle/>
          <a:p>
            <a:r>
              <a:rPr lang="en-US" dirty="0"/>
              <a:t>ROOT NODE SELECTION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065" y="1371600"/>
            <a:ext cx="4358640" cy="677108"/>
          </a:xfrm>
        </p:spPr>
        <p:txBody>
          <a:bodyPr/>
          <a:lstStyle/>
          <a:p>
            <a:r>
              <a:rPr lang="en-US" b="1" dirty="0"/>
              <a:t>Step 1: Calculate Root Gini</a:t>
            </a:r>
          </a:p>
          <a:p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371600" y="2362200"/>
            <a:ext cx="54102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dirty="0" smtClean="0"/>
              <a:t>Total: 14 (9Y, 5N)</a:t>
            </a:r>
          </a:p>
          <a:p>
            <a:endParaRPr lang="es-ES" dirty="0" smtClean="0"/>
          </a:p>
          <a:p>
            <a:r>
              <a:rPr lang="es-ES" dirty="0" err="1" smtClean="0"/>
              <a:t>p_Y</a:t>
            </a:r>
            <a:r>
              <a:rPr lang="es-ES" dirty="0" smtClean="0"/>
              <a:t> =  9/14  = 0.6429</a:t>
            </a:r>
          </a:p>
          <a:p>
            <a:r>
              <a:rPr lang="es-ES" dirty="0" err="1" smtClean="0"/>
              <a:t>p_N</a:t>
            </a:r>
            <a:r>
              <a:rPr lang="es-ES" dirty="0" smtClean="0"/>
              <a:t> =  5/14  = 0.3571</a:t>
            </a:r>
          </a:p>
          <a:p>
            <a:endParaRPr lang="es-ES" dirty="0" smtClean="0"/>
          </a:p>
          <a:p>
            <a:r>
              <a:rPr lang="es-ES" dirty="0" err="1" smtClean="0"/>
              <a:t>Gini_root</a:t>
            </a:r>
            <a:r>
              <a:rPr lang="es-ES" dirty="0" smtClean="0"/>
              <a:t> = 1 - (0.6429² + 0.3571²)</a:t>
            </a:r>
          </a:p>
          <a:p>
            <a:r>
              <a:rPr lang="es-ES" dirty="0" smtClean="0"/>
              <a:t>          = 1 - (0.4133 + 0.1276)</a:t>
            </a:r>
          </a:p>
          <a:p>
            <a:r>
              <a:rPr lang="es-ES" dirty="0" smtClean="0"/>
              <a:t>          = 1 - 0.5409 = 0.4591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0618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4064" y="132664"/>
            <a:ext cx="8669935" cy="984885"/>
          </a:xfrm>
        </p:spPr>
        <p:txBody>
          <a:bodyPr/>
          <a:lstStyle/>
          <a:p>
            <a:r>
              <a:rPr lang="en-US" sz="3200" b="1" dirty="0"/>
              <a:t>ROOT NODE SELECTION WITH ALL 4 FEATURES</a:t>
            </a:r>
            <a:br>
              <a:rPr lang="en-US" sz="3200" b="1" dirty="0"/>
            </a:b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8351" y="1447800"/>
            <a:ext cx="4358640" cy="677108"/>
          </a:xfrm>
        </p:spPr>
        <p:txBody>
          <a:bodyPr/>
          <a:lstStyle/>
          <a:p>
            <a:r>
              <a:rPr lang="en-US" b="1" dirty="0"/>
              <a:t>Root Gini = 0.4591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2143958"/>
            <a:ext cx="4114801" cy="341163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r="3839"/>
          <a:stretch/>
        </p:blipFill>
        <p:spPr>
          <a:xfrm>
            <a:off x="4648200" y="2124908"/>
            <a:ext cx="4191246" cy="3379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626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4064" y="132664"/>
            <a:ext cx="8669935" cy="984885"/>
          </a:xfrm>
        </p:spPr>
        <p:txBody>
          <a:bodyPr/>
          <a:lstStyle/>
          <a:p>
            <a:r>
              <a:rPr lang="en-US" sz="3200" b="1" dirty="0"/>
              <a:t>ROOT NODE SELECTION WITH ALL 4 FEATURES</a:t>
            </a:r>
            <a:br>
              <a:rPr lang="en-US" sz="3200" b="1" dirty="0"/>
            </a:b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8351" y="1447800"/>
            <a:ext cx="4358640" cy="677108"/>
          </a:xfrm>
        </p:spPr>
        <p:txBody>
          <a:bodyPr/>
          <a:lstStyle/>
          <a:p>
            <a:r>
              <a:rPr lang="en-US" b="1" dirty="0"/>
              <a:t>Root Gini = 0.4591</a:t>
            </a:r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350" y="2286000"/>
            <a:ext cx="3739199" cy="31242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2286000"/>
            <a:ext cx="3823648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363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4065" y="132664"/>
            <a:ext cx="6757314" cy="1231106"/>
          </a:xfrm>
        </p:spPr>
        <p:txBody>
          <a:bodyPr/>
          <a:lstStyle/>
          <a:p>
            <a:r>
              <a:rPr lang="en-US" b="1" dirty="0"/>
              <a:t>Comparison Table for Root:</a:t>
            </a:r>
            <a:br>
              <a:rPr lang="en-US" b="1" dirty="0"/>
            </a:b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965" y="1600200"/>
            <a:ext cx="8501554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581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438400"/>
            <a:ext cx="8441335" cy="1846659"/>
          </a:xfrm>
        </p:spPr>
        <p:txBody>
          <a:bodyPr/>
          <a:lstStyle/>
          <a:p>
            <a:r>
              <a:rPr lang="en-US" b="1" dirty="0"/>
              <a:t>SECOND LEVEL SPLITS WITH CROSS-TABLES</a:t>
            </a:r>
            <a:br>
              <a:rPr lang="en-US" b="1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10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4065" y="132664"/>
            <a:ext cx="6757314" cy="1231106"/>
          </a:xfrm>
        </p:spPr>
        <p:txBody>
          <a:bodyPr/>
          <a:lstStyle/>
          <a:p>
            <a:r>
              <a:rPr lang="en-US" b="1" dirty="0"/>
              <a:t>Cross-Distribution Tables:</a:t>
            </a:r>
            <a:br>
              <a:rPr lang="en-US" b="1" dirty="0"/>
            </a:b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065" y="1363770"/>
            <a:ext cx="6154009" cy="229584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3886200"/>
            <a:ext cx="6323274" cy="2238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159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4065" y="132664"/>
            <a:ext cx="6757314" cy="1231106"/>
          </a:xfrm>
        </p:spPr>
        <p:txBody>
          <a:bodyPr/>
          <a:lstStyle/>
          <a:p>
            <a:r>
              <a:rPr lang="en-US" b="1" dirty="0"/>
              <a:t>Cross-Distribution Tables:</a:t>
            </a:r>
            <a:br>
              <a:rPr lang="en-US" b="1" dirty="0"/>
            </a:b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064" y="1676400"/>
            <a:ext cx="7177315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657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4064" y="132664"/>
            <a:ext cx="8669935" cy="1477328"/>
          </a:xfrm>
        </p:spPr>
        <p:txBody>
          <a:bodyPr/>
          <a:lstStyle/>
          <a:p>
            <a:r>
              <a:rPr lang="en-US" sz="3200" b="1" dirty="0" smtClean="0"/>
              <a:t>SECOND LEVEL NODE </a:t>
            </a:r>
            <a:r>
              <a:rPr lang="en-US" sz="3200" b="1" dirty="0"/>
              <a:t>SELECTION WITH </a:t>
            </a:r>
            <a:r>
              <a:rPr lang="en-US" sz="3200" b="1" dirty="0" smtClean="0"/>
              <a:t>REMAINING 4 FEATURES – Branch 1</a:t>
            </a:r>
            <a:r>
              <a:rPr lang="en-US" sz="3200" b="1" dirty="0"/>
              <a:t>: </a:t>
            </a:r>
            <a:r>
              <a:rPr lang="en-US" sz="3200" b="1" dirty="0" smtClean="0"/>
              <a:t>Sunny (</a:t>
            </a:r>
            <a:r>
              <a:rPr lang="en-US" sz="3200" b="1" dirty="0"/>
              <a:t>5 days, 2Y, 3N) </a:t>
            </a:r>
            <a:br>
              <a:rPr lang="en-US" sz="3200" b="1" dirty="0"/>
            </a:b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8351" y="1447800"/>
            <a:ext cx="4358640" cy="677108"/>
          </a:xfrm>
        </p:spPr>
        <p:txBody>
          <a:bodyPr/>
          <a:lstStyle/>
          <a:p>
            <a:r>
              <a:rPr lang="en-US" b="1" dirty="0" smtClean="0"/>
              <a:t>Sunny Current </a:t>
            </a:r>
            <a:r>
              <a:rPr lang="en-US" b="1" dirty="0"/>
              <a:t>Gini = </a:t>
            </a:r>
            <a:r>
              <a:rPr lang="en-US" b="1" dirty="0" smtClean="0"/>
              <a:t>0.48</a:t>
            </a:r>
            <a:endParaRPr lang="en-US" b="1" dirty="0"/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036" y="2673161"/>
            <a:ext cx="3762964" cy="220363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600" y="2695271"/>
            <a:ext cx="3733800" cy="2198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522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4064" y="132664"/>
            <a:ext cx="8669935" cy="1477328"/>
          </a:xfrm>
        </p:spPr>
        <p:txBody>
          <a:bodyPr/>
          <a:lstStyle/>
          <a:p>
            <a:r>
              <a:rPr lang="en-US" sz="3200" b="1" dirty="0"/>
              <a:t>SECOND LEVEL NODE SELECTION WITH REMAINING 4 FEATURES – Branch 1: Sunny (5 days, 2Y, 3N)</a:t>
            </a:r>
            <a:br>
              <a:rPr lang="en-US" sz="3200" b="1" dirty="0"/>
            </a:b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8351" y="1447800"/>
            <a:ext cx="4358640" cy="677108"/>
          </a:xfrm>
        </p:spPr>
        <p:txBody>
          <a:bodyPr/>
          <a:lstStyle/>
          <a:p>
            <a:r>
              <a:rPr lang="en-US" b="1" dirty="0" smtClean="0"/>
              <a:t>Sunny Current </a:t>
            </a:r>
            <a:r>
              <a:rPr lang="en-US" b="1" dirty="0"/>
              <a:t>Gini = </a:t>
            </a:r>
            <a:r>
              <a:rPr lang="en-US" b="1" dirty="0" smtClean="0"/>
              <a:t>0.48</a:t>
            </a:r>
            <a:endParaRPr lang="en-US" b="1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802" y="2344516"/>
            <a:ext cx="4124901" cy="219105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07802" y="5562600"/>
            <a:ext cx="78265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0" dirty="0" smtClean="0">
                <a:solidFill>
                  <a:srgbClr val="FF0000"/>
                </a:solidFill>
                <a:effectLst/>
                <a:latin typeface="quote-cjk-patch"/>
              </a:rPr>
              <a:t>Decision for Sunny Branch:</a:t>
            </a:r>
            <a:r>
              <a:rPr lang="en-US" b="0" i="0" dirty="0" smtClean="0">
                <a:solidFill>
                  <a:srgbClr val="FF0000"/>
                </a:solidFill>
                <a:effectLst/>
                <a:latin typeface="quote-cjk-patch"/>
              </a:rPr>
              <a:t> Split by </a:t>
            </a:r>
            <a:r>
              <a:rPr lang="en-US" b="1" i="0" dirty="0" smtClean="0">
                <a:solidFill>
                  <a:srgbClr val="FF0000"/>
                </a:solidFill>
                <a:effectLst/>
                <a:latin typeface="quote-cjk-patch"/>
              </a:rPr>
              <a:t>Humidity</a:t>
            </a:r>
            <a:r>
              <a:rPr lang="en-US" b="0" i="0" dirty="0" smtClean="0">
                <a:solidFill>
                  <a:srgbClr val="FF0000"/>
                </a:solidFill>
                <a:effectLst/>
                <a:latin typeface="quote-cjk-patch"/>
              </a:rPr>
              <a:t> (Max Gain = 0.48)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7056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4064" y="132664"/>
            <a:ext cx="8669935" cy="984885"/>
          </a:xfrm>
        </p:spPr>
        <p:txBody>
          <a:bodyPr/>
          <a:lstStyle/>
          <a:p>
            <a:r>
              <a:rPr lang="en-US" sz="3200" b="1" dirty="0"/>
              <a:t>SECOND LEVEL NODE SELECTION WITH REMAINING 4 FEATURES – Branch 2: Overcast (4 days, 4Y, 0N)</a:t>
            </a: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8351" y="1447800"/>
            <a:ext cx="4358640" cy="1692771"/>
          </a:xfrm>
        </p:spPr>
        <p:txBody>
          <a:bodyPr/>
          <a:lstStyle/>
          <a:p>
            <a:r>
              <a:rPr lang="en-US" b="1" dirty="0" smtClean="0"/>
              <a:t>Overcast Current </a:t>
            </a:r>
            <a:r>
              <a:rPr lang="en-US" b="1" dirty="0"/>
              <a:t>Gini = 0</a:t>
            </a:r>
            <a:endParaRPr lang="en-US" b="1" dirty="0" smtClean="0"/>
          </a:p>
          <a:p>
            <a:endParaRPr lang="en-US" b="1" dirty="0"/>
          </a:p>
          <a:p>
            <a:r>
              <a:rPr lang="en-US" dirty="0"/>
              <a:t/>
            </a:r>
            <a:br>
              <a:rPr lang="en-US" dirty="0"/>
            </a:br>
            <a:endParaRPr lang="en-US" b="1" dirty="0"/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066800" y="2971800"/>
            <a:ext cx="782659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Decision: LEAF NODE = "Yes" (Always play when overcast)</a:t>
            </a:r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3642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4064" y="132664"/>
            <a:ext cx="8669935" cy="984885"/>
          </a:xfrm>
        </p:spPr>
        <p:txBody>
          <a:bodyPr/>
          <a:lstStyle/>
          <a:p>
            <a:r>
              <a:rPr lang="en-US" sz="3200" b="1" dirty="0"/>
              <a:t>SECOND LEVEL NODE SELECTION WITH REMAINING 4 FEATURES – Branch </a:t>
            </a:r>
            <a:r>
              <a:rPr lang="en-US" sz="3200" b="1" dirty="0" smtClean="0"/>
              <a:t>3</a:t>
            </a:r>
            <a:r>
              <a:rPr lang="en-US" sz="3200" b="1" dirty="0"/>
              <a:t>: RAINY (5 days, 3Y, </a:t>
            </a:r>
            <a:r>
              <a:rPr lang="en-US" sz="3200" b="1" dirty="0" smtClean="0"/>
              <a:t>2N)</a:t>
            </a: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8351" y="1447800"/>
            <a:ext cx="4358640" cy="1354217"/>
          </a:xfrm>
        </p:spPr>
        <p:txBody>
          <a:bodyPr/>
          <a:lstStyle/>
          <a:p>
            <a:r>
              <a:rPr lang="en-US" b="1" dirty="0" smtClean="0"/>
              <a:t>Raining Current </a:t>
            </a:r>
            <a:r>
              <a:rPr lang="en-US" b="1" dirty="0"/>
              <a:t>Gini = </a:t>
            </a:r>
            <a:r>
              <a:rPr lang="en-US" b="1" dirty="0" smtClean="0"/>
              <a:t>0.48</a:t>
            </a:r>
            <a:endParaRPr lang="en-US" b="1" dirty="0"/>
          </a:p>
          <a:p>
            <a:r>
              <a:rPr lang="en-US" dirty="0"/>
              <a:t/>
            </a:r>
            <a:br>
              <a:rPr lang="en-US" dirty="0"/>
            </a:br>
            <a:endParaRPr lang="en-US" b="1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064" y="2124908"/>
            <a:ext cx="4048690" cy="256258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1821" y="2124908"/>
            <a:ext cx="4352178" cy="2380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725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4064" y="132664"/>
            <a:ext cx="8669935" cy="984885"/>
          </a:xfrm>
        </p:spPr>
        <p:txBody>
          <a:bodyPr/>
          <a:lstStyle/>
          <a:p>
            <a:r>
              <a:rPr lang="en-US" sz="3200" b="1" dirty="0"/>
              <a:t>SECOND LEVEL NODE SELECTION WITH REMAINING 4 FEATURES – Branch </a:t>
            </a:r>
            <a:r>
              <a:rPr lang="en-US" sz="3200" b="1" dirty="0" smtClean="0"/>
              <a:t>3</a:t>
            </a:r>
            <a:r>
              <a:rPr lang="en-US" sz="3200" b="1" dirty="0"/>
              <a:t>: RAINY (5 days, 3Y, </a:t>
            </a:r>
            <a:r>
              <a:rPr lang="en-US" sz="3200" b="1" dirty="0" smtClean="0"/>
              <a:t>2N)</a:t>
            </a: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8351" y="1447800"/>
            <a:ext cx="4358640" cy="1354217"/>
          </a:xfrm>
        </p:spPr>
        <p:txBody>
          <a:bodyPr/>
          <a:lstStyle/>
          <a:p>
            <a:r>
              <a:rPr lang="en-US" b="1" dirty="0" smtClean="0"/>
              <a:t>Raining Current </a:t>
            </a:r>
            <a:r>
              <a:rPr lang="en-US" b="1" dirty="0"/>
              <a:t>Gini = </a:t>
            </a:r>
            <a:r>
              <a:rPr lang="en-US" b="1" dirty="0" smtClean="0"/>
              <a:t>0.48</a:t>
            </a:r>
            <a:endParaRPr lang="en-US" b="1" dirty="0"/>
          </a:p>
          <a:p>
            <a:r>
              <a:rPr lang="en-US" dirty="0"/>
              <a:t/>
            </a:r>
            <a:br>
              <a:rPr lang="en-US" dirty="0"/>
            </a:br>
            <a:endParaRPr lang="en-US" b="1" dirty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064" y="2012924"/>
            <a:ext cx="4174136" cy="254124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066800" y="5119296"/>
            <a:ext cx="6858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0" dirty="0" smtClean="0">
                <a:solidFill>
                  <a:srgbClr val="FF0000"/>
                </a:solidFill>
                <a:effectLst/>
                <a:latin typeface="quote-cjk-patch"/>
              </a:rPr>
              <a:t>Decision for Rainy Branch:</a:t>
            </a:r>
            <a:r>
              <a:rPr lang="en-US" b="0" i="0" dirty="0" smtClean="0">
                <a:solidFill>
                  <a:srgbClr val="FF0000"/>
                </a:solidFill>
                <a:effectLst/>
                <a:latin typeface="quote-cjk-patch"/>
              </a:rPr>
              <a:t> Split by </a:t>
            </a:r>
            <a:r>
              <a:rPr lang="en-US" b="1" i="0" dirty="0" smtClean="0">
                <a:solidFill>
                  <a:srgbClr val="FF0000"/>
                </a:solidFill>
                <a:effectLst/>
                <a:latin typeface="quote-cjk-patch"/>
              </a:rPr>
              <a:t>Windy</a:t>
            </a:r>
            <a:r>
              <a:rPr lang="en-US" b="0" i="0" dirty="0" smtClean="0">
                <a:solidFill>
                  <a:srgbClr val="FF0000"/>
                </a:solidFill>
                <a:effectLst/>
                <a:latin typeface="quote-cjk-patch"/>
              </a:rPr>
              <a:t> (Max Gain = 0.48)</a:t>
            </a:r>
            <a:r>
              <a:rPr lang="en-US" dirty="0" smtClean="0">
                <a:solidFill>
                  <a:srgbClr val="FF0000"/>
                </a:solidFill>
              </a:rPr>
              <a:t/>
            </a:r>
            <a:br>
              <a:rPr lang="en-US" dirty="0" smtClean="0">
                <a:solidFill>
                  <a:srgbClr val="FF0000"/>
                </a:solidFill>
              </a:rPr>
            </a:b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0537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62200" y="2743200"/>
            <a:ext cx="4876800" cy="615553"/>
          </a:xfrm>
        </p:spPr>
        <p:txBody>
          <a:bodyPr/>
          <a:lstStyle/>
          <a:p>
            <a:r>
              <a:rPr lang="en-US" b="1" dirty="0" smtClean="0"/>
              <a:t>Third </a:t>
            </a:r>
            <a:r>
              <a:rPr lang="en-US" b="1" dirty="0"/>
              <a:t>LEVEL </a:t>
            </a:r>
            <a:r>
              <a:rPr lang="en-US" b="1" dirty="0" smtClean="0"/>
              <a:t>SPLITS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8689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4065" y="132664"/>
            <a:ext cx="6757314" cy="1231106"/>
          </a:xfrm>
        </p:spPr>
        <p:txBody>
          <a:bodyPr/>
          <a:lstStyle/>
          <a:p>
            <a:r>
              <a:rPr lang="en-US" b="1" dirty="0"/>
              <a:t>THIRD LEVEL SPLITS (If needed)</a:t>
            </a:r>
            <a:br>
              <a:rPr lang="en-US" b="1" dirty="0"/>
            </a:b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286000"/>
            <a:ext cx="4096322" cy="165758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2286000"/>
            <a:ext cx="4010585" cy="1819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833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2265" rIns="0" bIns="0" rtlCol="0">
            <a:spAutoFit/>
          </a:bodyPr>
          <a:lstStyle/>
          <a:p>
            <a:pPr marL="74295">
              <a:lnSpc>
                <a:spcPct val="100000"/>
              </a:lnSpc>
              <a:spcBef>
                <a:spcPts val="105"/>
              </a:spcBef>
            </a:pPr>
            <a:r>
              <a:rPr sz="4400" b="1" spc="-135" dirty="0">
                <a:latin typeface="Calibri"/>
                <a:cs typeface="Calibri"/>
              </a:rPr>
              <a:t>To</a:t>
            </a:r>
            <a:r>
              <a:rPr sz="4400" b="1" spc="-75" dirty="0">
                <a:latin typeface="Calibri"/>
                <a:cs typeface="Calibri"/>
              </a:rPr>
              <a:t> </a:t>
            </a:r>
            <a:r>
              <a:rPr sz="4400" b="1" dirty="0">
                <a:latin typeface="Calibri"/>
                <a:cs typeface="Calibri"/>
              </a:rPr>
              <a:t>‘play</a:t>
            </a:r>
            <a:r>
              <a:rPr sz="4400" b="1" spc="-75" dirty="0">
                <a:latin typeface="Calibri"/>
                <a:cs typeface="Calibri"/>
              </a:rPr>
              <a:t> </a:t>
            </a:r>
            <a:r>
              <a:rPr sz="4400" b="1" dirty="0">
                <a:latin typeface="Calibri"/>
                <a:cs typeface="Calibri"/>
              </a:rPr>
              <a:t>tennis’</a:t>
            </a:r>
            <a:r>
              <a:rPr sz="4400" b="1" spc="-105" dirty="0">
                <a:latin typeface="Calibri"/>
                <a:cs typeface="Calibri"/>
              </a:rPr>
              <a:t> </a:t>
            </a:r>
            <a:r>
              <a:rPr sz="4400" b="1" dirty="0">
                <a:latin typeface="Calibri"/>
                <a:cs typeface="Calibri"/>
              </a:rPr>
              <a:t>or</a:t>
            </a:r>
            <a:r>
              <a:rPr sz="4400" b="1" spc="-80" dirty="0">
                <a:latin typeface="Calibri"/>
                <a:cs typeface="Calibri"/>
              </a:rPr>
              <a:t> </a:t>
            </a:r>
            <a:r>
              <a:rPr sz="4400" b="1" spc="-20" dirty="0">
                <a:latin typeface="Calibri"/>
                <a:cs typeface="Calibri"/>
              </a:rPr>
              <a:t>not.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12670" y="2628391"/>
            <a:ext cx="104266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Times New Roman"/>
                <a:cs typeface="Times New Roman"/>
              </a:rPr>
              <a:t>overcast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9349" y="4509896"/>
            <a:ext cx="5676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Times New Roman"/>
                <a:cs typeface="Times New Roman"/>
              </a:rPr>
              <a:t>high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33525" y="4509896"/>
            <a:ext cx="88709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Times New Roman"/>
                <a:cs typeface="Times New Roman"/>
              </a:rPr>
              <a:t>normal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47538" y="4524247"/>
            <a:ext cx="6013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Times New Roman"/>
                <a:cs typeface="Times New Roman"/>
              </a:rPr>
              <a:t>false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98111" y="4538598"/>
            <a:ext cx="5003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Times New Roman"/>
                <a:cs typeface="Times New Roman"/>
              </a:rPr>
              <a:t>true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008062" y="2008251"/>
            <a:ext cx="3645535" cy="787400"/>
            <a:chOff x="1008062" y="2008251"/>
            <a:chExt cx="3645535" cy="787400"/>
          </a:xfrm>
        </p:grpSpPr>
        <p:sp>
          <p:nvSpPr>
            <p:cNvPr id="9" name="object 9"/>
            <p:cNvSpPr/>
            <p:nvPr/>
          </p:nvSpPr>
          <p:spPr>
            <a:xfrm>
              <a:off x="1370075" y="2014601"/>
              <a:ext cx="3276600" cy="698500"/>
            </a:xfrm>
            <a:custGeom>
              <a:avLst/>
              <a:gdLst/>
              <a:ahLst/>
              <a:cxnLst/>
              <a:rect l="l" t="t" r="r" b="b"/>
              <a:pathLst>
                <a:path w="3276600" h="698500">
                  <a:moveTo>
                    <a:pt x="968375" y="0"/>
                  </a:moveTo>
                  <a:lnTo>
                    <a:pt x="0" y="457200"/>
                  </a:lnTo>
                </a:path>
                <a:path w="3276600" h="698500">
                  <a:moveTo>
                    <a:pt x="1525524" y="152400"/>
                  </a:moveTo>
                  <a:lnTo>
                    <a:pt x="1524000" y="698500"/>
                  </a:lnTo>
                </a:path>
                <a:path w="3276600" h="698500">
                  <a:moveTo>
                    <a:pt x="1905000" y="0"/>
                  </a:moveTo>
                  <a:lnTo>
                    <a:pt x="3276600" y="5334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14412" y="2319401"/>
              <a:ext cx="925830" cy="469900"/>
            </a:xfrm>
            <a:custGeom>
              <a:avLst/>
              <a:gdLst/>
              <a:ahLst/>
              <a:cxnLst/>
              <a:rect l="l" t="t" r="r" b="b"/>
              <a:pathLst>
                <a:path w="925830" h="469900">
                  <a:moveTo>
                    <a:pt x="0" y="469900"/>
                  </a:moveTo>
                  <a:lnTo>
                    <a:pt x="925512" y="469900"/>
                  </a:lnTo>
                  <a:lnTo>
                    <a:pt x="925512" y="0"/>
                  </a:lnTo>
                  <a:lnTo>
                    <a:pt x="0" y="0"/>
                  </a:lnTo>
                  <a:lnTo>
                    <a:pt x="0" y="46990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099515" y="2342515"/>
            <a:ext cx="753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Times New Roman"/>
                <a:cs typeface="Times New Roman"/>
              </a:rPr>
              <a:t>sunny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606290" y="2494915"/>
            <a:ext cx="5003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Times New Roman"/>
                <a:cs typeface="Times New Roman"/>
              </a:rPr>
              <a:t>rain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74650" y="3381311"/>
            <a:ext cx="1762760" cy="1214755"/>
            <a:chOff x="374650" y="3381311"/>
            <a:chExt cx="1762760" cy="1214755"/>
          </a:xfrm>
        </p:grpSpPr>
        <p:sp>
          <p:nvSpPr>
            <p:cNvPr id="14" name="object 14"/>
            <p:cNvSpPr/>
            <p:nvPr/>
          </p:nvSpPr>
          <p:spPr>
            <a:xfrm>
              <a:off x="411162" y="4073524"/>
              <a:ext cx="1550035" cy="516255"/>
            </a:xfrm>
            <a:custGeom>
              <a:avLst/>
              <a:gdLst/>
              <a:ahLst/>
              <a:cxnLst/>
              <a:rect l="l" t="t" r="r" b="b"/>
              <a:pathLst>
                <a:path w="1550035" h="516254">
                  <a:moveTo>
                    <a:pt x="493712" y="0"/>
                  </a:moveTo>
                  <a:lnTo>
                    <a:pt x="0" y="516000"/>
                  </a:lnTo>
                </a:path>
                <a:path w="1550035" h="516254">
                  <a:moveTo>
                    <a:pt x="1128712" y="45974"/>
                  </a:moveTo>
                  <a:lnTo>
                    <a:pt x="1549463" y="469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79412" y="3386073"/>
              <a:ext cx="1753235" cy="838200"/>
            </a:xfrm>
            <a:custGeom>
              <a:avLst/>
              <a:gdLst/>
              <a:ahLst/>
              <a:cxnLst/>
              <a:rect l="l" t="t" r="r" b="b"/>
              <a:pathLst>
                <a:path w="1753235" h="838200">
                  <a:moveTo>
                    <a:pt x="876300" y="0"/>
                  </a:moveTo>
                  <a:lnTo>
                    <a:pt x="0" y="419100"/>
                  </a:lnTo>
                  <a:lnTo>
                    <a:pt x="876300" y="838200"/>
                  </a:lnTo>
                  <a:lnTo>
                    <a:pt x="1752663" y="419100"/>
                  </a:lnTo>
                  <a:lnTo>
                    <a:pt x="8763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79412" y="3386073"/>
              <a:ext cx="1753235" cy="838200"/>
            </a:xfrm>
            <a:custGeom>
              <a:avLst/>
              <a:gdLst/>
              <a:ahLst/>
              <a:cxnLst/>
              <a:rect l="l" t="t" r="r" b="b"/>
              <a:pathLst>
                <a:path w="1753235" h="838200">
                  <a:moveTo>
                    <a:pt x="0" y="419100"/>
                  </a:moveTo>
                  <a:lnTo>
                    <a:pt x="876300" y="0"/>
                  </a:lnTo>
                  <a:lnTo>
                    <a:pt x="1752663" y="419100"/>
                  </a:lnTo>
                  <a:lnTo>
                    <a:pt x="876300" y="838200"/>
                  </a:lnTo>
                  <a:lnTo>
                    <a:pt x="0" y="4191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/>
          <p:nvPr/>
        </p:nvSpPr>
        <p:spPr>
          <a:xfrm>
            <a:off x="361950" y="4957698"/>
            <a:ext cx="0" cy="405130"/>
          </a:xfrm>
          <a:custGeom>
            <a:avLst/>
            <a:gdLst/>
            <a:ahLst/>
            <a:cxnLst/>
            <a:rect l="l" t="t" r="r" b="b"/>
            <a:pathLst>
              <a:path h="405129">
                <a:moveTo>
                  <a:pt x="0" y="0"/>
                </a:moveTo>
                <a:lnTo>
                  <a:pt x="0" y="404875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746750" y="4911725"/>
            <a:ext cx="0" cy="440055"/>
          </a:xfrm>
          <a:custGeom>
            <a:avLst/>
            <a:gdLst/>
            <a:ahLst/>
            <a:cxnLst/>
            <a:rect l="l" t="t" r="r" b="b"/>
            <a:pathLst>
              <a:path h="440054">
                <a:moveTo>
                  <a:pt x="0" y="0"/>
                </a:moveTo>
                <a:lnTo>
                  <a:pt x="0" y="4398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448175" y="4927600"/>
            <a:ext cx="0" cy="434975"/>
          </a:xfrm>
          <a:custGeom>
            <a:avLst/>
            <a:gdLst/>
            <a:ahLst/>
            <a:cxnLst/>
            <a:rect l="l" t="t" r="r" b="b"/>
            <a:pathLst>
              <a:path h="434975">
                <a:moveTo>
                  <a:pt x="0" y="0"/>
                </a:moveTo>
                <a:lnTo>
                  <a:pt x="0" y="434975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976501" y="4927600"/>
            <a:ext cx="0" cy="434975"/>
          </a:xfrm>
          <a:custGeom>
            <a:avLst/>
            <a:gdLst/>
            <a:ahLst/>
            <a:cxnLst/>
            <a:rect l="l" t="t" r="r" b="b"/>
            <a:pathLst>
              <a:path h="434975">
                <a:moveTo>
                  <a:pt x="0" y="0"/>
                </a:moveTo>
                <a:lnTo>
                  <a:pt x="0" y="434975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833751" y="3022600"/>
            <a:ext cx="0" cy="440055"/>
          </a:xfrm>
          <a:custGeom>
            <a:avLst/>
            <a:gdLst/>
            <a:ahLst/>
            <a:cxnLst/>
            <a:rect l="l" t="t" r="r" b="b"/>
            <a:pathLst>
              <a:path h="440054">
                <a:moveTo>
                  <a:pt x="0" y="0"/>
                </a:moveTo>
                <a:lnTo>
                  <a:pt x="0" y="4398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2" name="object 22"/>
          <p:cNvGrpSpPr/>
          <p:nvPr/>
        </p:nvGrpSpPr>
        <p:grpSpPr>
          <a:xfrm>
            <a:off x="4108513" y="3533711"/>
            <a:ext cx="1762125" cy="1076960"/>
            <a:chOff x="4108513" y="3533711"/>
            <a:chExt cx="1762125" cy="1076960"/>
          </a:xfrm>
        </p:grpSpPr>
        <p:sp>
          <p:nvSpPr>
            <p:cNvPr id="23" name="object 23"/>
            <p:cNvSpPr/>
            <p:nvPr/>
          </p:nvSpPr>
          <p:spPr>
            <a:xfrm>
              <a:off x="4341876" y="4224273"/>
              <a:ext cx="1352550" cy="379730"/>
            </a:xfrm>
            <a:custGeom>
              <a:avLst/>
              <a:gdLst/>
              <a:ahLst/>
              <a:cxnLst/>
              <a:rect l="l" t="t" r="r" b="b"/>
              <a:pathLst>
                <a:path w="1352550" h="379729">
                  <a:moveTo>
                    <a:pt x="304800" y="0"/>
                  </a:moveTo>
                  <a:lnTo>
                    <a:pt x="0" y="379475"/>
                  </a:lnTo>
                </a:path>
                <a:path w="1352550" h="379729">
                  <a:moveTo>
                    <a:pt x="1143000" y="0"/>
                  </a:moveTo>
                  <a:lnTo>
                    <a:pt x="1352550" y="3048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113276" y="3538473"/>
              <a:ext cx="1752600" cy="838200"/>
            </a:xfrm>
            <a:custGeom>
              <a:avLst/>
              <a:gdLst/>
              <a:ahLst/>
              <a:cxnLst/>
              <a:rect l="l" t="t" r="r" b="b"/>
              <a:pathLst>
                <a:path w="1752600" h="838200">
                  <a:moveTo>
                    <a:pt x="876300" y="0"/>
                  </a:moveTo>
                  <a:lnTo>
                    <a:pt x="0" y="419100"/>
                  </a:lnTo>
                  <a:lnTo>
                    <a:pt x="876300" y="838200"/>
                  </a:lnTo>
                  <a:lnTo>
                    <a:pt x="1752600" y="419100"/>
                  </a:lnTo>
                  <a:lnTo>
                    <a:pt x="8763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113276" y="3538473"/>
              <a:ext cx="1752600" cy="838200"/>
            </a:xfrm>
            <a:custGeom>
              <a:avLst/>
              <a:gdLst/>
              <a:ahLst/>
              <a:cxnLst/>
              <a:rect l="l" t="t" r="r" b="b"/>
              <a:pathLst>
                <a:path w="1752600" h="838200">
                  <a:moveTo>
                    <a:pt x="0" y="419100"/>
                  </a:moveTo>
                  <a:lnTo>
                    <a:pt x="876300" y="0"/>
                  </a:lnTo>
                  <a:lnTo>
                    <a:pt x="1752600" y="419100"/>
                  </a:lnTo>
                  <a:lnTo>
                    <a:pt x="876300" y="838200"/>
                  </a:lnTo>
                  <a:lnTo>
                    <a:pt x="0" y="4191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74612" y="5362575"/>
            <a:ext cx="576580" cy="476250"/>
          </a:xfrm>
          <a:prstGeom prst="rect">
            <a:avLst/>
          </a:prstGeom>
          <a:solidFill>
            <a:srgbClr val="C0504D"/>
          </a:solidFill>
          <a:ln w="19050">
            <a:solidFill>
              <a:srgbClr val="000000"/>
            </a:solidFill>
          </a:ln>
        </p:spPr>
        <p:txBody>
          <a:bodyPr vert="horz" wrap="square" lIns="0" tIns="36195" rIns="0" bIns="0" rtlCol="0">
            <a:spAutoFit/>
          </a:bodyPr>
          <a:lstStyle/>
          <a:p>
            <a:pPr marL="101600">
              <a:lnSpc>
                <a:spcPct val="100000"/>
              </a:lnSpc>
              <a:spcBef>
                <a:spcPts val="285"/>
              </a:spcBef>
            </a:pPr>
            <a:r>
              <a:rPr sz="2400" b="1" spc="-25" dirty="0">
                <a:latin typeface="Times New Roman"/>
                <a:cs typeface="Times New Roman"/>
              </a:rPr>
              <a:t>No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159250" y="5362575"/>
            <a:ext cx="576580" cy="476250"/>
          </a:xfrm>
          <a:prstGeom prst="rect">
            <a:avLst/>
          </a:prstGeom>
          <a:solidFill>
            <a:srgbClr val="C0504D"/>
          </a:solidFill>
          <a:ln w="19050">
            <a:solidFill>
              <a:srgbClr val="000000"/>
            </a:solidFill>
          </a:ln>
        </p:spPr>
        <p:txBody>
          <a:bodyPr vert="horz" wrap="square" lIns="0" tIns="36195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285"/>
              </a:spcBef>
            </a:pPr>
            <a:r>
              <a:rPr sz="2400" b="1" spc="-25" dirty="0">
                <a:latin typeface="Times New Roman"/>
                <a:cs typeface="Times New Roman"/>
              </a:rPr>
              <a:t>No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639951" y="5362575"/>
            <a:ext cx="671830" cy="469900"/>
          </a:xfrm>
          <a:prstGeom prst="rect">
            <a:avLst/>
          </a:prstGeom>
          <a:solidFill>
            <a:srgbClr val="FFCC00"/>
          </a:solidFill>
          <a:ln w="12700">
            <a:solidFill>
              <a:srgbClr val="000000"/>
            </a:solidFill>
          </a:ln>
        </p:spPr>
        <p:txBody>
          <a:bodyPr vert="horz" wrap="square" lIns="0" tIns="36195" rIns="0" bIns="0" rtlCol="0">
            <a:spAutoFit/>
          </a:bodyPr>
          <a:lstStyle/>
          <a:p>
            <a:pPr marL="115570">
              <a:lnSpc>
                <a:spcPct val="100000"/>
              </a:lnSpc>
              <a:spcBef>
                <a:spcPts val="285"/>
              </a:spcBef>
            </a:pPr>
            <a:r>
              <a:rPr sz="2400" b="1" spc="-25" dirty="0">
                <a:latin typeface="Times New Roman"/>
                <a:cs typeface="Times New Roman"/>
              </a:rPr>
              <a:t>Yes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411851" y="5362575"/>
            <a:ext cx="671830" cy="469900"/>
          </a:xfrm>
          <a:prstGeom prst="rect">
            <a:avLst/>
          </a:prstGeom>
          <a:solidFill>
            <a:srgbClr val="FFCC00"/>
          </a:solidFill>
          <a:ln w="12700">
            <a:solidFill>
              <a:srgbClr val="000000"/>
            </a:solidFill>
          </a:ln>
        </p:spPr>
        <p:txBody>
          <a:bodyPr vert="horz" wrap="square" lIns="0" tIns="36195" rIns="0" bIns="0" rtlCol="0">
            <a:spAutoFit/>
          </a:bodyPr>
          <a:lstStyle/>
          <a:p>
            <a:pPr marL="116205">
              <a:lnSpc>
                <a:spcPct val="100000"/>
              </a:lnSpc>
              <a:spcBef>
                <a:spcPts val="285"/>
              </a:spcBef>
            </a:pPr>
            <a:r>
              <a:rPr sz="2400" b="1" spc="-25" dirty="0">
                <a:latin typeface="Times New Roman"/>
                <a:cs typeface="Times New Roman"/>
              </a:rPr>
              <a:t>Yes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498725" y="3522726"/>
            <a:ext cx="671830" cy="469900"/>
          </a:xfrm>
          <a:prstGeom prst="rect">
            <a:avLst/>
          </a:prstGeom>
          <a:solidFill>
            <a:srgbClr val="FFCC00"/>
          </a:solidFill>
          <a:ln w="12700">
            <a:solidFill>
              <a:srgbClr val="000000"/>
            </a:solidFill>
          </a:ln>
        </p:spPr>
        <p:txBody>
          <a:bodyPr vert="horz" wrap="square" lIns="0" tIns="36194" rIns="0" bIns="0" rtlCol="0">
            <a:spAutoFit/>
          </a:bodyPr>
          <a:lstStyle/>
          <a:p>
            <a:pPr marL="114935">
              <a:lnSpc>
                <a:spcPct val="100000"/>
              </a:lnSpc>
              <a:spcBef>
                <a:spcPts val="284"/>
              </a:spcBef>
            </a:pPr>
            <a:r>
              <a:rPr sz="2400" b="1" spc="-25" dirty="0">
                <a:latin typeface="Times New Roman"/>
                <a:cs typeface="Times New Roman"/>
              </a:rPr>
              <a:t>Yes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1990788" y="1358963"/>
            <a:ext cx="1762125" cy="847725"/>
            <a:chOff x="1990788" y="1358963"/>
            <a:chExt cx="1762125" cy="847725"/>
          </a:xfrm>
        </p:grpSpPr>
        <p:sp>
          <p:nvSpPr>
            <p:cNvPr id="32" name="object 32"/>
            <p:cNvSpPr/>
            <p:nvPr/>
          </p:nvSpPr>
          <p:spPr>
            <a:xfrm>
              <a:off x="1995551" y="1363725"/>
              <a:ext cx="1752600" cy="838200"/>
            </a:xfrm>
            <a:custGeom>
              <a:avLst/>
              <a:gdLst/>
              <a:ahLst/>
              <a:cxnLst/>
              <a:rect l="l" t="t" r="r" b="b"/>
              <a:pathLst>
                <a:path w="1752600" h="838200">
                  <a:moveTo>
                    <a:pt x="876300" y="0"/>
                  </a:moveTo>
                  <a:lnTo>
                    <a:pt x="0" y="419100"/>
                  </a:lnTo>
                  <a:lnTo>
                    <a:pt x="876300" y="838200"/>
                  </a:lnTo>
                  <a:lnTo>
                    <a:pt x="1752600" y="419100"/>
                  </a:lnTo>
                  <a:lnTo>
                    <a:pt x="8763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995551" y="1363725"/>
              <a:ext cx="1752600" cy="838200"/>
            </a:xfrm>
            <a:custGeom>
              <a:avLst/>
              <a:gdLst/>
              <a:ahLst/>
              <a:cxnLst/>
              <a:rect l="l" t="t" r="r" b="b"/>
              <a:pathLst>
                <a:path w="1752600" h="838200">
                  <a:moveTo>
                    <a:pt x="0" y="419100"/>
                  </a:moveTo>
                  <a:lnTo>
                    <a:pt x="876300" y="0"/>
                  </a:lnTo>
                  <a:lnTo>
                    <a:pt x="1752600" y="419100"/>
                  </a:lnTo>
                  <a:lnTo>
                    <a:pt x="876300" y="838200"/>
                  </a:lnTo>
                  <a:lnTo>
                    <a:pt x="0" y="4191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2363470" y="1580134"/>
            <a:ext cx="10248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Times New Roman"/>
                <a:cs typeface="Times New Roman"/>
              </a:rPr>
              <a:t>Outlook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86816" y="3561715"/>
            <a:ext cx="11918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Times New Roman"/>
                <a:cs typeface="Times New Roman"/>
              </a:rPr>
              <a:t>Humidity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497451" y="3790315"/>
            <a:ext cx="8401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Times New Roman"/>
                <a:cs typeface="Times New Roman"/>
              </a:rPr>
              <a:t>Windy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1293875" y="2700401"/>
            <a:ext cx="0" cy="609600"/>
          </a:xfrm>
          <a:custGeom>
            <a:avLst/>
            <a:gdLst/>
            <a:ahLst/>
            <a:cxnLst/>
            <a:rect l="l" t="t" r="r" b="b"/>
            <a:pathLst>
              <a:path h="609600">
                <a:moveTo>
                  <a:pt x="0" y="0"/>
                </a:moveTo>
                <a:lnTo>
                  <a:pt x="0" y="6096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951476" y="2852801"/>
            <a:ext cx="0" cy="685800"/>
          </a:xfrm>
          <a:custGeom>
            <a:avLst/>
            <a:gdLst/>
            <a:ahLst/>
            <a:cxnLst/>
            <a:rect l="l" t="t" r="r" b="b"/>
            <a:pathLst>
              <a:path h="685800">
                <a:moveTo>
                  <a:pt x="0" y="0"/>
                </a:moveTo>
                <a:lnTo>
                  <a:pt x="0" y="6858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3930777" y="1368678"/>
            <a:ext cx="519366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25065" algn="l"/>
              </a:tabLst>
            </a:pPr>
            <a:r>
              <a:rPr sz="1800" b="1" dirty="0">
                <a:latin typeface="Arial"/>
                <a:cs typeface="Arial"/>
              </a:rPr>
              <a:t>(Outlook</a:t>
            </a:r>
            <a:r>
              <a:rPr sz="1800" b="1" spc="-7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==overcast)</a:t>
            </a:r>
            <a:r>
              <a:rPr sz="1800" b="1" dirty="0">
                <a:latin typeface="Arial"/>
                <a:cs typeface="Arial"/>
              </a:rPr>
              <a:t>	</a:t>
            </a:r>
            <a:r>
              <a:rPr sz="1800" b="1" spc="-10" dirty="0">
                <a:latin typeface="Arial"/>
                <a:cs typeface="Arial"/>
              </a:rPr>
              <a:t>-</a:t>
            </a:r>
            <a:r>
              <a:rPr sz="1800" b="1" dirty="0">
                <a:latin typeface="Arial"/>
                <a:cs typeface="Arial"/>
              </a:rPr>
              <a:t>&gt;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25" dirty="0">
                <a:latin typeface="Arial"/>
                <a:cs typeface="Arial"/>
              </a:rPr>
              <a:t>yes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(Outlook==rain)</a:t>
            </a:r>
            <a:r>
              <a:rPr sz="1800" b="1" spc="-6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and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(not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Windy==True)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-</a:t>
            </a:r>
            <a:r>
              <a:rPr sz="1800" b="1" spc="-20" dirty="0">
                <a:latin typeface="Arial"/>
                <a:cs typeface="Arial"/>
              </a:rPr>
              <a:t>&gt;yes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(Outlook==sunny)</a:t>
            </a:r>
            <a:r>
              <a:rPr sz="1800" b="1" spc="-5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and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(Humidity=normal)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-</a:t>
            </a:r>
            <a:r>
              <a:rPr sz="1800" b="1" spc="-20" dirty="0">
                <a:latin typeface="Arial"/>
                <a:cs typeface="Arial"/>
              </a:rPr>
              <a:t>&gt;yes</a:t>
            </a:r>
            <a:endParaRPr sz="18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30849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3670" y="1113974"/>
            <a:ext cx="8296909" cy="181610"/>
            <a:chOff x="423670" y="1113974"/>
            <a:chExt cx="8296909" cy="1816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3670" y="1113974"/>
              <a:ext cx="8296659" cy="18149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57199" y="1143000"/>
              <a:ext cx="8229600" cy="76200"/>
            </a:xfrm>
            <a:custGeom>
              <a:avLst/>
              <a:gdLst/>
              <a:ahLst/>
              <a:cxnLst/>
              <a:rect l="l" t="t" r="r" b="b"/>
              <a:pathLst>
                <a:path w="8229600" h="76200">
                  <a:moveTo>
                    <a:pt x="0" y="76200"/>
                  </a:moveTo>
                  <a:lnTo>
                    <a:pt x="8229600" y="0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457200" y="6248400"/>
            <a:ext cx="8229600" cy="1905"/>
          </a:xfrm>
          <a:custGeom>
            <a:avLst/>
            <a:gdLst/>
            <a:ahLst/>
            <a:cxnLst/>
            <a:rect l="l" t="t" r="r" b="b"/>
            <a:pathLst>
              <a:path w="8229600" h="1904">
                <a:moveTo>
                  <a:pt x="0" y="0"/>
                </a:moveTo>
                <a:lnTo>
                  <a:pt x="8229600" y="1587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35940" y="461594"/>
            <a:ext cx="18014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" dirty="0"/>
              <a:t>Entropy</a:t>
            </a:r>
            <a:endParaRPr sz="4400"/>
          </a:p>
        </p:txBody>
      </p:sp>
      <p:sp>
        <p:nvSpPr>
          <p:cNvPr id="7" name="object 7"/>
          <p:cNvSpPr txBox="1"/>
          <p:nvPr/>
        </p:nvSpPr>
        <p:spPr>
          <a:xfrm>
            <a:off x="475589" y="1823971"/>
            <a:ext cx="7251700" cy="185864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675"/>
              </a:spcBef>
            </a:pPr>
            <a:r>
              <a:rPr sz="2400" dirty="0">
                <a:latin typeface="Tahoma"/>
                <a:cs typeface="Tahoma"/>
              </a:rPr>
              <a:t>Entropy</a:t>
            </a:r>
            <a:r>
              <a:rPr sz="2400" spc="-5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measures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the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amount</a:t>
            </a:r>
            <a:r>
              <a:rPr sz="2400" spc="-5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of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b="1" spc="-10" dirty="0">
                <a:latin typeface="Tahoma"/>
                <a:cs typeface="Tahoma"/>
              </a:rPr>
              <a:t>uncertainty</a:t>
            </a:r>
            <a:endParaRPr sz="2400">
              <a:latin typeface="Tahoma"/>
              <a:cs typeface="Tahoma"/>
            </a:endParaRPr>
          </a:p>
          <a:p>
            <a:pPr marL="335915">
              <a:lnSpc>
                <a:spcPct val="100000"/>
              </a:lnSpc>
              <a:spcBef>
                <a:spcPts val="580"/>
              </a:spcBef>
            </a:pPr>
            <a:r>
              <a:rPr sz="2400" dirty="0">
                <a:latin typeface="Tahoma"/>
                <a:cs typeface="Tahoma"/>
              </a:rPr>
              <a:t>in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probability</a:t>
            </a:r>
            <a:r>
              <a:rPr sz="2400" spc="-5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distribution</a:t>
            </a:r>
            <a:endParaRPr sz="2400">
              <a:latin typeface="Tahoma"/>
              <a:cs typeface="Tahoma"/>
            </a:endParaRPr>
          </a:p>
          <a:p>
            <a:pPr marL="979805" algn="ctr">
              <a:lnSpc>
                <a:spcPct val="100000"/>
              </a:lnSpc>
              <a:spcBef>
                <a:spcPts val="1870"/>
              </a:spcBef>
            </a:pPr>
            <a:r>
              <a:rPr sz="2200" i="1" dirty="0">
                <a:latin typeface="Times New Roman"/>
                <a:cs typeface="Times New Roman"/>
              </a:rPr>
              <a:t>H</a:t>
            </a:r>
            <a:r>
              <a:rPr sz="2200" i="1" spc="-22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(</a:t>
            </a:r>
            <a:r>
              <a:rPr sz="2200" spc="-305" dirty="0">
                <a:latin typeface="Times New Roman"/>
                <a:cs typeface="Times New Roman"/>
              </a:rPr>
              <a:t> </a:t>
            </a:r>
            <a:r>
              <a:rPr sz="2200" i="1" spc="-20" dirty="0">
                <a:latin typeface="Times New Roman"/>
                <a:cs typeface="Times New Roman"/>
              </a:rPr>
              <a:t>X</a:t>
            </a:r>
            <a:r>
              <a:rPr sz="2200" i="1" spc="-1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) </a:t>
            </a:r>
            <a:r>
              <a:rPr sz="2200" dirty="0">
                <a:latin typeface="Symbol"/>
                <a:cs typeface="Symbol"/>
              </a:rPr>
              <a:t></a:t>
            </a:r>
            <a:r>
              <a:rPr sz="2200" spc="75" dirty="0">
                <a:latin typeface="Times New Roman"/>
                <a:cs typeface="Times New Roman"/>
              </a:rPr>
              <a:t> </a:t>
            </a:r>
            <a:r>
              <a:rPr sz="2200" i="1" spc="75" dirty="0">
                <a:latin typeface="Times New Roman"/>
                <a:cs typeface="Times New Roman"/>
              </a:rPr>
              <a:t>E</a:t>
            </a:r>
            <a:r>
              <a:rPr sz="2200" spc="75" dirty="0">
                <a:latin typeface="Times New Roman"/>
                <a:cs typeface="Times New Roman"/>
              </a:rPr>
              <a:t>(</a:t>
            </a:r>
            <a:r>
              <a:rPr sz="2200" i="1" spc="75" dirty="0">
                <a:latin typeface="Times New Roman"/>
                <a:cs typeface="Times New Roman"/>
              </a:rPr>
              <a:t>I</a:t>
            </a:r>
            <a:r>
              <a:rPr sz="2200" i="1" spc="-26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(</a:t>
            </a:r>
            <a:r>
              <a:rPr sz="2200" spc="-310" dirty="0">
                <a:latin typeface="Times New Roman"/>
                <a:cs typeface="Times New Roman"/>
              </a:rPr>
              <a:t> </a:t>
            </a:r>
            <a:r>
              <a:rPr sz="2200" i="1" spc="-20" dirty="0">
                <a:latin typeface="Times New Roman"/>
                <a:cs typeface="Times New Roman"/>
              </a:rPr>
              <a:t>X</a:t>
            </a:r>
            <a:r>
              <a:rPr sz="2200" i="1" spc="-1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))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Symbol"/>
                <a:cs typeface="Symbol"/>
              </a:rPr>
              <a:t>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4950" baseline="-8417" dirty="0">
                <a:latin typeface="Symbol"/>
                <a:cs typeface="Symbol"/>
              </a:rPr>
              <a:t></a:t>
            </a:r>
            <a:r>
              <a:rPr sz="4950" spc="-337" baseline="-8417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p</a:t>
            </a:r>
            <a:r>
              <a:rPr sz="2200" dirty="0">
                <a:latin typeface="Times New Roman"/>
                <a:cs typeface="Times New Roman"/>
              </a:rPr>
              <a:t>(</a:t>
            </a:r>
            <a:r>
              <a:rPr sz="2200" i="1" dirty="0">
                <a:latin typeface="Times New Roman"/>
                <a:cs typeface="Times New Roman"/>
              </a:rPr>
              <a:t>x</a:t>
            </a:r>
            <a:r>
              <a:rPr sz="1875" i="1" baseline="-24444" dirty="0">
                <a:latin typeface="Times New Roman"/>
                <a:cs typeface="Times New Roman"/>
              </a:rPr>
              <a:t>i</a:t>
            </a:r>
            <a:r>
              <a:rPr sz="1875" i="1" spc="-22" baseline="-24444" dirty="0">
                <a:latin typeface="Times New Roman"/>
                <a:cs typeface="Times New Roman"/>
              </a:rPr>
              <a:t> </a:t>
            </a:r>
            <a:r>
              <a:rPr sz="2200" spc="50" dirty="0">
                <a:latin typeface="Times New Roman"/>
                <a:cs typeface="Times New Roman"/>
              </a:rPr>
              <a:t>)</a:t>
            </a:r>
            <a:r>
              <a:rPr sz="2200" i="1" spc="50" dirty="0">
                <a:latin typeface="Times New Roman"/>
                <a:cs typeface="Times New Roman"/>
              </a:rPr>
              <a:t>I</a:t>
            </a:r>
            <a:r>
              <a:rPr sz="2200" i="1" spc="-2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</a:t>
            </a:r>
            <a:r>
              <a:rPr sz="2200" i="1" dirty="0">
                <a:latin typeface="Times New Roman"/>
                <a:cs typeface="Times New Roman"/>
              </a:rPr>
              <a:t>x</a:t>
            </a:r>
            <a:r>
              <a:rPr sz="1875" i="1" baseline="-24444" dirty="0">
                <a:latin typeface="Times New Roman"/>
                <a:cs typeface="Times New Roman"/>
              </a:rPr>
              <a:t>i</a:t>
            </a:r>
            <a:r>
              <a:rPr sz="1875" i="1" spc="-37" baseline="-2444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)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Symbol"/>
                <a:cs typeface="Symbol"/>
              </a:rPr>
              <a:t>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Symbol"/>
                <a:cs typeface="Symbol"/>
              </a:rPr>
              <a:t></a:t>
            </a:r>
            <a:r>
              <a:rPr sz="4950" baseline="-8417" dirty="0">
                <a:latin typeface="Symbol"/>
                <a:cs typeface="Symbol"/>
              </a:rPr>
              <a:t></a:t>
            </a:r>
            <a:r>
              <a:rPr sz="4950" spc="-345" baseline="-8417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p</a:t>
            </a:r>
            <a:r>
              <a:rPr sz="2200" dirty="0">
                <a:latin typeface="Times New Roman"/>
                <a:cs typeface="Times New Roman"/>
              </a:rPr>
              <a:t>(</a:t>
            </a:r>
            <a:r>
              <a:rPr sz="2200" i="1" dirty="0">
                <a:latin typeface="Times New Roman"/>
                <a:cs typeface="Times New Roman"/>
              </a:rPr>
              <a:t>x</a:t>
            </a:r>
            <a:r>
              <a:rPr sz="1875" i="1" baseline="-24444" dirty="0">
                <a:latin typeface="Times New Roman"/>
                <a:cs typeface="Times New Roman"/>
              </a:rPr>
              <a:t>i</a:t>
            </a:r>
            <a:r>
              <a:rPr sz="1875" i="1" spc="-44" baseline="-24444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)</a:t>
            </a:r>
            <a:r>
              <a:rPr sz="2200" spc="-2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log</a:t>
            </a:r>
            <a:r>
              <a:rPr sz="1875" baseline="-24444" dirty="0">
                <a:latin typeface="Times New Roman"/>
                <a:cs typeface="Times New Roman"/>
              </a:rPr>
              <a:t>2</a:t>
            </a:r>
            <a:r>
              <a:rPr sz="1875" spc="150" baseline="-24444" dirty="0">
                <a:latin typeface="Times New Roman"/>
                <a:cs typeface="Times New Roman"/>
              </a:rPr>
              <a:t>  </a:t>
            </a:r>
            <a:r>
              <a:rPr sz="2200" i="1" dirty="0">
                <a:latin typeface="Times New Roman"/>
                <a:cs typeface="Times New Roman"/>
              </a:rPr>
              <a:t>p</a:t>
            </a:r>
            <a:r>
              <a:rPr sz="2200" dirty="0">
                <a:latin typeface="Times New Roman"/>
                <a:cs typeface="Times New Roman"/>
              </a:rPr>
              <a:t>(</a:t>
            </a:r>
            <a:r>
              <a:rPr sz="2200" i="1" dirty="0">
                <a:latin typeface="Times New Roman"/>
                <a:cs typeface="Times New Roman"/>
              </a:rPr>
              <a:t>x</a:t>
            </a:r>
            <a:r>
              <a:rPr sz="1875" i="1" baseline="-24444" dirty="0">
                <a:latin typeface="Times New Roman"/>
                <a:cs typeface="Times New Roman"/>
              </a:rPr>
              <a:t>i</a:t>
            </a:r>
            <a:r>
              <a:rPr sz="1875" i="1" spc="-44" baseline="-24444" dirty="0">
                <a:latin typeface="Times New Roman"/>
                <a:cs typeface="Times New Roman"/>
              </a:rPr>
              <a:t> </a:t>
            </a:r>
            <a:r>
              <a:rPr sz="2200" spc="-50" dirty="0">
                <a:latin typeface="Times New Roman"/>
                <a:cs typeface="Times New Roman"/>
              </a:rPr>
              <a:t>)</a:t>
            </a:r>
            <a:endParaRPr sz="2200">
              <a:latin typeface="Times New Roman"/>
              <a:cs typeface="Times New Roman"/>
            </a:endParaRPr>
          </a:p>
          <a:p>
            <a:pPr marL="3348990">
              <a:lnSpc>
                <a:spcPct val="100000"/>
              </a:lnSpc>
              <a:spcBef>
                <a:spcPts val="180"/>
              </a:spcBef>
              <a:tabLst>
                <a:tab pos="5263515" algn="l"/>
              </a:tabLst>
            </a:pPr>
            <a:r>
              <a:rPr sz="1250" i="1" spc="-50" dirty="0">
                <a:latin typeface="Times New Roman"/>
                <a:cs typeface="Times New Roman"/>
              </a:rPr>
              <a:t>i</a:t>
            </a:r>
            <a:r>
              <a:rPr sz="1250" i="1" dirty="0">
                <a:latin typeface="Times New Roman"/>
                <a:cs typeface="Times New Roman"/>
              </a:rPr>
              <a:t>	</a:t>
            </a:r>
            <a:r>
              <a:rPr sz="1250" i="1" spc="-50" dirty="0">
                <a:latin typeface="Times New Roman"/>
                <a:cs typeface="Times New Roman"/>
              </a:rPr>
              <a:t>i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23670" y="4211119"/>
            <a:ext cx="36343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For binary classification (Yes/No):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1436687" y="5108954"/>
            <a:ext cx="629060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dirty="0" err="1" smtClean="0"/>
              <a:t>Entropy</a:t>
            </a:r>
            <a:r>
              <a:rPr lang="es-ES" dirty="0" smtClean="0"/>
              <a:t> = -[</a:t>
            </a:r>
            <a:r>
              <a:rPr lang="es-ES" dirty="0" err="1" smtClean="0"/>
              <a:t>p_Y</a:t>
            </a:r>
            <a:r>
              <a:rPr lang="es-ES" dirty="0" smtClean="0"/>
              <a:t> × log₂(</a:t>
            </a:r>
            <a:r>
              <a:rPr lang="es-ES" dirty="0" err="1" smtClean="0"/>
              <a:t>p_Y</a:t>
            </a:r>
            <a:r>
              <a:rPr lang="es-ES" dirty="0" smtClean="0"/>
              <a:t>) + </a:t>
            </a:r>
            <a:r>
              <a:rPr lang="es-ES" dirty="0" err="1" smtClean="0"/>
              <a:t>p_N</a:t>
            </a:r>
            <a:r>
              <a:rPr lang="es-ES" dirty="0" smtClean="0"/>
              <a:t> × log₂(</a:t>
            </a:r>
            <a:r>
              <a:rPr lang="es-ES" dirty="0" err="1" smtClean="0"/>
              <a:t>p_N</a:t>
            </a:r>
            <a:r>
              <a:rPr lang="es-ES" dirty="0" smtClean="0"/>
              <a:t>)]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838200" y="5660649"/>
            <a:ext cx="7467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Entropy ranges from 0 bits (pure) to 1 bit (50/50 mix for 2 classes)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3670" y="1113974"/>
            <a:ext cx="8296909" cy="181610"/>
            <a:chOff x="423670" y="1113974"/>
            <a:chExt cx="8296909" cy="1816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3670" y="1113974"/>
              <a:ext cx="8296659" cy="18149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57199" y="1143000"/>
              <a:ext cx="8229600" cy="76200"/>
            </a:xfrm>
            <a:custGeom>
              <a:avLst/>
              <a:gdLst/>
              <a:ahLst/>
              <a:cxnLst/>
              <a:rect l="l" t="t" r="r" b="b"/>
              <a:pathLst>
                <a:path w="8229600" h="76200">
                  <a:moveTo>
                    <a:pt x="0" y="76200"/>
                  </a:moveTo>
                  <a:lnTo>
                    <a:pt x="8229600" y="0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457200" y="6248400"/>
            <a:ext cx="8229600" cy="1905"/>
          </a:xfrm>
          <a:custGeom>
            <a:avLst/>
            <a:gdLst/>
            <a:ahLst/>
            <a:cxnLst/>
            <a:rect l="l" t="t" r="r" b="b"/>
            <a:pathLst>
              <a:path w="8229600" h="1904">
                <a:moveTo>
                  <a:pt x="0" y="0"/>
                </a:moveTo>
                <a:lnTo>
                  <a:pt x="8229600" y="1587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35940" y="461594"/>
            <a:ext cx="18014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" dirty="0"/>
              <a:t>Entropy</a:t>
            </a:r>
            <a:endParaRPr sz="4400"/>
          </a:p>
        </p:txBody>
      </p:sp>
      <p:sp>
        <p:nvSpPr>
          <p:cNvPr id="7" name="object 7"/>
          <p:cNvSpPr txBox="1"/>
          <p:nvPr/>
        </p:nvSpPr>
        <p:spPr>
          <a:xfrm>
            <a:off x="474065" y="1519423"/>
            <a:ext cx="7011034" cy="903605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sz="2400" dirty="0">
                <a:latin typeface="Tahoma"/>
                <a:cs typeface="Tahoma"/>
              </a:rPr>
              <a:t>Play</a:t>
            </a:r>
            <a:r>
              <a:rPr sz="2400" spc="-65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Tennis</a:t>
            </a:r>
            <a:r>
              <a:rPr sz="2400" spc="-9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dataset</a:t>
            </a:r>
            <a:r>
              <a:rPr sz="2400" spc="-6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-</a:t>
            </a:r>
            <a:r>
              <a:rPr sz="2400" spc="-5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two</a:t>
            </a:r>
            <a:r>
              <a:rPr sz="2400" spc="-7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target</a:t>
            </a:r>
            <a:r>
              <a:rPr sz="2400" spc="-6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classes: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500" spc="-10" dirty="0">
                <a:latin typeface="Tahoma"/>
                <a:cs typeface="Tahoma"/>
              </a:rPr>
              <a:t>yes</a:t>
            </a:r>
            <a:r>
              <a:rPr sz="2500" spc="-9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and</a:t>
            </a:r>
            <a:r>
              <a:rPr sz="2400" spc="-75" dirty="0">
                <a:latin typeface="Tahoma"/>
                <a:cs typeface="Tahoma"/>
              </a:rPr>
              <a:t> </a:t>
            </a:r>
            <a:r>
              <a:rPr sz="2500" spc="-25" dirty="0">
                <a:latin typeface="Tahoma"/>
                <a:cs typeface="Tahoma"/>
              </a:rPr>
              <a:t>no</a:t>
            </a:r>
            <a:endParaRPr sz="2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sz="2400" dirty="0">
                <a:latin typeface="Tahoma"/>
                <a:cs typeface="Tahoma"/>
              </a:rPr>
              <a:t>Out</a:t>
            </a:r>
            <a:r>
              <a:rPr sz="2400" spc="-8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of</a:t>
            </a:r>
            <a:r>
              <a:rPr sz="2400" spc="-6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14</a:t>
            </a:r>
            <a:r>
              <a:rPr sz="2400" spc="-6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instances,</a:t>
            </a:r>
            <a:r>
              <a:rPr sz="2400" spc="-6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9</a:t>
            </a:r>
            <a:r>
              <a:rPr sz="2400" spc="-7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classified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500" dirty="0">
                <a:latin typeface="Tahoma"/>
                <a:cs typeface="Tahoma"/>
              </a:rPr>
              <a:t>yes</a:t>
            </a:r>
            <a:r>
              <a:rPr sz="2400" dirty="0">
                <a:latin typeface="Tahoma"/>
                <a:cs typeface="Tahoma"/>
              </a:rPr>
              <a:t>,</a:t>
            </a:r>
            <a:r>
              <a:rPr sz="2400" spc="-6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rest</a:t>
            </a:r>
            <a:r>
              <a:rPr sz="2400" spc="-60" dirty="0">
                <a:latin typeface="Tahoma"/>
                <a:cs typeface="Tahoma"/>
              </a:rPr>
              <a:t> </a:t>
            </a:r>
            <a:r>
              <a:rPr sz="2500" spc="-25" dirty="0">
                <a:latin typeface="Tahoma"/>
                <a:cs typeface="Tahoma"/>
              </a:rPr>
              <a:t>no</a:t>
            </a:r>
            <a:endParaRPr sz="2500">
              <a:latin typeface="Tahoma"/>
              <a:cs typeface="Tahoma"/>
            </a:endParaRP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670" y="2852145"/>
            <a:ext cx="7850007" cy="2900462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423670" y="5879068"/>
            <a:ext cx="33009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Current uncertainty: 0.94049</a:t>
            </a: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2265" rIns="0" bIns="0" rtlCol="0">
            <a:spAutoFit/>
          </a:bodyPr>
          <a:lstStyle/>
          <a:p>
            <a:pPr marL="74295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Information</a:t>
            </a:r>
            <a:r>
              <a:rPr sz="4400" spc="-200" dirty="0"/>
              <a:t> </a:t>
            </a:r>
            <a:r>
              <a:rPr sz="4400" spc="-20" dirty="0"/>
              <a:t>Gain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258267" y="1552702"/>
            <a:ext cx="8317865" cy="72390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55600" marR="5080" indent="-342900">
              <a:lnSpc>
                <a:spcPts val="2590"/>
              </a:lnSpc>
              <a:spcBef>
                <a:spcPts val="425"/>
              </a:spcBef>
            </a:pPr>
            <a:r>
              <a:rPr sz="2400" dirty="0">
                <a:latin typeface="Tahoma"/>
                <a:cs typeface="Tahoma"/>
              </a:rPr>
              <a:t>The</a:t>
            </a:r>
            <a:r>
              <a:rPr sz="2400" spc="-6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expected</a:t>
            </a:r>
            <a:r>
              <a:rPr sz="2400" spc="-55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reduction</a:t>
            </a:r>
            <a:r>
              <a:rPr sz="2400" b="1" spc="-40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in</a:t>
            </a:r>
            <a:r>
              <a:rPr sz="2400" b="1" spc="-45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entropy</a:t>
            </a:r>
            <a:r>
              <a:rPr sz="2400" b="1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caused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by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partitioning </a:t>
            </a:r>
            <a:r>
              <a:rPr sz="2400" dirty="0">
                <a:latin typeface="Tahoma"/>
                <a:cs typeface="Tahoma"/>
              </a:rPr>
              <a:t>the</a:t>
            </a:r>
            <a:r>
              <a:rPr sz="2400" spc="-5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instances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from</a:t>
            </a:r>
            <a:r>
              <a:rPr sz="2400" spc="-60" dirty="0">
                <a:latin typeface="Tahoma"/>
                <a:cs typeface="Tahoma"/>
              </a:rPr>
              <a:t> </a:t>
            </a:r>
            <a:r>
              <a:rPr sz="2500" dirty="0">
                <a:latin typeface="Tahoma"/>
                <a:cs typeface="Tahoma"/>
              </a:rPr>
              <a:t>S</a:t>
            </a:r>
            <a:r>
              <a:rPr sz="2500" spc="-8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according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to</a:t>
            </a:r>
            <a:r>
              <a:rPr sz="2400" spc="-6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given</a:t>
            </a:r>
            <a:r>
              <a:rPr sz="2400" spc="-5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discrete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variable.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84323" y="2863723"/>
            <a:ext cx="717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Tahoma"/>
                <a:cs typeface="Tahoma"/>
              </a:rPr>
              <a:t>i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9767" y="2670133"/>
            <a:ext cx="2639060" cy="4114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500" spc="-25" dirty="0">
                <a:latin typeface="Tahoma"/>
                <a:cs typeface="Tahoma"/>
              </a:rPr>
              <a:t>Gain</a:t>
            </a:r>
            <a:r>
              <a:rPr sz="2400" spc="-25" dirty="0">
                <a:latin typeface="Tahoma"/>
                <a:cs typeface="Tahoma"/>
              </a:rPr>
              <a:t>(</a:t>
            </a:r>
            <a:r>
              <a:rPr sz="2500" spc="-25" dirty="0">
                <a:latin typeface="Tahoma"/>
                <a:cs typeface="Tahoma"/>
              </a:rPr>
              <a:t>S</a:t>
            </a:r>
            <a:r>
              <a:rPr sz="2400" spc="-25" dirty="0">
                <a:latin typeface="Tahoma"/>
                <a:cs typeface="Tahoma"/>
              </a:rPr>
              <a:t>,</a:t>
            </a:r>
            <a:r>
              <a:rPr sz="2400" spc="-95" dirty="0">
                <a:latin typeface="Tahoma"/>
                <a:cs typeface="Tahoma"/>
              </a:rPr>
              <a:t> </a:t>
            </a:r>
            <a:r>
              <a:rPr sz="2500" spc="-65" dirty="0">
                <a:latin typeface="Tahoma"/>
                <a:cs typeface="Tahoma"/>
              </a:rPr>
              <a:t>X</a:t>
            </a:r>
            <a:r>
              <a:rPr sz="2500" spc="-4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)</a:t>
            </a:r>
            <a:r>
              <a:rPr sz="2400" spc="-5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=</a:t>
            </a:r>
            <a:r>
              <a:rPr sz="2400" spc="-70" dirty="0">
                <a:latin typeface="Tahoma"/>
                <a:cs typeface="Tahoma"/>
              </a:rPr>
              <a:t> </a:t>
            </a:r>
            <a:r>
              <a:rPr sz="2500" dirty="0">
                <a:latin typeface="Tahoma"/>
                <a:cs typeface="Tahoma"/>
              </a:rPr>
              <a:t>E</a:t>
            </a:r>
            <a:r>
              <a:rPr sz="2400" dirty="0">
                <a:latin typeface="Tahoma"/>
                <a:cs typeface="Tahoma"/>
              </a:rPr>
              <a:t>(</a:t>
            </a:r>
            <a:r>
              <a:rPr sz="2500" dirty="0">
                <a:latin typeface="Tahoma"/>
                <a:cs typeface="Tahoma"/>
              </a:rPr>
              <a:t>S</a:t>
            </a:r>
            <a:r>
              <a:rPr sz="2400" dirty="0">
                <a:latin typeface="Tahoma"/>
                <a:cs typeface="Tahoma"/>
              </a:rPr>
              <a:t>)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spc="-50" dirty="0">
                <a:latin typeface="Tahoma"/>
                <a:cs typeface="Tahoma"/>
              </a:rPr>
              <a:t>-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0167" y="3804310"/>
            <a:ext cx="7248525" cy="18542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30"/>
              </a:spcBef>
            </a:pPr>
            <a:r>
              <a:rPr sz="2400" dirty="0">
                <a:latin typeface="Tahoma"/>
                <a:cs typeface="Tahoma"/>
              </a:rPr>
              <a:t>where</a:t>
            </a:r>
            <a:r>
              <a:rPr sz="2400" spc="-55" dirty="0">
                <a:latin typeface="Tahoma"/>
                <a:cs typeface="Tahoma"/>
              </a:rPr>
              <a:t> </a:t>
            </a:r>
            <a:r>
              <a:rPr sz="2500" dirty="0">
                <a:latin typeface="Tahoma"/>
                <a:cs typeface="Tahoma"/>
              </a:rPr>
              <a:t>S</a:t>
            </a:r>
            <a:r>
              <a:rPr sz="2475" baseline="-20202" dirty="0">
                <a:latin typeface="Tahoma"/>
                <a:cs typeface="Tahoma"/>
              </a:rPr>
              <a:t>xij</a:t>
            </a:r>
            <a:r>
              <a:rPr sz="2475" spc="277" baseline="-20202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is</a:t>
            </a:r>
            <a:r>
              <a:rPr sz="2400" spc="-6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the</a:t>
            </a:r>
            <a:r>
              <a:rPr sz="2400" spc="-5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subset</a:t>
            </a:r>
            <a:r>
              <a:rPr sz="2400" spc="-5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of</a:t>
            </a:r>
            <a:r>
              <a:rPr sz="2400" spc="-6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instances</a:t>
            </a:r>
            <a:r>
              <a:rPr sz="2400" spc="-5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from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500" dirty="0">
                <a:latin typeface="Tahoma"/>
                <a:cs typeface="Tahoma"/>
              </a:rPr>
              <a:t>S</a:t>
            </a:r>
            <a:r>
              <a:rPr sz="2500" spc="-9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s.t.</a:t>
            </a:r>
            <a:r>
              <a:rPr sz="2400" spc="-55" dirty="0">
                <a:latin typeface="Tahoma"/>
                <a:cs typeface="Tahoma"/>
              </a:rPr>
              <a:t> </a:t>
            </a:r>
            <a:r>
              <a:rPr sz="2500" spc="-10" dirty="0">
                <a:latin typeface="Tahoma"/>
                <a:cs typeface="Tahoma"/>
              </a:rPr>
              <a:t>X</a:t>
            </a:r>
            <a:r>
              <a:rPr sz="2475" spc="-15" baseline="-20202" dirty="0">
                <a:latin typeface="Tahoma"/>
                <a:cs typeface="Tahoma"/>
              </a:rPr>
              <a:t>i</a:t>
            </a:r>
            <a:r>
              <a:rPr sz="2400" spc="-10" dirty="0">
                <a:latin typeface="Tahoma"/>
                <a:cs typeface="Tahoma"/>
              </a:rPr>
              <a:t>=</a:t>
            </a:r>
            <a:r>
              <a:rPr sz="2500" spc="-10" dirty="0">
                <a:latin typeface="Tahoma"/>
                <a:cs typeface="Tahoma"/>
              </a:rPr>
              <a:t>x</a:t>
            </a:r>
            <a:r>
              <a:rPr sz="2475" spc="-15" baseline="-20202" dirty="0">
                <a:latin typeface="Tahoma"/>
                <a:cs typeface="Tahoma"/>
              </a:rPr>
              <a:t>ij.</a:t>
            </a:r>
            <a:endParaRPr sz="2475" baseline="-20202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710"/>
              </a:spcBef>
            </a:pPr>
            <a:endParaRPr sz="2400">
              <a:latin typeface="Tahoma"/>
              <a:cs typeface="Tahoma"/>
            </a:endParaRPr>
          </a:p>
          <a:p>
            <a:pPr marL="194945">
              <a:lnSpc>
                <a:spcPct val="100000"/>
              </a:lnSpc>
            </a:pPr>
            <a:r>
              <a:rPr sz="2400" dirty="0">
                <a:latin typeface="Tahoma"/>
                <a:cs typeface="Tahoma"/>
              </a:rPr>
              <a:t>Information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gain</a:t>
            </a:r>
            <a:r>
              <a:rPr sz="2400" spc="-60" dirty="0">
                <a:latin typeface="Tahoma"/>
                <a:cs typeface="Tahoma"/>
              </a:rPr>
              <a:t> </a:t>
            </a:r>
            <a:r>
              <a:rPr sz="2400" spc="-50" dirty="0">
                <a:latin typeface="Tahoma"/>
                <a:cs typeface="Tahoma"/>
              </a:rPr>
              <a:t>=</a:t>
            </a:r>
            <a:endParaRPr sz="2400">
              <a:latin typeface="Tahoma"/>
              <a:cs typeface="Tahoma"/>
            </a:endParaRPr>
          </a:p>
          <a:p>
            <a:pPr marL="194945">
              <a:lnSpc>
                <a:spcPct val="100000"/>
              </a:lnSpc>
            </a:pPr>
            <a:r>
              <a:rPr sz="2400" dirty="0">
                <a:latin typeface="Tahoma"/>
                <a:cs typeface="Tahoma"/>
              </a:rPr>
              <a:t>(information</a:t>
            </a:r>
            <a:r>
              <a:rPr sz="2400" spc="-6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before</a:t>
            </a:r>
            <a:r>
              <a:rPr sz="2400" spc="-6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split)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–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(information</a:t>
            </a:r>
            <a:r>
              <a:rPr sz="2400" spc="-6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after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split)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963951" y="2928441"/>
            <a:ext cx="632460" cy="0"/>
          </a:xfrm>
          <a:custGeom>
            <a:avLst/>
            <a:gdLst/>
            <a:ahLst/>
            <a:cxnLst/>
            <a:rect l="l" t="t" r="r" b="b"/>
            <a:pathLst>
              <a:path w="632460">
                <a:moveTo>
                  <a:pt x="0" y="0"/>
                </a:moveTo>
                <a:lnTo>
                  <a:pt x="632116" y="0"/>
                </a:lnTo>
              </a:path>
            </a:pathLst>
          </a:custGeom>
          <a:ln w="128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105721" y="2890181"/>
            <a:ext cx="180340" cy="2413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00" i="1" spc="-25" dirty="0">
                <a:latin typeface="Times New Roman"/>
                <a:cs typeface="Times New Roman"/>
              </a:rPr>
              <a:t>x</a:t>
            </a:r>
            <a:r>
              <a:rPr sz="1000" i="1" spc="-25" dirty="0">
                <a:latin typeface="Times New Roman"/>
                <a:cs typeface="Times New Roman"/>
              </a:rPr>
              <a:t>ij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78742" y="2685017"/>
            <a:ext cx="985519" cy="3949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20"/>
              </a:spcBef>
              <a:tabLst>
                <a:tab pos="840740" algn="l"/>
              </a:tabLst>
            </a:pPr>
            <a:r>
              <a:rPr sz="3600" spc="150" baseline="40509" dirty="0">
                <a:latin typeface="Times New Roman"/>
                <a:cs typeface="Times New Roman"/>
              </a:rPr>
              <a:t>|</a:t>
            </a:r>
            <a:r>
              <a:rPr sz="2400" i="1" spc="100" dirty="0">
                <a:latin typeface="Times New Roman"/>
                <a:cs typeface="Times New Roman"/>
              </a:rPr>
              <a:t>E</a:t>
            </a:r>
            <a:r>
              <a:rPr sz="2400" spc="100" dirty="0">
                <a:latin typeface="Times New Roman"/>
                <a:cs typeface="Times New Roman"/>
              </a:rPr>
              <a:t>(</a:t>
            </a:r>
            <a:r>
              <a:rPr sz="2400" i="1" spc="100" dirty="0">
                <a:latin typeface="Times New Roman"/>
                <a:cs typeface="Times New Roman"/>
              </a:rPr>
              <a:t>S</a:t>
            </a:r>
            <a:r>
              <a:rPr sz="2400" i="1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)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50208" y="2925514"/>
            <a:ext cx="459105" cy="3949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00" dirty="0">
                <a:latin typeface="Times New Roman"/>
                <a:cs typeface="Times New Roman"/>
              </a:rPr>
              <a:t>|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i="1" spc="7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|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65639" y="2669735"/>
            <a:ext cx="180340" cy="2413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00" i="1" spc="-25" dirty="0">
                <a:latin typeface="Times New Roman"/>
                <a:cs typeface="Times New Roman"/>
              </a:rPr>
              <a:t>x</a:t>
            </a:r>
            <a:r>
              <a:rPr sz="1000" i="1" spc="-25" dirty="0">
                <a:latin typeface="Times New Roman"/>
                <a:cs typeface="Times New Roman"/>
              </a:rPr>
              <a:t>ij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952913" y="2464586"/>
            <a:ext cx="314960" cy="3949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00" dirty="0">
                <a:latin typeface="Times New Roman"/>
                <a:cs typeface="Times New Roman"/>
              </a:rPr>
              <a:t>|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i="1" spc="-50" dirty="0">
                <a:latin typeface="Times New Roman"/>
                <a:cs typeface="Times New Roman"/>
              </a:rPr>
              <a:t>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561979" y="2602515"/>
            <a:ext cx="366395" cy="74612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ctr">
              <a:lnSpc>
                <a:spcPts val="4135"/>
              </a:lnSpc>
              <a:spcBef>
                <a:spcPts val="135"/>
              </a:spcBef>
            </a:pPr>
            <a:r>
              <a:rPr sz="3600" spc="50" dirty="0">
                <a:latin typeface="Symbol"/>
                <a:cs typeface="Symbol"/>
              </a:rPr>
              <a:t></a:t>
            </a:r>
            <a:endParaRPr sz="3600">
              <a:latin typeface="Symbol"/>
              <a:cs typeface="Symbol"/>
            </a:endParaRPr>
          </a:p>
          <a:p>
            <a:pPr marL="26670" algn="ctr">
              <a:lnSpc>
                <a:spcPts val="1495"/>
              </a:lnSpc>
            </a:pPr>
            <a:r>
              <a:rPr sz="1400" i="1" spc="-50" dirty="0">
                <a:latin typeface="Times New Roman"/>
                <a:cs typeface="Times New Roman"/>
              </a:rPr>
              <a:t>j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4064" y="132664"/>
            <a:ext cx="8441335" cy="1846659"/>
          </a:xfrm>
        </p:spPr>
        <p:txBody>
          <a:bodyPr/>
          <a:lstStyle/>
          <a:p>
            <a:r>
              <a:rPr lang="en-US" b="1" dirty="0"/>
              <a:t>CALCULATE ENTROPY FOR EACH SPLIT</a:t>
            </a:r>
            <a:br>
              <a:rPr lang="en-US" b="1" dirty="0"/>
            </a:b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998" y="1447800"/>
            <a:ext cx="8749466" cy="229355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53335" y="3821121"/>
            <a:ext cx="2082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Weighted Entropy: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3821121"/>
            <a:ext cx="4369291" cy="92526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53335" y="5121970"/>
            <a:ext cx="19543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Information Gain: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5306636"/>
            <a:ext cx="4369291" cy="876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90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4064" y="132664"/>
            <a:ext cx="8441335" cy="1846659"/>
          </a:xfrm>
        </p:spPr>
        <p:txBody>
          <a:bodyPr/>
          <a:lstStyle/>
          <a:p>
            <a:r>
              <a:rPr lang="en-US" b="1" dirty="0"/>
              <a:t>CALCULATE ENTROPY FOR EACH SPLIT</a:t>
            </a:r>
            <a:br>
              <a:rPr lang="en-US" b="1" dirty="0"/>
            </a:b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53335" y="3821121"/>
            <a:ext cx="2082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Weighted Entropy: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353335" y="5121970"/>
            <a:ext cx="19543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Information Gain: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335" y="1444950"/>
            <a:ext cx="7987466" cy="234759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9624" y="3983586"/>
            <a:ext cx="5064103" cy="96941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5956" y="5306636"/>
            <a:ext cx="5067771" cy="865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306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4064" y="132664"/>
            <a:ext cx="8441335" cy="1846659"/>
          </a:xfrm>
        </p:spPr>
        <p:txBody>
          <a:bodyPr/>
          <a:lstStyle/>
          <a:p>
            <a:r>
              <a:rPr lang="en-US" b="1" dirty="0"/>
              <a:t>CALCULATE ENTROPY FOR EACH SPLIT</a:t>
            </a:r>
            <a:br>
              <a:rPr lang="en-US" b="1" dirty="0"/>
            </a:b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53335" y="3821121"/>
            <a:ext cx="2082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Weighted Entropy: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353335" y="5121970"/>
            <a:ext cx="19543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Information Gain: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994" y="1608671"/>
            <a:ext cx="8606592" cy="21838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3940662"/>
            <a:ext cx="3785252" cy="93613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7000" y="5491302"/>
            <a:ext cx="4855871" cy="757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544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4064" y="132664"/>
            <a:ext cx="8441335" cy="1846659"/>
          </a:xfrm>
        </p:spPr>
        <p:txBody>
          <a:bodyPr/>
          <a:lstStyle/>
          <a:p>
            <a:r>
              <a:rPr lang="en-US" b="1" dirty="0"/>
              <a:t>CALCULATE ENTROPY FOR EACH SPLIT</a:t>
            </a:r>
            <a:br>
              <a:rPr lang="en-US" b="1" dirty="0"/>
            </a:b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53335" y="3821121"/>
            <a:ext cx="2082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Weighted Entropy: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353335" y="5121970"/>
            <a:ext cx="19543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Information Gain: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335" y="1411802"/>
            <a:ext cx="8258699" cy="206656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6999" y="3861794"/>
            <a:ext cx="4030601" cy="101500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6998" y="5323881"/>
            <a:ext cx="5362021" cy="848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563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4064" y="132664"/>
            <a:ext cx="8517535" cy="1846659"/>
          </a:xfrm>
        </p:spPr>
        <p:txBody>
          <a:bodyPr/>
          <a:lstStyle/>
          <a:p>
            <a:r>
              <a:rPr lang="en-US" b="1" dirty="0"/>
              <a:t> COMPARE ALL FEATURES FOR ROOT</a:t>
            </a:r>
            <a:br>
              <a:rPr lang="en-US" b="1" dirty="0"/>
            </a:b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908" y="1600200"/>
            <a:ext cx="8603692" cy="4384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463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95600"/>
            <a:ext cx="8288935" cy="1846659"/>
          </a:xfrm>
        </p:spPr>
        <p:txBody>
          <a:bodyPr/>
          <a:lstStyle/>
          <a:p>
            <a:r>
              <a:rPr lang="en-US" b="1" dirty="0"/>
              <a:t>SECOND LEVEL SPLITS USING ENTROPY</a:t>
            </a:r>
            <a:br>
              <a:rPr lang="en-US" b="1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916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4064" y="132664"/>
            <a:ext cx="8212735" cy="1969770"/>
          </a:xfrm>
        </p:spPr>
        <p:txBody>
          <a:bodyPr/>
          <a:lstStyle/>
          <a:p>
            <a:r>
              <a:rPr lang="en-US" sz="3200" b="1" dirty="0"/>
              <a:t>SECOND LEVEL SPLITS USING ENTROPY</a:t>
            </a:r>
            <a:br>
              <a:rPr lang="en-US" sz="3200" b="1" dirty="0"/>
            </a:br>
            <a:r>
              <a:rPr lang="en-US" sz="3200" b="1" dirty="0"/>
              <a:t>BRANCH 1: SUNNY (5 days, 2Y, 3N)</a:t>
            </a:r>
            <a:br>
              <a:rPr lang="en-US" sz="3200" b="1" dirty="0"/>
            </a:br>
            <a:r>
              <a:rPr lang="en-US" sz="3200" dirty="0"/>
              <a:t/>
            </a:r>
            <a:br>
              <a:rPr lang="en-US" sz="3200" dirty="0"/>
            </a:b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304508"/>
            <a:ext cx="4358640" cy="338554"/>
          </a:xfrm>
        </p:spPr>
        <p:txBody>
          <a:bodyPr/>
          <a:lstStyle/>
          <a:p>
            <a:r>
              <a:rPr lang="en-US" b="1" dirty="0" smtClean="0"/>
              <a:t>Sunny Current </a:t>
            </a:r>
            <a:r>
              <a:rPr lang="en-US" b="1" dirty="0"/>
              <a:t>Entropy: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884445"/>
            <a:ext cx="6248397" cy="762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135" y="3394843"/>
            <a:ext cx="3581900" cy="168616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8323" y="3407487"/>
            <a:ext cx="4715533" cy="1981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393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4064" y="132664"/>
            <a:ext cx="8212735" cy="1969770"/>
          </a:xfrm>
        </p:spPr>
        <p:txBody>
          <a:bodyPr/>
          <a:lstStyle/>
          <a:p>
            <a:r>
              <a:rPr lang="en-US" sz="3200" b="1" dirty="0"/>
              <a:t>SECOND LEVEL SPLITS USING ENTROPY</a:t>
            </a:r>
            <a:br>
              <a:rPr lang="en-US" sz="3200" b="1" dirty="0"/>
            </a:br>
            <a:r>
              <a:rPr lang="en-US" sz="3200" b="1" dirty="0"/>
              <a:t>BRANCH 1: SUNNY (5 days, 2Y, 3N)</a:t>
            </a:r>
            <a:br>
              <a:rPr lang="en-US" sz="3200" b="1" dirty="0"/>
            </a:br>
            <a:r>
              <a:rPr lang="en-US" sz="3200" dirty="0"/>
              <a:t/>
            </a:r>
            <a:br>
              <a:rPr lang="en-US" sz="3200" dirty="0"/>
            </a:b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304508"/>
            <a:ext cx="4358640" cy="338554"/>
          </a:xfrm>
        </p:spPr>
        <p:txBody>
          <a:bodyPr/>
          <a:lstStyle/>
          <a:p>
            <a:r>
              <a:rPr lang="en-US" b="1" dirty="0" smtClean="0"/>
              <a:t>Sunny Current </a:t>
            </a:r>
            <a:r>
              <a:rPr lang="en-US" b="1" dirty="0"/>
              <a:t>Entropy: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884445"/>
            <a:ext cx="6248397" cy="7620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826" y="3269515"/>
            <a:ext cx="5115639" cy="16861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02853" y="5578745"/>
            <a:ext cx="75551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0" dirty="0" smtClean="0">
                <a:solidFill>
                  <a:srgbClr val="FF0000"/>
                </a:solidFill>
                <a:effectLst/>
                <a:latin typeface="quote-cjk-patch"/>
              </a:rPr>
              <a:t>Decision for Sunny Branch:</a:t>
            </a:r>
            <a:r>
              <a:rPr lang="en-US" b="0" i="0" dirty="0" smtClean="0">
                <a:solidFill>
                  <a:srgbClr val="FF0000"/>
                </a:solidFill>
                <a:effectLst/>
                <a:latin typeface="quote-cjk-patch"/>
              </a:rPr>
              <a:t> Split by </a:t>
            </a:r>
            <a:r>
              <a:rPr lang="en-US" b="1" i="0" dirty="0" smtClean="0">
                <a:solidFill>
                  <a:srgbClr val="FF0000"/>
                </a:solidFill>
                <a:effectLst/>
                <a:latin typeface="quote-cjk-patch"/>
              </a:rPr>
              <a:t>Humidity</a:t>
            </a:r>
            <a:r>
              <a:rPr lang="en-US" b="0" i="0" dirty="0" smtClean="0">
                <a:solidFill>
                  <a:srgbClr val="FF0000"/>
                </a:solidFill>
                <a:effectLst/>
                <a:latin typeface="quote-cjk-patch"/>
              </a:rPr>
              <a:t> (Max IG = 0.97095 bits)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1557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4064" y="132664"/>
            <a:ext cx="8212735" cy="1477328"/>
          </a:xfrm>
        </p:spPr>
        <p:txBody>
          <a:bodyPr/>
          <a:lstStyle/>
          <a:p>
            <a:r>
              <a:rPr lang="en-US" sz="3200" b="1" dirty="0"/>
              <a:t>SECOND LEVEL SPLITS USING ENTROPY</a:t>
            </a:r>
            <a:br>
              <a:rPr lang="en-US" sz="3200" b="1" dirty="0"/>
            </a:br>
            <a:r>
              <a:rPr lang="en-US" sz="3200" b="1" dirty="0"/>
              <a:t>BRANCH 1: OVERCAST (4 days, 4Y, 0N)</a:t>
            </a:r>
            <a:r>
              <a:rPr lang="en-US" sz="3200" dirty="0"/>
              <a:t/>
            </a:r>
            <a:br>
              <a:rPr lang="en-US" sz="3200" dirty="0"/>
            </a:b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304508"/>
            <a:ext cx="5867400" cy="677108"/>
          </a:xfrm>
        </p:spPr>
        <p:txBody>
          <a:bodyPr/>
          <a:lstStyle/>
          <a:p>
            <a:r>
              <a:rPr lang="en-US" b="1" dirty="0" smtClean="0"/>
              <a:t> Overcast Current </a:t>
            </a:r>
            <a:r>
              <a:rPr lang="en-US" b="1" dirty="0"/>
              <a:t>Entropy</a:t>
            </a:r>
            <a:r>
              <a:rPr lang="en-US" b="1" dirty="0" smtClean="0"/>
              <a:t>:  0 </a:t>
            </a:r>
            <a:r>
              <a:rPr lang="en-US" dirty="0"/>
              <a:t> (Pure node)</a:t>
            </a:r>
          </a:p>
        </p:txBody>
      </p:sp>
      <p:sp>
        <p:nvSpPr>
          <p:cNvPr id="9" name="Rectangle 8"/>
          <p:cNvSpPr/>
          <p:nvPr/>
        </p:nvSpPr>
        <p:spPr>
          <a:xfrm>
            <a:off x="2394622" y="2968794"/>
            <a:ext cx="75551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0" dirty="0" smtClean="0">
                <a:solidFill>
                  <a:srgbClr val="FF0000"/>
                </a:solidFill>
                <a:effectLst/>
                <a:latin typeface="quote-cjk-patch"/>
              </a:rPr>
              <a:t>Decision: LEAF NODE = "Yes"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5999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4064" y="132664"/>
            <a:ext cx="8212735" cy="2092881"/>
          </a:xfrm>
        </p:spPr>
        <p:txBody>
          <a:bodyPr/>
          <a:lstStyle/>
          <a:p>
            <a:r>
              <a:rPr lang="en-US" sz="3200" b="1" dirty="0"/>
              <a:t>SECOND LEVEL SPLITS USING ENTROPY</a:t>
            </a:r>
            <a:br>
              <a:rPr lang="en-US" sz="3200" b="1" dirty="0"/>
            </a:br>
            <a:r>
              <a:rPr lang="en-US" sz="3200" b="1" dirty="0"/>
              <a:t>BRANCH 1: </a:t>
            </a:r>
            <a:r>
              <a:rPr lang="en-US" b="1" dirty="0"/>
              <a:t>RAINY (5 days, 3Y, 2N)</a:t>
            </a:r>
            <a:br>
              <a:rPr lang="en-US" b="1" dirty="0"/>
            </a:br>
            <a:r>
              <a:rPr lang="en-US" sz="3200" dirty="0"/>
              <a:t/>
            </a:r>
            <a:br>
              <a:rPr lang="en-US" sz="3200" dirty="0"/>
            </a:b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304508"/>
            <a:ext cx="4358640" cy="338554"/>
          </a:xfrm>
        </p:spPr>
        <p:txBody>
          <a:bodyPr/>
          <a:lstStyle/>
          <a:p>
            <a:r>
              <a:rPr lang="en-US" b="1" dirty="0" smtClean="0"/>
              <a:t>Rainy Current </a:t>
            </a:r>
            <a:r>
              <a:rPr lang="en-US" b="1" dirty="0"/>
              <a:t>Entropy: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301" y="1889838"/>
            <a:ext cx="7396277" cy="95877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489" y="3505200"/>
            <a:ext cx="3620005" cy="169568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3677" y="3476621"/>
            <a:ext cx="4820323" cy="1724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40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4064" y="132664"/>
            <a:ext cx="8212735" cy="2092881"/>
          </a:xfrm>
        </p:spPr>
        <p:txBody>
          <a:bodyPr/>
          <a:lstStyle/>
          <a:p>
            <a:r>
              <a:rPr lang="en-US" sz="3200" b="1" dirty="0"/>
              <a:t>SECOND LEVEL SPLITS USING ENTROPY</a:t>
            </a:r>
            <a:br>
              <a:rPr lang="en-US" sz="3200" b="1" dirty="0"/>
            </a:br>
            <a:r>
              <a:rPr lang="en-US" sz="3200" b="1" dirty="0"/>
              <a:t>BRANCH 1: </a:t>
            </a:r>
            <a:r>
              <a:rPr lang="en-US" b="1" dirty="0"/>
              <a:t>RAINY (5 days, 3Y, 2N)</a:t>
            </a:r>
            <a:br>
              <a:rPr lang="en-US" b="1" dirty="0"/>
            </a:br>
            <a:r>
              <a:rPr lang="en-US" sz="3200" dirty="0"/>
              <a:t/>
            </a:r>
            <a:br>
              <a:rPr lang="en-US" sz="3200" dirty="0"/>
            </a:b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304508"/>
            <a:ext cx="4358640" cy="338554"/>
          </a:xfrm>
        </p:spPr>
        <p:txBody>
          <a:bodyPr/>
          <a:lstStyle/>
          <a:p>
            <a:r>
              <a:rPr lang="en-US" b="1" dirty="0" smtClean="0"/>
              <a:t>Rainy Current </a:t>
            </a:r>
            <a:r>
              <a:rPr lang="en-US" b="1" dirty="0"/>
              <a:t>Entropy: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301" y="1889838"/>
            <a:ext cx="7396277" cy="95877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539" y="3397389"/>
            <a:ext cx="4677428" cy="196242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965300" y="5585421"/>
            <a:ext cx="739627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0" dirty="0" smtClean="0">
                <a:solidFill>
                  <a:srgbClr val="FF0000"/>
                </a:solidFill>
                <a:effectLst/>
                <a:latin typeface="quote-cjk-patch"/>
              </a:rPr>
              <a:t>Decision for Rainy Branch:</a:t>
            </a:r>
            <a:r>
              <a:rPr lang="en-US" b="0" i="0" dirty="0" smtClean="0">
                <a:solidFill>
                  <a:srgbClr val="FF0000"/>
                </a:solidFill>
                <a:effectLst/>
                <a:latin typeface="quote-cjk-patch"/>
              </a:rPr>
              <a:t> Split by </a:t>
            </a:r>
            <a:r>
              <a:rPr lang="en-US" b="1" i="0" dirty="0" smtClean="0">
                <a:solidFill>
                  <a:srgbClr val="FF0000"/>
                </a:solidFill>
                <a:effectLst/>
                <a:latin typeface="quote-cjk-patch"/>
              </a:rPr>
              <a:t>Windy</a:t>
            </a:r>
            <a:r>
              <a:rPr lang="en-US" b="0" i="0" dirty="0" smtClean="0">
                <a:solidFill>
                  <a:srgbClr val="FF0000"/>
                </a:solidFill>
                <a:effectLst/>
                <a:latin typeface="quote-cjk-patch"/>
              </a:rPr>
              <a:t> (Max IG = 0.97095 bits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5764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4065" y="132664"/>
            <a:ext cx="6757314" cy="1231106"/>
          </a:xfrm>
        </p:spPr>
        <p:txBody>
          <a:bodyPr/>
          <a:lstStyle/>
          <a:p>
            <a:r>
              <a:rPr lang="en-US" b="1" dirty="0"/>
              <a:t>THIRD LEVEL SPLITS (If needed)</a:t>
            </a:r>
            <a:br>
              <a:rPr lang="en-US" b="1" dirty="0"/>
            </a:b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286000"/>
            <a:ext cx="4096322" cy="165758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2286000"/>
            <a:ext cx="4010585" cy="1819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356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2265" rIns="0" bIns="0" rtlCol="0">
            <a:spAutoFit/>
          </a:bodyPr>
          <a:lstStyle/>
          <a:p>
            <a:pPr marL="74295">
              <a:lnSpc>
                <a:spcPct val="100000"/>
              </a:lnSpc>
              <a:spcBef>
                <a:spcPts val="105"/>
              </a:spcBef>
            </a:pPr>
            <a:r>
              <a:rPr sz="4400" b="1" spc="-135" dirty="0">
                <a:latin typeface="Calibri"/>
                <a:cs typeface="Calibri"/>
              </a:rPr>
              <a:t>To</a:t>
            </a:r>
            <a:r>
              <a:rPr sz="4400" b="1" spc="-75" dirty="0">
                <a:latin typeface="Calibri"/>
                <a:cs typeface="Calibri"/>
              </a:rPr>
              <a:t> </a:t>
            </a:r>
            <a:r>
              <a:rPr sz="4400" b="1" dirty="0">
                <a:latin typeface="Calibri"/>
                <a:cs typeface="Calibri"/>
              </a:rPr>
              <a:t>‘play</a:t>
            </a:r>
            <a:r>
              <a:rPr sz="4400" b="1" spc="-75" dirty="0">
                <a:latin typeface="Calibri"/>
                <a:cs typeface="Calibri"/>
              </a:rPr>
              <a:t> </a:t>
            </a:r>
            <a:r>
              <a:rPr sz="4400" b="1" dirty="0">
                <a:latin typeface="Calibri"/>
                <a:cs typeface="Calibri"/>
              </a:rPr>
              <a:t>tennis’</a:t>
            </a:r>
            <a:r>
              <a:rPr sz="4400" b="1" spc="-105" dirty="0">
                <a:latin typeface="Calibri"/>
                <a:cs typeface="Calibri"/>
              </a:rPr>
              <a:t> </a:t>
            </a:r>
            <a:r>
              <a:rPr sz="4400" b="1" dirty="0">
                <a:latin typeface="Calibri"/>
                <a:cs typeface="Calibri"/>
              </a:rPr>
              <a:t>or</a:t>
            </a:r>
            <a:r>
              <a:rPr sz="4400" b="1" spc="-80" dirty="0">
                <a:latin typeface="Calibri"/>
                <a:cs typeface="Calibri"/>
              </a:rPr>
              <a:t> </a:t>
            </a:r>
            <a:r>
              <a:rPr sz="4400" b="1" spc="-20" dirty="0">
                <a:latin typeface="Calibri"/>
                <a:cs typeface="Calibri"/>
              </a:rPr>
              <a:t>not.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12670" y="2628391"/>
            <a:ext cx="104266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Times New Roman"/>
                <a:cs typeface="Times New Roman"/>
              </a:rPr>
              <a:t>overcast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9349" y="4509896"/>
            <a:ext cx="5676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Times New Roman"/>
                <a:cs typeface="Times New Roman"/>
              </a:rPr>
              <a:t>high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33525" y="4509896"/>
            <a:ext cx="88709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Times New Roman"/>
                <a:cs typeface="Times New Roman"/>
              </a:rPr>
              <a:t>normal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47538" y="4524247"/>
            <a:ext cx="6013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Times New Roman"/>
                <a:cs typeface="Times New Roman"/>
              </a:rPr>
              <a:t>false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98111" y="4538598"/>
            <a:ext cx="5003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Times New Roman"/>
                <a:cs typeface="Times New Roman"/>
              </a:rPr>
              <a:t>true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008062" y="2008251"/>
            <a:ext cx="3645535" cy="787400"/>
            <a:chOff x="1008062" y="2008251"/>
            <a:chExt cx="3645535" cy="787400"/>
          </a:xfrm>
        </p:grpSpPr>
        <p:sp>
          <p:nvSpPr>
            <p:cNvPr id="9" name="object 9"/>
            <p:cNvSpPr/>
            <p:nvPr/>
          </p:nvSpPr>
          <p:spPr>
            <a:xfrm>
              <a:off x="1370075" y="2014601"/>
              <a:ext cx="3276600" cy="698500"/>
            </a:xfrm>
            <a:custGeom>
              <a:avLst/>
              <a:gdLst/>
              <a:ahLst/>
              <a:cxnLst/>
              <a:rect l="l" t="t" r="r" b="b"/>
              <a:pathLst>
                <a:path w="3276600" h="698500">
                  <a:moveTo>
                    <a:pt x="968375" y="0"/>
                  </a:moveTo>
                  <a:lnTo>
                    <a:pt x="0" y="457200"/>
                  </a:lnTo>
                </a:path>
                <a:path w="3276600" h="698500">
                  <a:moveTo>
                    <a:pt x="1525524" y="152400"/>
                  </a:moveTo>
                  <a:lnTo>
                    <a:pt x="1524000" y="698500"/>
                  </a:lnTo>
                </a:path>
                <a:path w="3276600" h="698500">
                  <a:moveTo>
                    <a:pt x="1905000" y="0"/>
                  </a:moveTo>
                  <a:lnTo>
                    <a:pt x="3276600" y="5334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14412" y="2319401"/>
              <a:ext cx="925830" cy="469900"/>
            </a:xfrm>
            <a:custGeom>
              <a:avLst/>
              <a:gdLst/>
              <a:ahLst/>
              <a:cxnLst/>
              <a:rect l="l" t="t" r="r" b="b"/>
              <a:pathLst>
                <a:path w="925830" h="469900">
                  <a:moveTo>
                    <a:pt x="0" y="469900"/>
                  </a:moveTo>
                  <a:lnTo>
                    <a:pt x="925512" y="469900"/>
                  </a:lnTo>
                  <a:lnTo>
                    <a:pt x="925512" y="0"/>
                  </a:lnTo>
                  <a:lnTo>
                    <a:pt x="0" y="0"/>
                  </a:lnTo>
                  <a:lnTo>
                    <a:pt x="0" y="46990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099515" y="2342515"/>
            <a:ext cx="753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Times New Roman"/>
                <a:cs typeface="Times New Roman"/>
              </a:rPr>
              <a:t>sunny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606290" y="2494915"/>
            <a:ext cx="5003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Times New Roman"/>
                <a:cs typeface="Times New Roman"/>
              </a:rPr>
              <a:t>rain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74650" y="3381311"/>
            <a:ext cx="1762760" cy="1214755"/>
            <a:chOff x="374650" y="3381311"/>
            <a:chExt cx="1762760" cy="1214755"/>
          </a:xfrm>
        </p:grpSpPr>
        <p:sp>
          <p:nvSpPr>
            <p:cNvPr id="14" name="object 14"/>
            <p:cNvSpPr/>
            <p:nvPr/>
          </p:nvSpPr>
          <p:spPr>
            <a:xfrm>
              <a:off x="411162" y="4073524"/>
              <a:ext cx="1550035" cy="516255"/>
            </a:xfrm>
            <a:custGeom>
              <a:avLst/>
              <a:gdLst/>
              <a:ahLst/>
              <a:cxnLst/>
              <a:rect l="l" t="t" r="r" b="b"/>
              <a:pathLst>
                <a:path w="1550035" h="516254">
                  <a:moveTo>
                    <a:pt x="493712" y="0"/>
                  </a:moveTo>
                  <a:lnTo>
                    <a:pt x="0" y="516000"/>
                  </a:lnTo>
                </a:path>
                <a:path w="1550035" h="516254">
                  <a:moveTo>
                    <a:pt x="1128712" y="45974"/>
                  </a:moveTo>
                  <a:lnTo>
                    <a:pt x="1549463" y="4699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79412" y="3386073"/>
              <a:ext cx="1753235" cy="838200"/>
            </a:xfrm>
            <a:custGeom>
              <a:avLst/>
              <a:gdLst/>
              <a:ahLst/>
              <a:cxnLst/>
              <a:rect l="l" t="t" r="r" b="b"/>
              <a:pathLst>
                <a:path w="1753235" h="838200">
                  <a:moveTo>
                    <a:pt x="876300" y="0"/>
                  </a:moveTo>
                  <a:lnTo>
                    <a:pt x="0" y="419100"/>
                  </a:lnTo>
                  <a:lnTo>
                    <a:pt x="876300" y="838200"/>
                  </a:lnTo>
                  <a:lnTo>
                    <a:pt x="1752663" y="419100"/>
                  </a:lnTo>
                  <a:lnTo>
                    <a:pt x="8763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79412" y="3386073"/>
              <a:ext cx="1753235" cy="838200"/>
            </a:xfrm>
            <a:custGeom>
              <a:avLst/>
              <a:gdLst/>
              <a:ahLst/>
              <a:cxnLst/>
              <a:rect l="l" t="t" r="r" b="b"/>
              <a:pathLst>
                <a:path w="1753235" h="838200">
                  <a:moveTo>
                    <a:pt x="0" y="419100"/>
                  </a:moveTo>
                  <a:lnTo>
                    <a:pt x="876300" y="0"/>
                  </a:lnTo>
                  <a:lnTo>
                    <a:pt x="1752663" y="419100"/>
                  </a:lnTo>
                  <a:lnTo>
                    <a:pt x="876300" y="838200"/>
                  </a:lnTo>
                  <a:lnTo>
                    <a:pt x="0" y="4191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/>
          <p:nvPr/>
        </p:nvSpPr>
        <p:spPr>
          <a:xfrm>
            <a:off x="361950" y="4957698"/>
            <a:ext cx="0" cy="405130"/>
          </a:xfrm>
          <a:custGeom>
            <a:avLst/>
            <a:gdLst/>
            <a:ahLst/>
            <a:cxnLst/>
            <a:rect l="l" t="t" r="r" b="b"/>
            <a:pathLst>
              <a:path h="405129">
                <a:moveTo>
                  <a:pt x="0" y="0"/>
                </a:moveTo>
                <a:lnTo>
                  <a:pt x="0" y="404875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746750" y="4911725"/>
            <a:ext cx="0" cy="440055"/>
          </a:xfrm>
          <a:custGeom>
            <a:avLst/>
            <a:gdLst/>
            <a:ahLst/>
            <a:cxnLst/>
            <a:rect l="l" t="t" r="r" b="b"/>
            <a:pathLst>
              <a:path h="440054">
                <a:moveTo>
                  <a:pt x="0" y="0"/>
                </a:moveTo>
                <a:lnTo>
                  <a:pt x="0" y="4398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448175" y="4927600"/>
            <a:ext cx="0" cy="434975"/>
          </a:xfrm>
          <a:custGeom>
            <a:avLst/>
            <a:gdLst/>
            <a:ahLst/>
            <a:cxnLst/>
            <a:rect l="l" t="t" r="r" b="b"/>
            <a:pathLst>
              <a:path h="434975">
                <a:moveTo>
                  <a:pt x="0" y="0"/>
                </a:moveTo>
                <a:lnTo>
                  <a:pt x="0" y="434975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976501" y="4927600"/>
            <a:ext cx="0" cy="434975"/>
          </a:xfrm>
          <a:custGeom>
            <a:avLst/>
            <a:gdLst/>
            <a:ahLst/>
            <a:cxnLst/>
            <a:rect l="l" t="t" r="r" b="b"/>
            <a:pathLst>
              <a:path h="434975">
                <a:moveTo>
                  <a:pt x="0" y="0"/>
                </a:moveTo>
                <a:lnTo>
                  <a:pt x="0" y="434975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833751" y="3022600"/>
            <a:ext cx="0" cy="440055"/>
          </a:xfrm>
          <a:custGeom>
            <a:avLst/>
            <a:gdLst/>
            <a:ahLst/>
            <a:cxnLst/>
            <a:rect l="l" t="t" r="r" b="b"/>
            <a:pathLst>
              <a:path h="440054">
                <a:moveTo>
                  <a:pt x="0" y="0"/>
                </a:moveTo>
                <a:lnTo>
                  <a:pt x="0" y="4398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2" name="object 22"/>
          <p:cNvGrpSpPr/>
          <p:nvPr/>
        </p:nvGrpSpPr>
        <p:grpSpPr>
          <a:xfrm>
            <a:off x="4108513" y="3533711"/>
            <a:ext cx="1762125" cy="1076960"/>
            <a:chOff x="4108513" y="3533711"/>
            <a:chExt cx="1762125" cy="1076960"/>
          </a:xfrm>
        </p:grpSpPr>
        <p:sp>
          <p:nvSpPr>
            <p:cNvPr id="23" name="object 23"/>
            <p:cNvSpPr/>
            <p:nvPr/>
          </p:nvSpPr>
          <p:spPr>
            <a:xfrm>
              <a:off x="4341876" y="4224273"/>
              <a:ext cx="1352550" cy="379730"/>
            </a:xfrm>
            <a:custGeom>
              <a:avLst/>
              <a:gdLst/>
              <a:ahLst/>
              <a:cxnLst/>
              <a:rect l="l" t="t" r="r" b="b"/>
              <a:pathLst>
                <a:path w="1352550" h="379729">
                  <a:moveTo>
                    <a:pt x="304800" y="0"/>
                  </a:moveTo>
                  <a:lnTo>
                    <a:pt x="0" y="379475"/>
                  </a:lnTo>
                </a:path>
                <a:path w="1352550" h="379729">
                  <a:moveTo>
                    <a:pt x="1143000" y="0"/>
                  </a:moveTo>
                  <a:lnTo>
                    <a:pt x="1352550" y="3048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113276" y="3538473"/>
              <a:ext cx="1752600" cy="838200"/>
            </a:xfrm>
            <a:custGeom>
              <a:avLst/>
              <a:gdLst/>
              <a:ahLst/>
              <a:cxnLst/>
              <a:rect l="l" t="t" r="r" b="b"/>
              <a:pathLst>
                <a:path w="1752600" h="838200">
                  <a:moveTo>
                    <a:pt x="876300" y="0"/>
                  </a:moveTo>
                  <a:lnTo>
                    <a:pt x="0" y="419100"/>
                  </a:lnTo>
                  <a:lnTo>
                    <a:pt x="876300" y="838200"/>
                  </a:lnTo>
                  <a:lnTo>
                    <a:pt x="1752600" y="419100"/>
                  </a:lnTo>
                  <a:lnTo>
                    <a:pt x="8763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113276" y="3538473"/>
              <a:ext cx="1752600" cy="838200"/>
            </a:xfrm>
            <a:custGeom>
              <a:avLst/>
              <a:gdLst/>
              <a:ahLst/>
              <a:cxnLst/>
              <a:rect l="l" t="t" r="r" b="b"/>
              <a:pathLst>
                <a:path w="1752600" h="838200">
                  <a:moveTo>
                    <a:pt x="0" y="419100"/>
                  </a:moveTo>
                  <a:lnTo>
                    <a:pt x="876300" y="0"/>
                  </a:lnTo>
                  <a:lnTo>
                    <a:pt x="1752600" y="419100"/>
                  </a:lnTo>
                  <a:lnTo>
                    <a:pt x="876300" y="838200"/>
                  </a:lnTo>
                  <a:lnTo>
                    <a:pt x="0" y="4191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74612" y="5362575"/>
            <a:ext cx="576580" cy="476250"/>
          </a:xfrm>
          <a:prstGeom prst="rect">
            <a:avLst/>
          </a:prstGeom>
          <a:solidFill>
            <a:srgbClr val="C0504D"/>
          </a:solidFill>
          <a:ln w="19050">
            <a:solidFill>
              <a:srgbClr val="000000"/>
            </a:solidFill>
          </a:ln>
        </p:spPr>
        <p:txBody>
          <a:bodyPr vert="horz" wrap="square" lIns="0" tIns="36195" rIns="0" bIns="0" rtlCol="0">
            <a:spAutoFit/>
          </a:bodyPr>
          <a:lstStyle/>
          <a:p>
            <a:pPr marL="101600">
              <a:lnSpc>
                <a:spcPct val="100000"/>
              </a:lnSpc>
              <a:spcBef>
                <a:spcPts val="285"/>
              </a:spcBef>
            </a:pPr>
            <a:r>
              <a:rPr sz="2400" b="1" spc="-25" dirty="0">
                <a:latin typeface="Times New Roman"/>
                <a:cs typeface="Times New Roman"/>
              </a:rPr>
              <a:t>No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159250" y="5362575"/>
            <a:ext cx="576580" cy="476250"/>
          </a:xfrm>
          <a:prstGeom prst="rect">
            <a:avLst/>
          </a:prstGeom>
          <a:solidFill>
            <a:srgbClr val="C0504D"/>
          </a:solidFill>
          <a:ln w="19050">
            <a:solidFill>
              <a:srgbClr val="000000"/>
            </a:solidFill>
          </a:ln>
        </p:spPr>
        <p:txBody>
          <a:bodyPr vert="horz" wrap="square" lIns="0" tIns="36195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285"/>
              </a:spcBef>
            </a:pPr>
            <a:r>
              <a:rPr sz="2400" b="1" spc="-25" dirty="0">
                <a:latin typeface="Times New Roman"/>
                <a:cs typeface="Times New Roman"/>
              </a:rPr>
              <a:t>No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639951" y="5362575"/>
            <a:ext cx="671830" cy="469900"/>
          </a:xfrm>
          <a:prstGeom prst="rect">
            <a:avLst/>
          </a:prstGeom>
          <a:solidFill>
            <a:srgbClr val="FFCC00"/>
          </a:solidFill>
          <a:ln w="12700">
            <a:solidFill>
              <a:srgbClr val="000000"/>
            </a:solidFill>
          </a:ln>
        </p:spPr>
        <p:txBody>
          <a:bodyPr vert="horz" wrap="square" lIns="0" tIns="36195" rIns="0" bIns="0" rtlCol="0">
            <a:spAutoFit/>
          </a:bodyPr>
          <a:lstStyle/>
          <a:p>
            <a:pPr marL="115570">
              <a:lnSpc>
                <a:spcPct val="100000"/>
              </a:lnSpc>
              <a:spcBef>
                <a:spcPts val="285"/>
              </a:spcBef>
            </a:pPr>
            <a:r>
              <a:rPr sz="2400" b="1" spc="-25" dirty="0">
                <a:latin typeface="Times New Roman"/>
                <a:cs typeface="Times New Roman"/>
              </a:rPr>
              <a:t>Yes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411851" y="5362575"/>
            <a:ext cx="671830" cy="469900"/>
          </a:xfrm>
          <a:prstGeom prst="rect">
            <a:avLst/>
          </a:prstGeom>
          <a:solidFill>
            <a:srgbClr val="FFCC00"/>
          </a:solidFill>
          <a:ln w="12700">
            <a:solidFill>
              <a:srgbClr val="000000"/>
            </a:solidFill>
          </a:ln>
        </p:spPr>
        <p:txBody>
          <a:bodyPr vert="horz" wrap="square" lIns="0" tIns="36195" rIns="0" bIns="0" rtlCol="0">
            <a:spAutoFit/>
          </a:bodyPr>
          <a:lstStyle/>
          <a:p>
            <a:pPr marL="116205">
              <a:lnSpc>
                <a:spcPct val="100000"/>
              </a:lnSpc>
              <a:spcBef>
                <a:spcPts val="285"/>
              </a:spcBef>
            </a:pPr>
            <a:r>
              <a:rPr sz="2400" b="1" spc="-25" dirty="0">
                <a:latin typeface="Times New Roman"/>
                <a:cs typeface="Times New Roman"/>
              </a:rPr>
              <a:t>Yes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498725" y="3522726"/>
            <a:ext cx="671830" cy="469900"/>
          </a:xfrm>
          <a:prstGeom prst="rect">
            <a:avLst/>
          </a:prstGeom>
          <a:solidFill>
            <a:srgbClr val="FFCC00"/>
          </a:solidFill>
          <a:ln w="12700">
            <a:solidFill>
              <a:srgbClr val="000000"/>
            </a:solidFill>
          </a:ln>
        </p:spPr>
        <p:txBody>
          <a:bodyPr vert="horz" wrap="square" lIns="0" tIns="36194" rIns="0" bIns="0" rtlCol="0">
            <a:spAutoFit/>
          </a:bodyPr>
          <a:lstStyle/>
          <a:p>
            <a:pPr marL="114935">
              <a:lnSpc>
                <a:spcPct val="100000"/>
              </a:lnSpc>
              <a:spcBef>
                <a:spcPts val="284"/>
              </a:spcBef>
            </a:pPr>
            <a:r>
              <a:rPr sz="2400" b="1" spc="-25" dirty="0">
                <a:latin typeface="Times New Roman"/>
                <a:cs typeface="Times New Roman"/>
              </a:rPr>
              <a:t>Yes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1990788" y="1358963"/>
            <a:ext cx="1762125" cy="847725"/>
            <a:chOff x="1990788" y="1358963"/>
            <a:chExt cx="1762125" cy="847725"/>
          </a:xfrm>
        </p:grpSpPr>
        <p:sp>
          <p:nvSpPr>
            <p:cNvPr id="32" name="object 32"/>
            <p:cNvSpPr/>
            <p:nvPr/>
          </p:nvSpPr>
          <p:spPr>
            <a:xfrm>
              <a:off x="1995551" y="1363725"/>
              <a:ext cx="1752600" cy="838200"/>
            </a:xfrm>
            <a:custGeom>
              <a:avLst/>
              <a:gdLst/>
              <a:ahLst/>
              <a:cxnLst/>
              <a:rect l="l" t="t" r="r" b="b"/>
              <a:pathLst>
                <a:path w="1752600" h="838200">
                  <a:moveTo>
                    <a:pt x="876300" y="0"/>
                  </a:moveTo>
                  <a:lnTo>
                    <a:pt x="0" y="419100"/>
                  </a:lnTo>
                  <a:lnTo>
                    <a:pt x="876300" y="838200"/>
                  </a:lnTo>
                  <a:lnTo>
                    <a:pt x="1752600" y="419100"/>
                  </a:lnTo>
                  <a:lnTo>
                    <a:pt x="8763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995551" y="1363725"/>
              <a:ext cx="1752600" cy="838200"/>
            </a:xfrm>
            <a:custGeom>
              <a:avLst/>
              <a:gdLst/>
              <a:ahLst/>
              <a:cxnLst/>
              <a:rect l="l" t="t" r="r" b="b"/>
              <a:pathLst>
                <a:path w="1752600" h="838200">
                  <a:moveTo>
                    <a:pt x="0" y="419100"/>
                  </a:moveTo>
                  <a:lnTo>
                    <a:pt x="876300" y="0"/>
                  </a:lnTo>
                  <a:lnTo>
                    <a:pt x="1752600" y="419100"/>
                  </a:lnTo>
                  <a:lnTo>
                    <a:pt x="876300" y="838200"/>
                  </a:lnTo>
                  <a:lnTo>
                    <a:pt x="0" y="4191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2363470" y="1580134"/>
            <a:ext cx="10248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Times New Roman"/>
                <a:cs typeface="Times New Roman"/>
              </a:rPr>
              <a:t>Outlook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86816" y="3561715"/>
            <a:ext cx="11918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Times New Roman"/>
                <a:cs typeface="Times New Roman"/>
              </a:rPr>
              <a:t>Humidity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497451" y="3790315"/>
            <a:ext cx="8401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Times New Roman"/>
                <a:cs typeface="Times New Roman"/>
              </a:rPr>
              <a:t>Windy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1293875" y="2700401"/>
            <a:ext cx="0" cy="609600"/>
          </a:xfrm>
          <a:custGeom>
            <a:avLst/>
            <a:gdLst/>
            <a:ahLst/>
            <a:cxnLst/>
            <a:rect l="l" t="t" r="r" b="b"/>
            <a:pathLst>
              <a:path h="609600">
                <a:moveTo>
                  <a:pt x="0" y="0"/>
                </a:moveTo>
                <a:lnTo>
                  <a:pt x="0" y="6096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951476" y="2852801"/>
            <a:ext cx="0" cy="685800"/>
          </a:xfrm>
          <a:custGeom>
            <a:avLst/>
            <a:gdLst/>
            <a:ahLst/>
            <a:cxnLst/>
            <a:rect l="l" t="t" r="r" b="b"/>
            <a:pathLst>
              <a:path h="685800">
                <a:moveTo>
                  <a:pt x="0" y="0"/>
                </a:moveTo>
                <a:lnTo>
                  <a:pt x="0" y="6858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3930777" y="1368678"/>
            <a:ext cx="519366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25065" algn="l"/>
              </a:tabLst>
            </a:pPr>
            <a:r>
              <a:rPr sz="1800" b="1" dirty="0">
                <a:latin typeface="Arial"/>
                <a:cs typeface="Arial"/>
              </a:rPr>
              <a:t>(Outlook</a:t>
            </a:r>
            <a:r>
              <a:rPr sz="1800" b="1" spc="-7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==overcast)</a:t>
            </a:r>
            <a:r>
              <a:rPr sz="1800" b="1" dirty="0">
                <a:latin typeface="Arial"/>
                <a:cs typeface="Arial"/>
              </a:rPr>
              <a:t>	</a:t>
            </a:r>
            <a:r>
              <a:rPr sz="1800" b="1" spc="-10" dirty="0">
                <a:latin typeface="Arial"/>
                <a:cs typeface="Arial"/>
              </a:rPr>
              <a:t>-</a:t>
            </a:r>
            <a:r>
              <a:rPr sz="1800" b="1" dirty="0">
                <a:latin typeface="Arial"/>
                <a:cs typeface="Arial"/>
              </a:rPr>
              <a:t>&gt;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25" dirty="0">
                <a:latin typeface="Arial"/>
                <a:cs typeface="Arial"/>
              </a:rPr>
              <a:t>yes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(Outlook==rain)</a:t>
            </a:r>
            <a:r>
              <a:rPr sz="1800" b="1" spc="-6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and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(not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Windy==True)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-</a:t>
            </a:r>
            <a:r>
              <a:rPr sz="1800" b="1" spc="-20" dirty="0">
                <a:latin typeface="Arial"/>
                <a:cs typeface="Arial"/>
              </a:rPr>
              <a:t>&gt;yes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(Outlook==sunny)</a:t>
            </a:r>
            <a:r>
              <a:rPr sz="1800" b="1" spc="-5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and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(Humidity=normal)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-</a:t>
            </a:r>
            <a:r>
              <a:rPr sz="1800" b="1" spc="-20" dirty="0">
                <a:latin typeface="Arial"/>
                <a:cs typeface="Arial"/>
              </a:rPr>
              <a:t>&gt;yes</a:t>
            </a:r>
            <a:endParaRPr sz="18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37409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2265" rIns="0" bIns="0" rtlCol="0">
            <a:spAutoFit/>
          </a:bodyPr>
          <a:lstStyle/>
          <a:p>
            <a:pPr marL="74295">
              <a:lnSpc>
                <a:spcPct val="100000"/>
              </a:lnSpc>
              <a:spcBef>
                <a:spcPts val="105"/>
              </a:spcBef>
            </a:pPr>
            <a:r>
              <a:rPr sz="4400" b="1" spc="-10" dirty="0">
                <a:latin typeface="Calibri"/>
                <a:cs typeface="Calibri"/>
              </a:rPr>
              <a:t>Overfitting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510258"/>
            <a:ext cx="7291070" cy="4116070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69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spc="-70" dirty="0">
                <a:latin typeface="Calibri"/>
                <a:cs typeface="Calibri"/>
              </a:rPr>
              <a:t>You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can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perfectly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fit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any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training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data</a:t>
            </a:r>
            <a:endParaRPr sz="3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Zero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bias,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high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variance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70"/>
              </a:spcBef>
            </a:pPr>
            <a:endParaRPr sz="3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3200" b="1" dirty="0">
                <a:latin typeface="Calibri"/>
                <a:cs typeface="Calibri"/>
              </a:rPr>
              <a:t>Two</a:t>
            </a:r>
            <a:r>
              <a:rPr sz="3200" b="1" spc="-150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approaches:</a:t>
            </a:r>
            <a:endParaRPr sz="3200">
              <a:latin typeface="Calibri"/>
              <a:cs typeface="Calibri"/>
            </a:endParaRPr>
          </a:p>
          <a:p>
            <a:pPr marL="337185" marR="307975" indent="-324485">
              <a:lnSpc>
                <a:spcPct val="100000"/>
              </a:lnSpc>
              <a:spcBef>
                <a:spcPts val="660"/>
              </a:spcBef>
              <a:buFont typeface="Calibri"/>
              <a:buAutoNum type="arabicPeriod"/>
              <a:tabLst>
                <a:tab pos="355600" algn="l"/>
              </a:tabLst>
            </a:pPr>
            <a:r>
              <a:rPr sz="2600" b="1" spc="-25" dirty="0">
                <a:latin typeface="Calibri"/>
                <a:cs typeface="Calibri"/>
              </a:rPr>
              <a:t>Pre-</a:t>
            </a:r>
            <a:r>
              <a:rPr sz="2600" b="1" dirty="0">
                <a:latin typeface="Calibri"/>
                <a:cs typeface="Calibri"/>
              </a:rPr>
              <a:t>pruning</a:t>
            </a:r>
            <a:r>
              <a:rPr sz="2600" b="1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-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Stop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growing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tree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when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further 	</a:t>
            </a:r>
            <a:r>
              <a:rPr sz="2600" dirty="0">
                <a:latin typeface="Calibri"/>
                <a:cs typeface="Calibri"/>
              </a:rPr>
              <a:t>splitting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data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does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not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yield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improvement</a:t>
            </a:r>
            <a:endParaRPr sz="2600">
              <a:latin typeface="Calibri"/>
              <a:cs typeface="Calibri"/>
            </a:endParaRPr>
          </a:p>
          <a:p>
            <a:pPr marL="336550" marR="5080" indent="-323850">
              <a:lnSpc>
                <a:spcPct val="100000"/>
              </a:lnSpc>
              <a:spcBef>
                <a:spcPts val="630"/>
              </a:spcBef>
              <a:buAutoNum type="arabicPeriod"/>
              <a:tabLst>
                <a:tab pos="355600" algn="l"/>
              </a:tabLst>
            </a:pPr>
            <a:r>
              <a:rPr sz="2600" dirty="0">
                <a:latin typeface="Calibri"/>
                <a:cs typeface="Calibri"/>
              </a:rPr>
              <a:t>Grow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full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tree,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then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prune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tree,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by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eliminating 	</a:t>
            </a:r>
            <a:r>
              <a:rPr sz="2600" dirty="0">
                <a:latin typeface="Calibri"/>
                <a:cs typeface="Calibri"/>
              </a:rPr>
              <a:t>nodes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b="1" spc="-20" dirty="0">
                <a:latin typeface="Calibri"/>
                <a:cs typeface="Calibri"/>
              </a:rPr>
              <a:t>(post-</a:t>
            </a:r>
            <a:r>
              <a:rPr sz="2600" b="1" spc="-10" dirty="0">
                <a:latin typeface="Calibri"/>
                <a:cs typeface="Calibri"/>
              </a:rPr>
              <a:t>prune)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3670" y="1113974"/>
            <a:ext cx="8296909" cy="181610"/>
            <a:chOff x="423670" y="1113974"/>
            <a:chExt cx="8296909" cy="181610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3670" y="1113974"/>
              <a:ext cx="8296659" cy="18149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57199" y="1143000"/>
              <a:ext cx="8229600" cy="76200"/>
            </a:xfrm>
            <a:custGeom>
              <a:avLst/>
              <a:gdLst/>
              <a:ahLst/>
              <a:cxnLst/>
              <a:rect l="l" t="t" r="r" b="b"/>
              <a:pathLst>
                <a:path w="8229600" h="76200">
                  <a:moveTo>
                    <a:pt x="0" y="76200"/>
                  </a:moveTo>
                  <a:lnTo>
                    <a:pt x="8229600" y="0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457200" y="6248400"/>
            <a:ext cx="8229600" cy="1905"/>
          </a:xfrm>
          <a:custGeom>
            <a:avLst/>
            <a:gdLst/>
            <a:ahLst/>
            <a:cxnLst/>
            <a:rect l="l" t="t" r="r" b="b"/>
            <a:pathLst>
              <a:path w="8229600" h="1904">
                <a:moveTo>
                  <a:pt x="0" y="0"/>
                </a:moveTo>
                <a:lnTo>
                  <a:pt x="8229600" y="1587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2265" rIns="0" bIns="0" rtlCol="0">
            <a:spAutoFit/>
          </a:bodyPr>
          <a:lstStyle/>
          <a:p>
            <a:pPr marL="74295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Decision</a:t>
            </a:r>
            <a:r>
              <a:rPr sz="4400" spc="-40" dirty="0"/>
              <a:t> </a:t>
            </a:r>
            <a:r>
              <a:rPr sz="4400" spc="-20" dirty="0"/>
              <a:t>tree</a:t>
            </a:r>
            <a:endParaRPr sz="4400"/>
          </a:p>
        </p:txBody>
      </p:sp>
      <p:sp>
        <p:nvSpPr>
          <p:cNvPr id="7" name="object 7"/>
          <p:cNvSpPr txBox="1"/>
          <p:nvPr/>
        </p:nvSpPr>
        <p:spPr>
          <a:xfrm>
            <a:off x="501192" y="1516122"/>
            <a:ext cx="7988934" cy="3134995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19"/>
              </a:spcBef>
              <a:buFont typeface="Arial MT"/>
              <a:buChar char="•"/>
              <a:tabLst>
                <a:tab pos="354965" algn="l"/>
              </a:tabLst>
            </a:pPr>
            <a:r>
              <a:rPr sz="3000" dirty="0">
                <a:latin typeface="Calibri"/>
                <a:cs typeface="Calibri"/>
              </a:rPr>
              <a:t>Not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so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ideal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for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predicting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-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b="1" spc="-10" dirty="0">
                <a:latin typeface="Calibri"/>
                <a:cs typeface="Calibri"/>
              </a:rPr>
              <a:t>inaccuracy</a:t>
            </a:r>
            <a:endParaRPr sz="3000">
              <a:latin typeface="Calibri"/>
              <a:cs typeface="Calibri"/>
            </a:endParaRPr>
          </a:p>
          <a:p>
            <a:pPr marL="12700" marR="415290" indent="913765">
              <a:lnSpc>
                <a:spcPct val="100000"/>
              </a:lnSpc>
              <a:spcBef>
                <a:spcPts val="720"/>
              </a:spcBef>
            </a:pPr>
            <a:r>
              <a:rPr sz="3000" dirty="0">
                <a:latin typeface="Calibri"/>
                <a:cs typeface="Calibri"/>
              </a:rPr>
              <a:t>-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not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so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flexible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in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classifying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based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on</a:t>
            </a:r>
            <a:r>
              <a:rPr sz="3000" spc="-25" dirty="0">
                <a:latin typeface="Calibri"/>
                <a:cs typeface="Calibri"/>
              </a:rPr>
              <a:t> new </a:t>
            </a:r>
            <a:r>
              <a:rPr sz="3000" spc="-10" dirty="0">
                <a:latin typeface="Calibri"/>
                <a:cs typeface="Calibri"/>
              </a:rPr>
              <a:t>dataset</a:t>
            </a:r>
            <a:endParaRPr sz="3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80"/>
              </a:spcBef>
            </a:pPr>
            <a:endParaRPr sz="300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sz="3000" b="1" dirty="0">
                <a:latin typeface="Calibri"/>
                <a:cs typeface="Calibri"/>
              </a:rPr>
              <a:t>Instability</a:t>
            </a:r>
            <a:r>
              <a:rPr sz="3000" b="1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–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change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in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data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can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change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look </a:t>
            </a:r>
            <a:r>
              <a:rPr sz="3000" dirty="0">
                <a:latin typeface="Calibri"/>
                <a:cs typeface="Calibri"/>
              </a:rPr>
              <a:t>of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tree</a:t>
            </a:r>
            <a:endParaRPr sz="30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3670" y="1113974"/>
            <a:ext cx="8296909" cy="181610"/>
            <a:chOff x="423670" y="1113974"/>
            <a:chExt cx="8296909" cy="181610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3670" y="1113974"/>
              <a:ext cx="8296659" cy="18149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57199" y="1143000"/>
              <a:ext cx="8229600" cy="76200"/>
            </a:xfrm>
            <a:custGeom>
              <a:avLst/>
              <a:gdLst/>
              <a:ahLst/>
              <a:cxnLst/>
              <a:rect l="l" t="t" r="r" b="b"/>
              <a:pathLst>
                <a:path w="8229600" h="76200">
                  <a:moveTo>
                    <a:pt x="0" y="76200"/>
                  </a:moveTo>
                  <a:lnTo>
                    <a:pt x="8229600" y="0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457200" y="6248400"/>
            <a:ext cx="8229600" cy="1905"/>
          </a:xfrm>
          <a:custGeom>
            <a:avLst/>
            <a:gdLst/>
            <a:ahLst/>
            <a:cxnLst/>
            <a:rect l="l" t="t" r="r" b="b"/>
            <a:pathLst>
              <a:path w="8229600" h="1904">
                <a:moveTo>
                  <a:pt x="0" y="0"/>
                </a:moveTo>
                <a:lnTo>
                  <a:pt x="8229600" y="1587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35940" y="461594"/>
            <a:ext cx="34671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Random </a:t>
            </a:r>
            <a:r>
              <a:rPr sz="4400" spc="-20" dirty="0"/>
              <a:t>Forest</a:t>
            </a:r>
            <a:endParaRPr sz="4400"/>
          </a:p>
        </p:txBody>
      </p:sp>
      <p:sp>
        <p:nvSpPr>
          <p:cNvPr id="7" name="object 7"/>
          <p:cNvSpPr txBox="1"/>
          <p:nvPr/>
        </p:nvSpPr>
        <p:spPr>
          <a:xfrm>
            <a:off x="501192" y="1516122"/>
            <a:ext cx="5539740" cy="2220595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19"/>
              </a:spcBef>
              <a:buFont typeface="Arial MT"/>
              <a:buChar char="•"/>
              <a:tabLst>
                <a:tab pos="354965" algn="l"/>
              </a:tabLst>
            </a:pPr>
            <a:r>
              <a:rPr sz="3000" dirty="0">
                <a:latin typeface="Calibri"/>
                <a:cs typeface="Calibri"/>
              </a:rPr>
              <a:t>Create</a:t>
            </a:r>
            <a:r>
              <a:rPr sz="3000" spc="-9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bootstrapped</a:t>
            </a:r>
            <a:r>
              <a:rPr sz="3000" spc="-8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dataset</a:t>
            </a:r>
            <a:endParaRPr sz="3000">
              <a:latin typeface="Calibri"/>
              <a:cs typeface="Calibri"/>
            </a:endParaRPr>
          </a:p>
          <a:p>
            <a:pPr marL="440690" indent="-427990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440690" algn="l"/>
              </a:tabLst>
            </a:pPr>
            <a:r>
              <a:rPr sz="3000" dirty="0">
                <a:latin typeface="Calibri"/>
                <a:cs typeface="Calibri"/>
              </a:rPr>
              <a:t>Build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Random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Forest</a:t>
            </a:r>
            <a:endParaRPr sz="3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354965" algn="l"/>
              </a:tabLst>
            </a:pPr>
            <a:r>
              <a:rPr sz="3000" spc="-10" dirty="0">
                <a:latin typeface="Calibri"/>
                <a:cs typeface="Calibri"/>
              </a:rPr>
              <a:t>Evaluate</a:t>
            </a:r>
            <a:endParaRPr sz="3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354965" algn="l"/>
              </a:tabLst>
            </a:pPr>
            <a:r>
              <a:rPr sz="3000" dirty="0">
                <a:latin typeface="Calibri"/>
                <a:cs typeface="Calibri"/>
              </a:rPr>
              <a:t>Repeat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Step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2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with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more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features</a:t>
            </a:r>
            <a:endParaRPr sz="3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2265" rIns="0" bIns="0" rtlCol="0">
            <a:spAutoFit/>
          </a:bodyPr>
          <a:lstStyle/>
          <a:p>
            <a:pPr marL="74295">
              <a:lnSpc>
                <a:spcPct val="100000"/>
              </a:lnSpc>
              <a:spcBef>
                <a:spcPts val="105"/>
              </a:spcBef>
            </a:pPr>
            <a:r>
              <a:rPr sz="4400" b="1" spc="-10" dirty="0">
                <a:latin typeface="Calibri"/>
                <a:cs typeface="Calibri"/>
              </a:rPr>
              <a:t>Bagging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613661"/>
            <a:ext cx="8022590" cy="3714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46685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Bagging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b="1" i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B</a:t>
            </a:r>
            <a:r>
              <a:rPr sz="2400" b="1" i="1" u="sng" dirty="0"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ootstrap</a:t>
            </a:r>
            <a:r>
              <a:rPr sz="2400" b="1" i="1" u="sng" spc="-20" dirty="0"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 </a:t>
            </a:r>
            <a:r>
              <a:rPr sz="2400" b="1" i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agg</a:t>
            </a:r>
            <a:r>
              <a:rPr sz="2400" b="1" i="1" u="sng" dirty="0"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regat</a:t>
            </a:r>
            <a:r>
              <a:rPr sz="2400" b="1" i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ing</a:t>
            </a:r>
            <a:r>
              <a:rPr sz="2400" b="1" i="1" u="sng" spc="-70" dirty="0"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 </a:t>
            </a:r>
            <a:r>
              <a:rPr sz="2400" b="1" i="1" u="sng" dirty="0"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-</a:t>
            </a:r>
            <a:r>
              <a:rPr sz="2400" b="1" i="1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technique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reducing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variance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estimated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prediction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function.</a:t>
            </a:r>
            <a:endParaRPr sz="2400">
              <a:latin typeface="Calibri"/>
              <a:cs typeface="Calibri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400"/>
              </a:spcBef>
              <a:buChar char="•"/>
              <a:tabLst>
                <a:tab pos="756285" algn="l"/>
              </a:tabLst>
            </a:pPr>
            <a:r>
              <a:rPr sz="1400" dirty="0">
                <a:latin typeface="Calibri"/>
                <a:cs typeface="Calibri"/>
              </a:rPr>
              <a:t>the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variance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10" dirty="0">
                <a:latin typeface="Calibri"/>
                <a:cs typeface="Calibri"/>
              </a:rPr>
              <a:t> prediction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reduced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(no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big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loss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from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random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errors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that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single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classifier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is </a:t>
            </a:r>
            <a:r>
              <a:rPr sz="1400" dirty="0">
                <a:latin typeface="Calibri"/>
                <a:cs typeface="Calibri"/>
              </a:rPr>
              <a:t>bound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make).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85"/>
              </a:spcBef>
            </a:pPr>
            <a:endParaRPr sz="1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2400" spc="-10" dirty="0">
                <a:latin typeface="Calibri"/>
                <a:cs typeface="Calibri"/>
              </a:rPr>
              <a:t>Bagging:</a:t>
            </a:r>
            <a:endParaRPr sz="2400">
              <a:latin typeface="Calibri"/>
              <a:cs typeface="Calibri"/>
            </a:endParaRPr>
          </a:p>
          <a:p>
            <a:pPr marL="824865" lvl="1" indent="-354965">
              <a:lnSpc>
                <a:spcPct val="100000"/>
              </a:lnSpc>
              <a:spcBef>
                <a:spcPts val="580"/>
              </a:spcBef>
              <a:buChar char="•"/>
              <a:tabLst>
                <a:tab pos="824865" algn="l"/>
              </a:tabLst>
            </a:pPr>
            <a:r>
              <a:rPr sz="2400" dirty="0">
                <a:latin typeface="Calibri"/>
                <a:cs typeface="Calibri"/>
              </a:rPr>
              <a:t>Sample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bootstrap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samples.</a:t>
            </a:r>
            <a:endParaRPr sz="2400">
              <a:latin typeface="Calibri"/>
              <a:cs typeface="Calibri"/>
            </a:endParaRPr>
          </a:p>
          <a:p>
            <a:pPr marL="824865" lvl="1" indent="-354965">
              <a:lnSpc>
                <a:spcPct val="100000"/>
              </a:lnSpc>
              <a:spcBef>
                <a:spcPts val="575"/>
              </a:spcBef>
              <a:buChar char="•"/>
              <a:tabLst>
                <a:tab pos="824865" algn="l"/>
              </a:tabLst>
            </a:pPr>
            <a:r>
              <a:rPr sz="2400" spc="-35" dirty="0">
                <a:latin typeface="Calibri"/>
                <a:cs typeface="Calibri"/>
              </a:rPr>
              <a:t>Train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different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classifiers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these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bootstrap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samples</a:t>
            </a:r>
            <a:endParaRPr sz="2400">
              <a:latin typeface="Calibri"/>
              <a:cs typeface="Calibri"/>
            </a:endParaRPr>
          </a:p>
          <a:p>
            <a:pPr marL="824865" lvl="1" indent="-354965">
              <a:lnSpc>
                <a:spcPct val="100000"/>
              </a:lnSpc>
              <a:spcBef>
                <a:spcPts val="580"/>
              </a:spcBef>
              <a:buChar char="•"/>
              <a:tabLst>
                <a:tab pos="824865" algn="l"/>
              </a:tabLst>
            </a:pPr>
            <a:r>
              <a:rPr sz="2400" dirty="0">
                <a:latin typeface="Calibri"/>
                <a:cs typeface="Calibri"/>
              </a:rPr>
              <a:t>For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new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query,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classifiers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predict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take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an</a:t>
            </a:r>
            <a:endParaRPr sz="2400">
              <a:latin typeface="Calibri"/>
              <a:cs typeface="Calibri"/>
            </a:endParaRPr>
          </a:p>
          <a:p>
            <a:pPr marL="756285">
              <a:lnSpc>
                <a:spcPct val="100000"/>
              </a:lnSpc>
            </a:pPr>
            <a:r>
              <a:rPr sz="2400" spc="-10" dirty="0">
                <a:latin typeface="Calibri"/>
                <a:cs typeface="Calibri"/>
              </a:rPr>
              <a:t>average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(or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majority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vote)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3670" y="1113974"/>
            <a:ext cx="8296909" cy="181610"/>
            <a:chOff x="423670" y="1113974"/>
            <a:chExt cx="8296909" cy="181610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3670" y="1113974"/>
              <a:ext cx="8296659" cy="18149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57199" y="1143000"/>
              <a:ext cx="8229600" cy="76200"/>
            </a:xfrm>
            <a:custGeom>
              <a:avLst/>
              <a:gdLst/>
              <a:ahLst/>
              <a:cxnLst/>
              <a:rect l="l" t="t" r="r" b="b"/>
              <a:pathLst>
                <a:path w="8229600" h="76200">
                  <a:moveTo>
                    <a:pt x="0" y="76200"/>
                  </a:moveTo>
                  <a:lnTo>
                    <a:pt x="8229600" y="0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457200" y="6248400"/>
            <a:ext cx="8229600" cy="1905"/>
          </a:xfrm>
          <a:custGeom>
            <a:avLst/>
            <a:gdLst/>
            <a:ahLst/>
            <a:cxnLst/>
            <a:rect l="l" t="t" r="r" b="b"/>
            <a:pathLst>
              <a:path w="8229600" h="1904">
                <a:moveTo>
                  <a:pt x="0" y="0"/>
                </a:moveTo>
                <a:lnTo>
                  <a:pt x="8229600" y="1587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2821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" dirty="0"/>
              <a:t>Bagging</a:t>
            </a:r>
            <a:endParaRPr sz="4400"/>
          </a:p>
        </p:txBody>
      </p:sp>
      <p:sp>
        <p:nvSpPr>
          <p:cNvPr id="7" name="object 7"/>
          <p:cNvSpPr txBox="1"/>
          <p:nvPr/>
        </p:nvSpPr>
        <p:spPr>
          <a:xfrm>
            <a:off x="618540" y="1814830"/>
            <a:ext cx="8034020" cy="36849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439420" algn="just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A</a:t>
            </a:r>
            <a:r>
              <a:rPr sz="2000" spc="-1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bootstrap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sample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chosen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random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i="1" dirty="0">
                <a:latin typeface="Arial"/>
                <a:cs typeface="Arial"/>
              </a:rPr>
              <a:t>with</a:t>
            </a:r>
            <a:r>
              <a:rPr sz="2000" i="1" spc="-20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replacement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from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the </a:t>
            </a:r>
            <a:r>
              <a:rPr sz="2000" dirty="0">
                <a:latin typeface="Arial MT"/>
                <a:cs typeface="Arial MT"/>
              </a:rPr>
              <a:t>data.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Some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observations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end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up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bootstrap</a:t>
            </a:r>
            <a:r>
              <a:rPr sz="2000" spc="-7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sample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more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than </a:t>
            </a:r>
            <a:r>
              <a:rPr sz="2000" dirty="0">
                <a:latin typeface="Arial MT"/>
                <a:cs typeface="Arial MT"/>
              </a:rPr>
              <a:t>once,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while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others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not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included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(“</a:t>
            </a:r>
            <a:r>
              <a:rPr sz="2000" b="1" i="1" dirty="0">
                <a:latin typeface="Arial"/>
                <a:cs typeface="Arial"/>
              </a:rPr>
              <a:t>out</a:t>
            </a:r>
            <a:r>
              <a:rPr sz="2000" b="1" i="1" spc="-55" dirty="0">
                <a:latin typeface="Arial"/>
                <a:cs typeface="Arial"/>
              </a:rPr>
              <a:t> </a:t>
            </a:r>
            <a:r>
              <a:rPr sz="2000" b="1" i="1" dirty="0">
                <a:latin typeface="Arial"/>
                <a:cs typeface="Arial"/>
              </a:rPr>
              <a:t>of</a:t>
            </a:r>
            <a:r>
              <a:rPr sz="2000" b="1" i="1" spc="-10" dirty="0">
                <a:latin typeface="Arial"/>
                <a:cs typeface="Arial"/>
              </a:rPr>
              <a:t> bag</a:t>
            </a:r>
            <a:r>
              <a:rPr sz="2000" spc="-10" dirty="0">
                <a:latin typeface="Arial MT"/>
                <a:cs typeface="Arial MT"/>
              </a:rPr>
              <a:t>”).</a:t>
            </a:r>
            <a:endParaRPr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 dirty="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sz="2000" dirty="0">
                <a:latin typeface="Arial MT"/>
                <a:cs typeface="Arial MT"/>
              </a:rPr>
              <a:t>Bagging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reduces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b="1" i="1" dirty="0">
                <a:latin typeface="Arial"/>
                <a:cs typeface="Arial"/>
              </a:rPr>
              <a:t>variance</a:t>
            </a:r>
            <a:r>
              <a:rPr sz="2000" b="1" i="1" spc="-35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base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learner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but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has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limited</a:t>
            </a:r>
            <a:r>
              <a:rPr sz="2000" spc="-10" dirty="0">
                <a:latin typeface="Arial MT"/>
                <a:cs typeface="Arial MT"/>
              </a:rPr>
              <a:t> effect </a:t>
            </a:r>
            <a:r>
              <a:rPr sz="2000" dirty="0">
                <a:latin typeface="Arial MT"/>
                <a:cs typeface="Arial MT"/>
              </a:rPr>
              <a:t>on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b="1" i="1" spc="-20" dirty="0">
                <a:latin typeface="Arial"/>
                <a:cs typeface="Arial"/>
              </a:rPr>
              <a:t>bias</a:t>
            </a:r>
            <a:r>
              <a:rPr sz="2000" b="1" spc="-20" dirty="0">
                <a:latin typeface="Arial"/>
                <a:cs typeface="Arial"/>
              </a:rPr>
              <a:t>.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 dirty="0">
              <a:latin typeface="Arial"/>
              <a:cs typeface="Arial"/>
            </a:endParaRPr>
          </a:p>
          <a:p>
            <a:pPr marL="12700" marR="337185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Arial MT"/>
                <a:cs typeface="Arial MT"/>
              </a:rPr>
              <a:t>•It’s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most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effective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if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i="1" dirty="0">
                <a:latin typeface="Arial"/>
                <a:cs typeface="Arial"/>
              </a:rPr>
              <a:t>strong</a:t>
            </a:r>
            <a:r>
              <a:rPr sz="2000" i="1" spc="-50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base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learners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have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very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little </a:t>
            </a:r>
            <a:r>
              <a:rPr sz="2000" dirty="0">
                <a:latin typeface="Arial MT"/>
                <a:cs typeface="Arial MT"/>
              </a:rPr>
              <a:t>bias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but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high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variance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(unstable).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E.g.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trees.</a:t>
            </a:r>
            <a:endParaRPr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 dirty="0">
              <a:latin typeface="Arial MT"/>
              <a:cs typeface="Arial MT"/>
            </a:endParaRPr>
          </a:p>
          <a:p>
            <a:pPr marL="100330" indent="-97155">
              <a:lnSpc>
                <a:spcPct val="100000"/>
              </a:lnSpc>
              <a:buSzPct val="95000"/>
              <a:buChar char="•"/>
              <a:tabLst>
                <a:tab pos="100330" algn="l"/>
              </a:tabLst>
            </a:pPr>
            <a:r>
              <a:rPr sz="2000" dirty="0">
                <a:latin typeface="Arial MT"/>
                <a:cs typeface="Arial MT"/>
              </a:rPr>
              <a:t>Both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b="1" dirty="0">
                <a:latin typeface="Arial"/>
                <a:cs typeface="Arial"/>
              </a:rPr>
              <a:t>bagging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b="1" dirty="0">
                <a:latin typeface="Arial"/>
                <a:cs typeface="Arial"/>
              </a:rPr>
              <a:t>boosting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are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examples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“ensemble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learners”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that</a:t>
            </a:r>
            <a:endParaRPr sz="20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Arial MT"/>
                <a:cs typeface="Arial MT"/>
              </a:rPr>
              <a:t>were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popular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machine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learning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‘90s.</a:t>
            </a:r>
            <a:endParaRPr sz="20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461594"/>
            <a:ext cx="23063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spc="-10" dirty="0">
                <a:latin typeface="Calibri"/>
                <a:cs typeface="Calibri"/>
              </a:rPr>
              <a:t>Bootstrap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4065" y="1281760"/>
            <a:ext cx="8312784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basic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idea: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880"/>
              </a:spcBef>
            </a:pPr>
            <a:r>
              <a:rPr sz="2400" dirty="0">
                <a:latin typeface="Calibri"/>
                <a:cs typeface="Calibri"/>
              </a:rPr>
              <a:t>randomly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draw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datasets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with</a:t>
            </a:r>
            <a:r>
              <a:rPr sz="2400" i="1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spc="-10" dirty="0">
                <a:solidFill>
                  <a:srgbClr val="FF0000"/>
                </a:solidFill>
                <a:latin typeface="Calibri"/>
                <a:cs typeface="Calibri"/>
              </a:rPr>
              <a:t>replacement</a:t>
            </a:r>
            <a:r>
              <a:rPr sz="2400" i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Calibri"/>
                <a:cs typeface="Calibri"/>
              </a:rPr>
              <a:t>training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data,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sample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400" i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same</a:t>
            </a:r>
            <a:r>
              <a:rPr sz="2400" i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size</a:t>
            </a:r>
            <a:r>
              <a:rPr sz="2400" i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as</a:t>
            </a:r>
            <a:r>
              <a:rPr sz="2400" i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400" i="1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original</a:t>
            </a:r>
            <a:r>
              <a:rPr sz="2400" i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training</a:t>
            </a:r>
            <a:r>
              <a:rPr sz="2400" i="1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spc="-25" dirty="0">
                <a:solidFill>
                  <a:srgbClr val="FF0000"/>
                </a:solidFill>
                <a:latin typeface="Calibri"/>
                <a:cs typeface="Calibri"/>
              </a:rPr>
              <a:t>set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79425" y="3065967"/>
            <a:ext cx="4253878" cy="2874486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76047" rIns="0" bIns="0" rtlCol="0">
            <a:spAutoFit/>
          </a:bodyPr>
          <a:lstStyle/>
          <a:p>
            <a:pPr marL="74295">
              <a:lnSpc>
                <a:spcPct val="100000"/>
              </a:lnSpc>
              <a:spcBef>
                <a:spcPts val="95"/>
              </a:spcBef>
            </a:pPr>
            <a:r>
              <a:rPr dirty="0"/>
              <a:t>Random</a:t>
            </a:r>
            <a:r>
              <a:rPr spc="-165" dirty="0"/>
              <a:t> </a:t>
            </a:r>
            <a:r>
              <a:rPr spc="-10" dirty="0"/>
              <a:t>Forest</a:t>
            </a:r>
            <a:r>
              <a:rPr spc="-155" dirty="0"/>
              <a:t> </a:t>
            </a:r>
            <a:r>
              <a:rPr spc="-10" dirty="0"/>
              <a:t>Classifier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207" y="2732427"/>
            <a:ext cx="330200" cy="145732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380"/>
              </a:lnSpc>
            </a:pPr>
            <a:r>
              <a:rPr sz="2400" dirty="0">
                <a:latin typeface="Calibri"/>
                <a:cs typeface="Calibri"/>
              </a:rPr>
              <a:t>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examples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28625" y="1890712"/>
            <a:ext cx="3001010" cy="4219575"/>
            <a:chOff x="428625" y="1890712"/>
            <a:chExt cx="3001010" cy="4219575"/>
          </a:xfrm>
        </p:grpSpPr>
        <p:sp>
          <p:nvSpPr>
            <p:cNvPr id="5" name="object 5"/>
            <p:cNvSpPr/>
            <p:nvPr/>
          </p:nvSpPr>
          <p:spPr>
            <a:xfrm>
              <a:off x="2271776" y="1905000"/>
              <a:ext cx="1143000" cy="914400"/>
            </a:xfrm>
            <a:custGeom>
              <a:avLst/>
              <a:gdLst/>
              <a:ahLst/>
              <a:cxnLst/>
              <a:rect l="l" t="t" r="r" b="b"/>
              <a:pathLst>
                <a:path w="1143000" h="914400">
                  <a:moveTo>
                    <a:pt x="1143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1143000" y="914400"/>
                  </a:lnTo>
                  <a:lnTo>
                    <a:pt x="1143000" y="0"/>
                  </a:lnTo>
                  <a:close/>
                </a:path>
              </a:pathLst>
            </a:custGeom>
            <a:solidFill>
              <a:srgbClr val="4D9F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271776" y="1905000"/>
              <a:ext cx="1143000" cy="914400"/>
            </a:xfrm>
            <a:custGeom>
              <a:avLst/>
              <a:gdLst/>
              <a:ahLst/>
              <a:cxnLst/>
              <a:rect l="l" t="t" r="r" b="b"/>
              <a:pathLst>
                <a:path w="1143000" h="914400">
                  <a:moveTo>
                    <a:pt x="0" y="914400"/>
                  </a:moveTo>
                  <a:lnTo>
                    <a:pt x="1143000" y="914400"/>
                  </a:lnTo>
                  <a:lnTo>
                    <a:pt x="114300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71776" y="3200400"/>
              <a:ext cx="1143000" cy="914400"/>
            </a:xfrm>
            <a:custGeom>
              <a:avLst/>
              <a:gdLst/>
              <a:ahLst/>
              <a:cxnLst/>
              <a:rect l="l" t="t" r="r" b="b"/>
              <a:pathLst>
                <a:path w="1143000" h="914400">
                  <a:moveTo>
                    <a:pt x="1143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1143000" y="914400"/>
                  </a:lnTo>
                  <a:lnTo>
                    <a:pt x="1143000" y="0"/>
                  </a:lnTo>
                  <a:close/>
                </a:path>
              </a:pathLst>
            </a:custGeom>
            <a:solidFill>
              <a:srgbClr val="4D9F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71776" y="3200400"/>
              <a:ext cx="1143000" cy="914400"/>
            </a:xfrm>
            <a:custGeom>
              <a:avLst/>
              <a:gdLst/>
              <a:ahLst/>
              <a:cxnLst/>
              <a:rect l="l" t="t" r="r" b="b"/>
              <a:pathLst>
                <a:path w="1143000" h="914400">
                  <a:moveTo>
                    <a:pt x="0" y="914400"/>
                  </a:moveTo>
                  <a:lnTo>
                    <a:pt x="1143000" y="914400"/>
                  </a:lnTo>
                  <a:lnTo>
                    <a:pt x="114300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85975" y="3409950"/>
              <a:ext cx="657225" cy="457200"/>
            </a:xfrm>
            <a:custGeom>
              <a:avLst/>
              <a:gdLst/>
              <a:ahLst/>
              <a:cxnLst/>
              <a:rect l="l" t="t" r="r" b="b"/>
              <a:pathLst>
                <a:path w="657225" h="457200">
                  <a:moveTo>
                    <a:pt x="542798" y="342900"/>
                  </a:moveTo>
                  <a:lnTo>
                    <a:pt x="542798" y="457200"/>
                  </a:lnTo>
                  <a:lnTo>
                    <a:pt x="618998" y="419100"/>
                  </a:lnTo>
                  <a:lnTo>
                    <a:pt x="561848" y="419100"/>
                  </a:lnTo>
                  <a:lnTo>
                    <a:pt x="561848" y="381000"/>
                  </a:lnTo>
                  <a:lnTo>
                    <a:pt x="618998" y="381000"/>
                  </a:lnTo>
                  <a:lnTo>
                    <a:pt x="542798" y="342900"/>
                  </a:lnTo>
                  <a:close/>
                </a:path>
                <a:path w="657225" h="457200">
                  <a:moveTo>
                    <a:pt x="309499" y="19050"/>
                  </a:moveTo>
                  <a:lnTo>
                    <a:pt x="309499" y="419100"/>
                  </a:lnTo>
                  <a:lnTo>
                    <a:pt x="542798" y="419100"/>
                  </a:lnTo>
                  <a:lnTo>
                    <a:pt x="542798" y="400050"/>
                  </a:lnTo>
                  <a:lnTo>
                    <a:pt x="347599" y="400050"/>
                  </a:lnTo>
                  <a:lnTo>
                    <a:pt x="328549" y="381000"/>
                  </a:lnTo>
                  <a:lnTo>
                    <a:pt x="347599" y="381000"/>
                  </a:lnTo>
                  <a:lnTo>
                    <a:pt x="347599" y="38100"/>
                  </a:lnTo>
                  <a:lnTo>
                    <a:pt x="328549" y="38100"/>
                  </a:lnTo>
                  <a:lnTo>
                    <a:pt x="309499" y="19050"/>
                  </a:lnTo>
                  <a:close/>
                </a:path>
                <a:path w="657225" h="457200">
                  <a:moveTo>
                    <a:pt x="618998" y="381000"/>
                  </a:moveTo>
                  <a:lnTo>
                    <a:pt x="561848" y="381000"/>
                  </a:lnTo>
                  <a:lnTo>
                    <a:pt x="561848" y="419100"/>
                  </a:lnTo>
                  <a:lnTo>
                    <a:pt x="618998" y="419100"/>
                  </a:lnTo>
                  <a:lnTo>
                    <a:pt x="657098" y="400050"/>
                  </a:lnTo>
                  <a:lnTo>
                    <a:pt x="618998" y="381000"/>
                  </a:lnTo>
                  <a:close/>
                </a:path>
                <a:path w="657225" h="457200">
                  <a:moveTo>
                    <a:pt x="347599" y="381000"/>
                  </a:moveTo>
                  <a:lnTo>
                    <a:pt x="328549" y="381000"/>
                  </a:lnTo>
                  <a:lnTo>
                    <a:pt x="347599" y="400050"/>
                  </a:lnTo>
                  <a:lnTo>
                    <a:pt x="347599" y="381000"/>
                  </a:lnTo>
                  <a:close/>
                </a:path>
                <a:path w="657225" h="457200">
                  <a:moveTo>
                    <a:pt x="542798" y="381000"/>
                  </a:moveTo>
                  <a:lnTo>
                    <a:pt x="347599" y="381000"/>
                  </a:lnTo>
                  <a:lnTo>
                    <a:pt x="347599" y="400050"/>
                  </a:lnTo>
                  <a:lnTo>
                    <a:pt x="542798" y="400050"/>
                  </a:lnTo>
                  <a:lnTo>
                    <a:pt x="542798" y="381000"/>
                  </a:lnTo>
                  <a:close/>
                </a:path>
                <a:path w="657225" h="457200">
                  <a:moveTo>
                    <a:pt x="347599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309499" y="38100"/>
                  </a:lnTo>
                  <a:lnTo>
                    <a:pt x="309499" y="19050"/>
                  </a:lnTo>
                  <a:lnTo>
                    <a:pt x="347599" y="19050"/>
                  </a:lnTo>
                  <a:lnTo>
                    <a:pt x="347599" y="0"/>
                  </a:lnTo>
                  <a:close/>
                </a:path>
                <a:path w="657225" h="457200">
                  <a:moveTo>
                    <a:pt x="347599" y="19050"/>
                  </a:moveTo>
                  <a:lnTo>
                    <a:pt x="309499" y="19050"/>
                  </a:lnTo>
                  <a:lnTo>
                    <a:pt x="328549" y="38100"/>
                  </a:lnTo>
                  <a:lnTo>
                    <a:pt x="347599" y="38100"/>
                  </a:lnTo>
                  <a:lnTo>
                    <a:pt x="347599" y="190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271776" y="5181600"/>
              <a:ext cx="1143000" cy="914400"/>
            </a:xfrm>
            <a:custGeom>
              <a:avLst/>
              <a:gdLst/>
              <a:ahLst/>
              <a:cxnLst/>
              <a:rect l="l" t="t" r="r" b="b"/>
              <a:pathLst>
                <a:path w="1143000" h="914400">
                  <a:moveTo>
                    <a:pt x="1143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1143000" y="914400"/>
                  </a:lnTo>
                  <a:lnTo>
                    <a:pt x="1143000" y="0"/>
                  </a:lnTo>
                  <a:close/>
                </a:path>
              </a:pathLst>
            </a:custGeom>
            <a:solidFill>
              <a:srgbClr val="4D9F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271776" y="5181600"/>
              <a:ext cx="1143000" cy="914400"/>
            </a:xfrm>
            <a:custGeom>
              <a:avLst/>
              <a:gdLst/>
              <a:ahLst/>
              <a:cxnLst/>
              <a:rect l="l" t="t" r="r" b="b"/>
              <a:pathLst>
                <a:path w="1143000" h="914400">
                  <a:moveTo>
                    <a:pt x="0" y="914400"/>
                  </a:moveTo>
                  <a:lnTo>
                    <a:pt x="1143000" y="914400"/>
                  </a:lnTo>
                  <a:lnTo>
                    <a:pt x="114300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585975" y="3257550"/>
              <a:ext cx="657225" cy="2438400"/>
            </a:xfrm>
            <a:custGeom>
              <a:avLst/>
              <a:gdLst/>
              <a:ahLst/>
              <a:cxnLst/>
              <a:rect l="l" t="t" r="r" b="b"/>
              <a:pathLst>
                <a:path w="657225" h="2438400">
                  <a:moveTo>
                    <a:pt x="542798" y="2324100"/>
                  </a:moveTo>
                  <a:lnTo>
                    <a:pt x="542798" y="2438400"/>
                  </a:lnTo>
                  <a:lnTo>
                    <a:pt x="618998" y="2400300"/>
                  </a:lnTo>
                  <a:lnTo>
                    <a:pt x="561848" y="2400300"/>
                  </a:lnTo>
                  <a:lnTo>
                    <a:pt x="561848" y="2362200"/>
                  </a:lnTo>
                  <a:lnTo>
                    <a:pt x="618998" y="2362200"/>
                  </a:lnTo>
                  <a:lnTo>
                    <a:pt x="542798" y="2324100"/>
                  </a:lnTo>
                  <a:close/>
                </a:path>
                <a:path w="657225" h="2438400">
                  <a:moveTo>
                    <a:pt x="309499" y="19050"/>
                  </a:moveTo>
                  <a:lnTo>
                    <a:pt x="309499" y="2400300"/>
                  </a:lnTo>
                  <a:lnTo>
                    <a:pt x="542798" y="2400300"/>
                  </a:lnTo>
                  <a:lnTo>
                    <a:pt x="542798" y="2381250"/>
                  </a:lnTo>
                  <a:lnTo>
                    <a:pt x="347599" y="2381250"/>
                  </a:lnTo>
                  <a:lnTo>
                    <a:pt x="328549" y="2362200"/>
                  </a:lnTo>
                  <a:lnTo>
                    <a:pt x="347599" y="2362200"/>
                  </a:lnTo>
                  <a:lnTo>
                    <a:pt x="347599" y="38100"/>
                  </a:lnTo>
                  <a:lnTo>
                    <a:pt x="328549" y="38100"/>
                  </a:lnTo>
                  <a:lnTo>
                    <a:pt x="309499" y="19050"/>
                  </a:lnTo>
                  <a:close/>
                </a:path>
                <a:path w="657225" h="2438400">
                  <a:moveTo>
                    <a:pt x="618998" y="2362200"/>
                  </a:moveTo>
                  <a:lnTo>
                    <a:pt x="561848" y="2362200"/>
                  </a:lnTo>
                  <a:lnTo>
                    <a:pt x="561848" y="2400300"/>
                  </a:lnTo>
                  <a:lnTo>
                    <a:pt x="618998" y="2400300"/>
                  </a:lnTo>
                  <a:lnTo>
                    <a:pt x="657098" y="2381250"/>
                  </a:lnTo>
                  <a:lnTo>
                    <a:pt x="618998" y="2362200"/>
                  </a:lnTo>
                  <a:close/>
                </a:path>
                <a:path w="657225" h="2438400">
                  <a:moveTo>
                    <a:pt x="347599" y="2362200"/>
                  </a:moveTo>
                  <a:lnTo>
                    <a:pt x="328549" y="2362200"/>
                  </a:lnTo>
                  <a:lnTo>
                    <a:pt x="347599" y="2381250"/>
                  </a:lnTo>
                  <a:lnTo>
                    <a:pt x="347599" y="2362200"/>
                  </a:lnTo>
                  <a:close/>
                </a:path>
                <a:path w="657225" h="2438400">
                  <a:moveTo>
                    <a:pt x="542798" y="2362200"/>
                  </a:moveTo>
                  <a:lnTo>
                    <a:pt x="347599" y="2362200"/>
                  </a:lnTo>
                  <a:lnTo>
                    <a:pt x="347599" y="2381250"/>
                  </a:lnTo>
                  <a:lnTo>
                    <a:pt x="542798" y="2381250"/>
                  </a:lnTo>
                  <a:lnTo>
                    <a:pt x="542798" y="2362200"/>
                  </a:lnTo>
                  <a:close/>
                </a:path>
                <a:path w="657225" h="2438400">
                  <a:moveTo>
                    <a:pt x="347599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309499" y="38100"/>
                  </a:lnTo>
                  <a:lnTo>
                    <a:pt x="309499" y="19050"/>
                  </a:lnTo>
                  <a:lnTo>
                    <a:pt x="347599" y="19050"/>
                  </a:lnTo>
                  <a:lnTo>
                    <a:pt x="347599" y="0"/>
                  </a:lnTo>
                  <a:close/>
                </a:path>
                <a:path w="657225" h="2438400">
                  <a:moveTo>
                    <a:pt x="347599" y="19050"/>
                  </a:moveTo>
                  <a:lnTo>
                    <a:pt x="309499" y="19050"/>
                  </a:lnTo>
                  <a:lnTo>
                    <a:pt x="328549" y="38100"/>
                  </a:lnTo>
                  <a:lnTo>
                    <a:pt x="347599" y="38100"/>
                  </a:lnTo>
                  <a:lnTo>
                    <a:pt x="347599" y="190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42912" y="2895600"/>
              <a:ext cx="1143000" cy="914400"/>
            </a:xfrm>
            <a:custGeom>
              <a:avLst/>
              <a:gdLst/>
              <a:ahLst/>
              <a:cxnLst/>
              <a:rect l="l" t="t" r="r" b="b"/>
              <a:pathLst>
                <a:path w="1143000" h="914400">
                  <a:moveTo>
                    <a:pt x="1143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1143000" y="914400"/>
                  </a:lnTo>
                  <a:lnTo>
                    <a:pt x="1143000" y="0"/>
                  </a:lnTo>
                  <a:close/>
                </a:path>
              </a:pathLst>
            </a:custGeom>
            <a:solidFill>
              <a:srgbClr val="EBAB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42912" y="2895600"/>
              <a:ext cx="1143000" cy="914400"/>
            </a:xfrm>
            <a:custGeom>
              <a:avLst/>
              <a:gdLst/>
              <a:ahLst/>
              <a:cxnLst/>
              <a:rect l="l" t="t" r="r" b="b"/>
              <a:pathLst>
                <a:path w="1143000" h="914400">
                  <a:moveTo>
                    <a:pt x="0" y="914400"/>
                  </a:moveTo>
                  <a:lnTo>
                    <a:pt x="1143000" y="914400"/>
                  </a:lnTo>
                  <a:lnTo>
                    <a:pt x="114300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585975" y="2457450"/>
              <a:ext cx="657225" cy="685800"/>
            </a:xfrm>
            <a:custGeom>
              <a:avLst/>
              <a:gdLst/>
              <a:ahLst/>
              <a:cxnLst/>
              <a:rect l="l" t="t" r="r" b="b"/>
              <a:pathLst>
                <a:path w="657225" h="685800">
                  <a:moveTo>
                    <a:pt x="309499" y="647700"/>
                  </a:moveTo>
                  <a:lnTo>
                    <a:pt x="0" y="647700"/>
                  </a:lnTo>
                  <a:lnTo>
                    <a:pt x="0" y="685800"/>
                  </a:lnTo>
                  <a:lnTo>
                    <a:pt x="347599" y="685800"/>
                  </a:lnTo>
                  <a:lnTo>
                    <a:pt x="347599" y="666750"/>
                  </a:lnTo>
                  <a:lnTo>
                    <a:pt x="309499" y="666750"/>
                  </a:lnTo>
                  <a:lnTo>
                    <a:pt x="309499" y="647700"/>
                  </a:lnTo>
                  <a:close/>
                </a:path>
                <a:path w="657225" h="685800">
                  <a:moveTo>
                    <a:pt x="542798" y="38100"/>
                  </a:moveTo>
                  <a:lnTo>
                    <a:pt x="309499" y="38100"/>
                  </a:lnTo>
                  <a:lnTo>
                    <a:pt x="309499" y="666750"/>
                  </a:lnTo>
                  <a:lnTo>
                    <a:pt x="328549" y="647700"/>
                  </a:lnTo>
                  <a:lnTo>
                    <a:pt x="347599" y="647700"/>
                  </a:lnTo>
                  <a:lnTo>
                    <a:pt x="347599" y="76200"/>
                  </a:lnTo>
                  <a:lnTo>
                    <a:pt x="328549" y="76200"/>
                  </a:lnTo>
                  <a:lnTo>
                    <a:pt x="347599" y="57150"/>
                  </a:lnTo>
                  <a:lnTo>
                    <a:pt x="542798" y="57150"/>
                  </a:lnTo>
                  <a:lnTo>
                    <a:pt x="542798" y="38100"/>
                  </a:lnTo>
                  <a:close/>
                </a:path>
                <a:path w="657225" h="685800">
                  <a:moveTo>
                    <a:pt x="347599" y="647700"/>
                  </a:moveTo>
                  <a:lnTo>
                    <a:pt x="328549" y="647700"/>
                  </a:lnTo>
                  <a:lnTo>
                    <a:pt x="309499" y="666750"/>
                  </a:lnTo>
                  <a:lnTo>
                    <a:pt x="347599" y="666750"/>
                  </a:lnTo>
                  <a:lnTo>
                    <a:pt x="347599" y="647700"/>
                  </a:lnTo>
                  <a:close/>
                </a:path>
                <a:path w="657225" h="685800">
                  <a:moveTo>
                    <a:pt x="542798" y="0"/>
                  </a:moveTo>
                  <a:lnTo>
                    <a:pt x="542798" y="114300"/>
                  </a:lnTo>
                  <a:lnTo>
                    <a:pt x="618998" y="76200"/>
                  </a:lnTo>
                  <a:lnTo>
                    <a:pt x="561848" y="76200"/>
                  </a:lnTo>
                  <a:lnTo>
                    <a:pt x="561848" y="38100"/>
                  </a:lnTo>
                  <a:lnTo>
                    <a:pt x="618998" y="38100"/>
                  </a:lnTo>
                  <a:lnTo>
                    <a:pt x="542798" y="0"/>
                  </a:lnTo>
                  <a:close/>
                </a:path>
                <a:path w="657225" h="685800">
                  <a:moveTo>
                    <a:pt x="347599" y="57150"/>
                  </a:moveTo>
                  <a:lnTo>
                    <a:pt x="328549" y="76200"/>
                  </a:lnTo>
                  <a:lnTo>
                    <a:pt x="347599" y="76200"/>
                  </a:lnTo>
                  <a:lnTo>
                    <a:pt x="347599" y="57150"/>
                  </a:lnTo>
                  <a:close/>
                </a:path>
                <a:path w="657225" h="685800">
                  <a:moveTo>
                    <a:pt x="542798" y="57150"/>
                  </a:moveTo>
                  <a:lnTo>
                    <a:pt x="347599" y="57150"/>
                  </a:lnTo>
                  <a:lnTo>
                    <a:pt x="347599" y="76200"/>
                  </a:lnTo>
                  <a:lnTo>
                    <a:pt x="542798" y="76200"/>
                  </a:lnTo>
                  <a:lnTo>
                    <a:pt x="542798" y="57150"/>
                  </a:lnTo>
                  <a:close/>
                </a:path>
                <a:path w="657225" h="685800">
                  <a:moveTo>
                    <a:pt x="618998" y="38100"/>
                  </a:moveTo>
                  <a:lnTo>
                    <a:pt x="561848" y="38100"/>
                  </a:lnTo>
                  <a:lnTo>
                    <a:pt x="561848" y="76200"/>
                  </a:lnTo>
                  <a:lnTo>
                    <a:pt x="618998" y="76200"/>
                  </a:lnTo>
                  <a:lnTo>
                    <a:pt x="657098" y="57150"/>
                  </a:lnTo>
                  <a:lnTo>
                    <a:pt x="618998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595245" y="4274225"/>
            <a:ext cx="356235" cy="61404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575"/>
              </a:lnSpc>
            </a:pPr>
            <a:r>
              <a:rPr sz="2600" b="1" spc="-10" dirty="0">
                <a:latin typeface="Calibri"/>
                <a:cs typeface="Calibri"/>
              </a:rPr>
              <a:t>....…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33195" algn="ctr">
              <a:lnSpc>
                <a:spcPts val="2375"/>
              </a:lnSpc>
              <a:spcBef>
                <a:spcPts val="95"/>
              </a:spcBef>
            </a:pPr>
            <a:r>
              <a:rPr dirty="0"/>
              <a:t>Create</a:t>
            </a:r>
            <a:r>
              <a:rPr spc="-75" dirty="0"/>
              <a:t> </a:t>
            </a:r>
            <a:r>
              <a:rPr spc="-10" dirty="0"/>
              <a:t>bootstrap</a:t>
            </a:r>
            <a:r>
              <a:rPr spc="-80" dirty="0"/>
              <a:t> </a:t>
            </a:r>
            <a:r>
              <a:rPr spc="-10" dirty="0"/>
              <a:t>samples</a:t>
            </a:r>
          </a:p>
          <a:p>
            <a:pPr marL="1431925" algn="ctr">
              <a:lnSpc>
                <a:spcPts val="2375"/>
              </a:lnSpc>
            </a:pPr>
            <a:r>
              <a:rPr dirty="0"/>
              <a:t>from</a:t>
            </a:r>
            <a:r>
              <a:rPr spc="-60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training</a:t>
            </a:r>
            <a:r>
              <a:rPr spc="-55" dirty="0"/>
              <a:t> </a:t>
            </a:r>
            <a:r>
              <a:rPr spc="-20" dirty="0"/>
              <a:t>data</a:t>
            </a:r>
          </a:p>
          <a:p>
            <a:pPr>
              <a:lnSpc>
                <a:spcPct val="100000"/>
              </a:lnSpc>
              <a:spcBef>
                <a:spcPts val="1035"/>
              </a:spcBef>
            </a:pPr>
            <a:endParaRPr spc="-20" dirty="0"/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dirty="0"/>
              <a:t>M</a:t>
            </a:r>
            <a:r>
              <a:rPr sz="2400" spc="-5" dirty="0"/>
              <a:t> </a:t>
            </a:r>
            <a:r>
              <a:rPr sz="2400" spc="-10" dirty="0"/>
              <a:t>features</a:t>
            </a:r>
            <a:endParaRPr sz="240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05200" y="1981073"/>
            <a:ext cx="5638800" cy="3249930"/>
            <a:chOff x="3505200" y="1981073"/>
            <a:chExt cx="5638800" cy="324993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81400" y="1981073"/>
              <a:ext cx="5562600" cy="324967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505200" y="2230247"/>
              <a:ext cx="990600" cy="114300"/>
            </a:xfrm>
            <a:custGeom>
              <a:avLst/>
              <a:gdLst/>
              <a:ahLst/>
              <a:cxnLst/>
              <a:rect l="l" t="t" r="r" b="b"/>
              <a:pathLst>
                <a:path w="990600" h="114300">
                  <a:moveTo>
                    <a:pt x="876257" y="76170"/>
                  </a:moveTo>
                  <a:lnTo>
                    <a:pt x="876173" y="114300"/>
                  </a:lnTo>
                  <a:lnTo>
                    <a:pt x="952627" y="76200"/>
                  </a:lnTo>
                  <a:lnTo>
                    <a:pt x="895350" y="76200"/>
                  </a:lnTo>
                  <a:lnTo>
                    <a:pt x="876257" y="76170"/>
                  </a:lnTo>
                  <a:close/>
                </a:path>
                <a:path w="990600" h="114300">
                  <a:moveTo>
                    <a:pt x="876342" y="38070"/>
                  </a:moveTo>
                  <a:lnTo>
                    <a:pt x="876257" y="76170"/>
                  </a:lnTo>
                  <a:lnTo>
                    <a:pt x="895350" y="76200"/>
                  </a:lnTo>
                  <a:lnTo>
                    <a:pt x="895350" y="38100"/>
                  </a:lnTo>
                  <a:lnTo>
                    <a:pt x="876342" y="38070"/>
                  </a:lnTo>
                  <a:close/>
                </a:path>
                <a:path w="990600" h="114300">
                  <a:moveTo>
                    <a:pt x="876426" y="0"/>
                  </a:moveTo>
                  <a:lnTo>
                    <a:pt x="876342" y="38070"/>
                  </a:lnTo>
                  <a:lnTo>
                    <a:pt x="895350" y="38100"/>
                  </a:lnTo>
                  <a:lnTo>
                    <a:pt x="895350" y="76200"/>
                  </a:lnTo>
                  <a:lnTo>
                    <a:pt x="952627" y="76200"/>
                  </a:lnTo>
                  <a:lnTo>
                    <a:pt x="990600" y="57276"/>
                  </a:lnTo>
                  <a:lnTo>
                    <a:pt x="876426" y="0"/>
                  </a:lnTo>
                  <a:close/>
                </a:path>
                <a:path w="990600" h="114300">
                  <a:moveTo>
                    <a:pt x="0" y="36702"/>
                  </a:moveTo>
                  <a:lnTo>
                    <a:pt x="0" y="74802"/>
                  </a:lnTo>
                  <a:lnTo>
                    <a:pt x="876257" y="76170"/>
                  </a:lnTo>
                  <a:lnTo>
                    <a:pt x="876342" y="38070"/>
                  </a:lnTo>
                  <a:lnTo>
                    <a:pt x="0" y="367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76047" rIns="0" bIns="0" rtlCol="0">
            <a:spAutoFit/>
          </a:bodyPr>
          <a:lstStyle/>
          <a:p>
            <a:pPr marL="74295">
              <a:lnSpc>
                <a:spcPct val="100000"/>
              </a:lnSpc>
              <a:spcBef>
                <a:spcPts val="95"/>
              </a:spcBef>
            </a:pPr>
            <a:r>
              <a:rPr dirty="0"/>
              <a:t>Random</a:t>
            </a:r>
            <a:r>
              <a:rPr spc="-165" dirty="0"/>
              <a:t> </a:t>
            </a:r>
            <a:r>
              <a:rPr spc="-10" dirty="0"/>
              <a:t>Forest</a:t>
            </a:r>
            <a:r>
              <a:rPr spc="-155" dirty="0"/>
              <a:t> </a:t>
            </a:r>
            <a:r>
              <a:rPr spc="-10" dirty="0"/>
              <a:t>Classifier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7533" y="2732427"/>
            <a:ext cx="330200" cy="145732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380"/>
              </a:lnSpc>
            </a:pPr>
            <a:r>
              <a:rPr sz="2400" dirty="0">
                <a:latin typeface="Calibri"/>
                <a:cs typeface="Calibri"/>
              </a:rPr>
              <a:t>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examples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39080" y="1243075"/>
            <a:ext cx="284416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Calibri"/>
                <a:cs typeface="Calibri"/>
              </a:rPr>
              <a:t>Construct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decision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tree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42912" y="1890712"/>
            <a:ext cx="3000375" cy="4219575"/>
            <a:chOff x="442912" y="1890712"/>
            <a:chExt cx="3000375" cy="4219575"/>
          </a:xfrm>
        </p:grpSpPr>
        <p:sp>
          <p:nvSpPr>
            <p:cNvPr id="9" name="object 9"/>
            <p:cNvSpPr/>
            <p:nvPr/>
          </p:nvSpPr>
          <p:spPr>
            <a:xfrm>
              <a:off x="2286000" y="1905000"/>
              <a:ext cx="1143000" cy="914400"/>
            </a:xfrm>
            <a:custGeom>
              <a:avLst/>
              <a:gdLst/>
              <a:ahLst/>
              <a:cxnLst/>
              <a:rect l="l" t="t" r="r" b="b"/>
              <a:pathLst>
                <a:path w="1143000" h="914400">
                  <a:moveTo>
                    <a:pt x="1143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1143000" y="914400"/>
                  </a:lnTo>
                  <a:lnTo>
                    <a:pt x="1143000" y="0"/>
                  </a:lnTo>
                  <a:close/>
                </a:path>
              </a:pathLst>
            </a:custGeom>
            <a:solidFill>
              <a:srgbClr val="4D9F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286000" y="1905000"/>
              <a:ext cx="1143000" cy="914400"/>
            </a:xfrm>
            <a:custGeom>
              <a:avLst/>
              <a:gdLst/>
              <a:ahLst/>
              <a:cxnLst/>
              <a:rect l="l" t="t" r="r" b="b"/>
              <a:pathLst>
                <a:path w="1143000" h="914400">
                  <a:moveTo>
                    <a:pt x="0" y="914400"/>
                  </a:moveTo>
                  <a:lnTo>
                    <a:pt x="1143000" y="914400"/>
                  </a:lnTo>
                  <a:lnTo>
                    <a:pt x="114300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286000" y="3200400"/>
              <a:ext cx="1143000" cy="914400"/>
            </a:xfrm>
            <a:custGeom>
              <a:avLst/>
              <a:gdLst/>
              <a:ahLst/>
              <a:cxnLst/>
              <a:rect l="l" t="t" r="r" b="b"/>
              <a:pathLst>
                <a:path w="1143000" h="914400">
                  <a:moveTo>
                    <a:pt x="1143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1143000" y="914400"/>
                  </a:lnTo>
                  <a:lnTo>
                    <a:pt x="1143000" y="0"/>
                  </a:lnTo>
                  <a:close/>
                </a:path>
              </a:pathLst>
            </a:custGeom>
            <a:solidFill>
              <a:srgbClr val="4D9F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286000" y="3200400"/>
              <a:ext cx="1143000" cy="914400"/>
            </a:xfrm>
            <a:custGeom>
              <a:avLst/>
              <a:gdLst/>
              <a:ahLst/>
              <a:cxnLst/>
              <a:rect l="l" t="t" r="r" b="b"/>
              <a:pathLst>
                <a:path w="1143000" h="914400">
                  <a:moveTo>
                    <a:pt x="0" y="914400"/>
                  </a:moveTo>
                  <a:lnTo>
                    <a:pt x="1143000" y="914400"/>
                  </a:lnTo>
                  <a:lnTo>
                    <a:pt x="114300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600200" y="3409950"/>
              <a:ext cx="657225" cy="457200"/>
            </a:xfrm>
            <a:custGeom>
              <a:avLst/>
              <a:gdLst/>
              <a:ahLst/>
              <a:cxnLst/>
              <a:rect l="l" t="t" r="r" b="b"/>
              <a:pathLst>
                <a:path w="657225" h="457200">
                  <a:moveTo>
                    <a:pt x="542925" y="342900"/>
                  </a:moveTo>
                  <a:lnTo>
                    <a:pt x="542925" y="457200"/>
                  </a:lnTo>
                  <a:lnTo>
                    <a:pt x="619125" y="419100"/>
                  </a:lnTo>
                  <a:lnTo>
                    <a:pt x="561975" y="419100"/>
                  </a:lnTo>
                  <a:lnTo>
                    <a:pt x="561975" y="381000"/>
                  </a:lnTo>
                  <a:lnTo>
                    <a:pt x="619125" y="381000"/>
                  </a:lnTo>
                  <a:lnTo>
                    <a:pt x="542925" y="342900"/>
                  </a:lnTo>
                  <a:close/>
                </a:path>
                <a:path w="657225" h="457200">
                  <a:moveTo>
                    <a:pt x="309625" y="19050"/>
                  </a:moveTo>
                  <a:lnTo>
                    <a:pt x="309625" y="419100"/>
                  </a:lnTo>
                  <a:lnTo>
                    <a:pt x="542925" y="419100"/>
                  </a:lnTo>
                  <a:lnTo>
                    <a:pt x="542925" y="400050"/>
                  </a:lnTo>
                  <a:lnTo>
                    <a:pt x="347725" y="400050"/>
                  </a:lnTo>
                  <a:lnTo>
                    <a:pt x="328675" y="381000"/>
                  </a:lnTo>
                  <a:lnTo>
                    <a:pt x="347725" y="381000"/>
                  </a:lnTo>
                  <a:lnTo>
                    <a:pt x="347725" y="38100"/>
                  </a:lnTo>
                  <a:lnTo>
                    <a:pt x="328675" y="38100"/>
                  </a:lnTo>
                  <a:lnTo>
                    <a:pt x="309625" y="19050"/>
                  </a:lnTo>
                  <a:close/>
                </a:path>
                <a:path w="657225" h="457200">
                  <a:moveTo>
                    <a:pt x="619125" y="381000"/>
                  </a:moveTo>
                  <a:lnTo>
                    <a:pt x="561975" y="381000"/>
                  </a:lnTo>
                  <a:lnTo>
                    <a:pt x="561975" y="419100"/>
                  </a:lnTo>
                  <a:lnTo>
                    <a:pt x="619125" y="419100"/>
                  </a:lnTo>
                  <a:lnTo>
                    <a:pt x="657225" y="400050"/>
                  </a:lnTo>
                  <a:lnTo>
                    <a:pt x="619125" y="381000"/>
                  </a:lnTo>
                  <a:close/>
                </a:path>
                <a:path w="657225" h="457200">
                  <a:moveTo>
                    <a:pt x="347725" y="381000"/>
                  </a:moveTo>
                  <a:lnTo>
                    <a:pt x="328675" y="381000"/>
                  </a:lnTo>
                  <a:lnTo>
                    <a:pt x="347725" y="400050"/>
                  </a:lnTo>
                  <a:lnTo>
                    <a:pt x="347725" y="381000"/>
                  </a:lnTo>
                  <a:close/>
                </a:path>
                <a:path w="657225" h="457200">
                  <a:moveTo>
                    <a:pt x="542925" y="381000"/>
                  </a:moveTo>
                  <a:lnTo>
                    <a:pt x="347725" y="381000"/>
                  </a:lnTo>
                  <a:lnTo>
                    <a:pt x="347725" y="400050"/>
                  </a:lnTo>
                  <a:lnTo>
                    <a:pt x="542925" y="400050"/>
                  </a:lnTo>
                  <a:lnTo>
                    <a:pt x="542925" y="381000"/>
                  </a:lnTo>
                  <a:close/>
                </a:path>
                <a:path w="657225" h="457200">
                  <a:moveTo>
                    <a:pt x="347725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309625" y="38100"/>
                  </a:lnTo>
                  <a:lnTo>
                    <a:pt x="309625" y="19050"/>
                  </a:lnTo>
                  <a:lnTo>
                    <a:pt x="347725" y="19050"/>
                  </a:lnTo>
                  <a:lnTo>
                    <a:pt x="347725" y="0"/>
                  </a:lnTo>
                  <a:close/>
                </a:path>
                <a:path w="657225" h="457200">
                  <a:moveTo>
                    <a:pt x="347725" y="19050"/>
                  </a:moveTo>
                  <a:lnTo>
                    <a:pt x="309625" y="19050"/>
                  </a:lnTo>
                  <a:lnTo>
                    <a:pt x="328675" y="38100"/>
                  </a:lnTo>
                  <a:lnTo>
                    <a:pt x="347725" y="38100"/>
                  </a:lnTo>
                  <a:lnTo>
                    <a:pt x="347725" y="190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286000" y="5181600"/>
              <a:ext cx="1143000" cy="914400"/>
            </a:xfrm>
            <a:custGeom>
              <a:avLst/>
              <a:gdLst/>
              <a:ahLst/>
              <a:cxnLst/>
              <a:rect l="l" t="t" r="r" b="b"/>
              <a:pathLst>
                <a:path w="1143000" h="914400">
                  <a:moveTo>
                    <a:pt x="1143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1143000" y="914400"/>
                  </a:lnTo>
                  <a:lnTo>
                    <a:pt x="1143000" y="0"/>
                  </a:lnTo>
                  <a:close/>
                </a:path>
              </a:pathLst>
            </a:custGeom>
            <a:solidFill>
              <a:srgbClr val="4D9F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286000" y="5181600"/>
              <a:ext cx="1143000" cy="914400"/>
            </a:xfrm>
            <a:custGeom>
              <a:avLst/>
              <a:gdLst/>
              <a:ahLst/>
              <a:cxnLst/>
              <a:rect l="l" t="t" r="r" b="b"/>
              <a:pathLst>
                <a:path w="1143000" h="914400">
                  <a:moveTo>
                    <a:pt x="0" y="914400"/>
                  </a:moveTo>
                  <a:lnTo>
                    <a:pt x="1143000" y="914400"/>
                  </a:lnTo>
                  <a:lnTo>
                    <a:pt x="114300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600200" y="3257550"/>
              <a:ext cx="657225" cy="2438400"/>
            </a:xfrm>
            <a:custGeom>
              <a:avLst/>
              <a:gdLst/>
              <a:ahLst/>
              <a:cxnLst/>
              <a:rect l="l" t="t" r="r" b="b"/>
              <a:pathLst>
                <a:path w="657225" h="2438400">
                  <a:moveTo>
                    <a:pt x="542925" y="2324100"/>
                  </a:moveTo>
                  <a:lnTo>
                    <a:pt x="542925" y="2438400"/>
                  </a:lnTo>
                  <a:lnTo>
                    <a:pt x="619125" y="2400300"/>
                  </a:lnTo>
                  <a:lnTo>
                    <a:pt x="561975" y="2400300"/>
                  </a:lnTo>
                  <a:lnTo>
                    <a:pt x="561975" y="2362200"/>
                  </a:lnTo>
                  <a:lnTo>
                    <a:pt x="619125" y="2362200"/>
                  </a:lnTo>
                  <a:lnTo>
                    <a:pt x="542925" y="2324100"/>
                  </a:lnTo>
                  <a:close/>
                </a:path>
                <a:path w="657225" h="2438400">
                  <a:moveTo>
                    <a:pt x="309625" y="19050"/>
                  </a:moveTo>
                  <a:lnTo>
                    <a:pt x="309625" y="2400300"/>
                  </a:lnTo>
                  <a:lnTo>
                    <a:pt x="542925" y="2400300"/>
                  </a:lnTo>
                  <a:lnTo>
                    <a:pt x="542925" y="2381250"/>
                  </a:lnTo>
                  <a:lnTo>
                    <a:pt x="347725" y="2381250"/>
                  </a:lnTo>
                  <a:lnTo>
                    <a:pt x="328675" y="2362200"/>
                  </a:lnTo>
                  <a:lnTo>
                    <a:pt x="347725" y="2362200"/>
                  </a:lnTo>
                  <a:lnTo>
                    <a:pt x="347725" y="38100"/>
                  </a:lnTo>
                  <a:lnTo>
                    <a:pt x="328675" y="38100"/>
                  </a:lnTo>
                  <a:lnTo>
                    <a:pt x="309625" y="19050"/>
                  </a:lnTo>
                  <a:close/>
                </a:path>
                <a:path w="657225" h="2438400">
                  <a:moveTo>
                    <a:pt x="619125" y="2362200"/>
                  </a:moveTo>
                  <a:lnTo>
                    <a:pt x="561975" y="2362200"/>
                  </a:lnTo>
                  <a:lnTo>
                    <a:pt x="561975" y="2400300"/>
                  </a:lnTo>
                  <a:lnTo>
                    <a:pt x="619125" y="2400300"/>
                  </a:lnTo>
                  <a:lnTo>
                    <a:pt x="657225" y="2381250"/>
                  </a:lnTo>
                  <a:lnTo>
                    <a:pt x="619125" y="2362200"/>
                  </a:lnTo>
                  <a:close/>
                </a:path>
                <a:path w="657225" h="2438400">
                  <a:moveTo>
                    <a:pt x="347725" y="2362200"/>
                  </a:moveTo>
                  <a:lnTo>
                    <a:pt x="328675" y="2362200"/>
                  </a:lnTo>
                  <a:lnTo>
                    <a:pt x="347725" y="2381250"/>
                  </a:lnTo>
                  <a:lnTo>
                    <a:pt x="347725" y="2362200"/>
                  </a:lnTo>
                  <a:close/>
                </a:path>
                <a:path w="657225" h="2438400">
                  <a:moveTo>
                    <a:pt x="542925" y="2362200"/>
                  </a:moveTo>
                  <a:lnTo>
                    <a:pt x="347725" y="2362200"/>
                  </a:lnTo>
                  <a:lnTo>
                    <a:pt x="347725" y="2381250"/>
                  </a:lnTo>
                  <a:lnTo>
                    <a:pt x="542925" y="2381250"/>
                  </a:lnTo>
                  <a:lnTo>
                    <a:pt x="542925" y="2362200"/>
                  </a:lnTo>
                  <a:close/>
                </a:path>
                <a:path w="657225" h="2438400">
                  <a:moveTo>
                    <a:pt x="347725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309625" y="38100"/>
                  </a:lnTo>
                  <a:lnTo>
                    <a:pt x="309625" y="19050"/>
                  </a:lnTo>
                  <a:lnTo>
                    <a:pt x="347725" y="19050"/>
                  </a:lnTo>
                  <a:lnTo>
                    <a:pt x="347725" y="0"/>
                  </a:lnTo>
                  <a:close/>
                </a:path>
                <a:path w="657225" h="2438400">
                  <a:moveTo>
                    <a:pt x="347725" y="19050"/>
                  </a:moveTo>
                  <a:lnTo>
                    <a:pt x="309625" y="19050"/>
                  </a:lnTo>
                  <a:lnTo>
                    <a:pt x="328675" y="38100"/>
                  </a:lnTo>
                  <a:lnTo>
                    <a:pt x="347725" y="38100"/>
                  </a:lnTo>
                  <a:lnTo>
                    <a:pt x="347725" y="190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57200" y="2895600"/>
              <a:ext cx="1143000" cy="914400"/>
            </a:xfrm>
            <a:custGeom>
              <a:avLst/>
              <a:gdLst/>
              <a:ahLst/>
              <a:cxnLst/>
              <a:rect l="l" t="t" r="r" b="b"/>
              <a:pathLst>
                <a:path w="1143000" h="914400">
                  <a:moveTo>
                    <a:pt x="1143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1143000" y="914400"/>
                  </a:lnTo>
                  <a:lnTo>
                    <a:pt x="1143000" y="0"/>
                  </a:lnTo>
                  <a:close/>
                </a:path>
              </a:pathLst>
            </a:custGeom>
            <a:solidFill>
              <a:srgbClr val="EBAB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57200" y="2895600"/>
              <a:ext cx="1143000" cy="914400"/>
            </a:xfrm>
            <a:custGeom>
              <a:avLst/>
              <a:gdLst/>
              <a:ahLst/>
              <a:cxnLst/>
              <a:rect l="l" t="t" r="r" b="b"/>
              <a:pathLst>
                <a:path w="1143000" h="914400">
                  <a:moveTo>
                    <a:pt x="0" y="914400"/>
                  </a:moveTo>
                  <a:lnTo>
                    <a:pt x="1143000" y="914400"/>
                  </a:lnTo>
                  <a:lnTo>
                    <a:pt x="114300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600200" y="2457450"/>
              <a:ext cx="657225" cy="685800"/>
            </a:xfrm>
            <a:custGeom>
              <a:avLst/>
              <a:gdLst/>
              <a:ahLst/>
              <a:cxnLst/>
              <a:rect l="l" t="t" r="r" b="b"/>
              <a:pathLst>
                <a:path w="657225" h="685800">
                  <a:moveTo>
                    <a:pt x="309625" y="647700"/>
                  </a:moveTo>
                  <a:lnTo>
                    <a:pt x="0" y="647700"/>
                  </a:lnTo>
                  <a:lnTo>
                    <a:pt x="0" y="685800"/>
                  </a:lnTo>
                  <a:lnTo>
                    <a:pt x="347725" y="685800"/>
                  </a:lnTo>
                  <a:lnTo>
                    <a:pt x="347725" y="666750"/>
                  </a:lnTo>
                  <a:lnTo>
                    <a:pt x="309625" y="666750"/>
                  </a:lnTo>
                  <a:lnTo>
                    <a:pt x="309625" y="647700"/>
                  </a:lnTo>
                  <a:close/>
                </a:path>
                <a:path w="657225" h="685800">
                  <a:moveTo>
                    <a:pt x="542925" y="38100"/>
                  </a:moveTo>
                  <a:lnTo>
                    <a:pt x="309625" y="38100"/>
                  </a:lnTo>
                  <a:lnTo>
                    <a:pt x="309625" y="666750"/>
                  </a:lnTo>
                  <a:lnTo>
                    <a:pt x="328675" y="647700"/>
                  </a:lnTo>
                  <a:lnTo>
                    <a:pt x="347725" y="647700"/>
                  </a:lnTo>
                  <a:lnTo>
                    <a:pt x="347725" y="76200"/>
                  </a:lnTo>
                  <a:lnTo>
                    <a:pt x="328675" y="76200"/>
                  </a:lnTo>
                  <a:lnTo>
                    <a:pt x="347725" y="57150"/>
                  </a:lnTo>
                  <a:lnTo>
                    <a:pt x="542925" y="57150"/>
                  </a:lnTo>
                  <a:lnTo>
                    <a:pt x="542925" y="38100"/>
                  </a:lnTo>
                  <a:close/>
                </a:path>
                <a:path w="657225" h="685800">
                  <a:moveTo>
                    <a:pt x="347725" y="647700"/>
                  </a:moveTo>
                  <a:lnTo>
                    <a:pt x="328675" y="647700"/>
                  </a:lnTo>
                  <a:lnTo>
                    <a:pt x="309625" y="666750"/>
                  </a:lnTo>
                  <a:lnTo>
                    <a:pt x="347725" y="666750"/>
                  </a:lnTo>
                  <a:lnTo>
                    <a:pt x="347725" y="647700"/>
                  </a:lnTo>
                  <a:close/>
                </a:path>
                <a:path w="657225" h="685800">
                  <a:moveTo>
                    <a:pt x="542925" y="0"/>
                  </a:moveTo>
                  <a:lnTo>
                    <a:pt x="542925" y="114300"/>
                  </a:lnTo>
                  <a:lnTo>
                    <a:pt x="619125" y="76200"/>
                  </a:lnTo>
                  <a:lnTo>
                    <a:pt x="561975" y="76200"/>
                  </a:lnTo>
                  <a:lnTo>
                    <a:pt x="561975" y="38100"/>
                  </a:lnTo>
                  <a:lnTo>
                    <a:pt x="619125" y="38100"/>
                  </a:lnTo>
                  <a:lnTo>
                    <a:pt x="542925" y="0"/>
                  </a:lnTo>
                  <a:close/>
                </a:path>
                <a:path w="657225" h="685800">
                  <a:moveTo>
                    <a:pt x="347725" y="57150"/>
                  </a:moveTo>
                  <a:lnTo>
                    <a:pt x="328675" y="76200"/>
                  </a:lnTo>
                  <a:lnTo>
                    <a:pt x="347725" y="76200"/>
                  </a:lnTo>
                  <a:lnTo>
                    <a:pt x="347725" y="57150"/>
                  </a:lnTo>
                  <a:close/>
                </a:path>
                <a:path w="657225" h="685800">
                  <a:moveTo>
                    <a:pt x="542925" y="57150"/>
                  </a:moveTo>
                  <a:lnTo>
                    <a:pt x="347725" y="57150"/>
                  </a:lnTo>
                  <a:lnTo>
                    <a:pt x="347725" y="76200"/>
                  </a:lnTo>
                  <a:lnTo>
                    <a:pt x="542925" y="76200"/>
                  </a:lnTo>
                  <a:lnTo>
                    <a:pt x="542925" y="57150"/>
                  </a:lnTo>
                  <a:close/>
                </a:path>
                <a:path w="657225" h="685800">
                  <a:moveTo>
                    <a:pt x="619125" y="38100"/>
                  </a:moveTo>
                  <a:lnTo>
                    <a:pt x="561975" y="38100"/>
                  </a:lnTo>
                  <a:lnTo>
                    <a:pt x="561975" y="76200"/>
                  </a:lnTo>
                  <a:lnTo>
                    <a:pt x="619125" y="76200"/>
                  </a:lnTo>
                  <a:lnTo>
                    <a:pt x="657225" y="57150"/>
                  </a:lnTo>
                  <a:lnTo>
                    <a:pt x="619125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609367" y="4274091"/>
            <a:ext cx="356870" cy="61404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575"/>
              </a:lnSpc>
            </a:pPr>
            <a:r>
              <a:rPr sz="2600" b="1" spc="-10" dirty="0">
                <a:latin typeface="Calibri"/>
                <a:cs typeface="Calibri"/>
              </a:rPr>
              <a:t>....…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32943" y="2299842"/>
            <a:ext cx="13709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M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features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76047" rIns="0" bIns="0" rtlCol="0">
            <a:spAutoFit/>
          </a:bodyPr>
          <a:lstStyle/>
          <a:p>
            <a:pPr marL="74295">
              <a:lnSpc>
                <a:spcPct val="100000"/>
              </a:lnSpc>
              <a:spcBef>
                <a:spcPts val="95"/>
              </a:spcBef>
            </a:pPr>
            <a:r>
              <a:rPr dirty="0"/>
              <a:t>Random</a:t>
            </a:r>
            <a:r>
              <a:rPr spc="-165" dirty="0"/>
              <a:t> </a:t>
            </a:r>
            <a:r>
              <a:rPr spc="-10" dirty="0"/>
              <a:t>Forest</a:t>
            </a:r>
            <a:r>
              <a:rPr spc="-155" dirty="0"/>
              <a:t> </a:t>
            </a:r>
            <a:r>
              <a:rPr spc="-10" dirty="0"/>
              <a:t>Classifier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7533" y="2732427"/>
            <a:ext cx="330200" cy="145732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380"/>
              </a:lnSpc>
            </a:pPr>
            <a:r>
              <a:rPr sz="2400" dirty="0">
                <a:latin typeface="Calibri"/>
                <a:cs typeface="Calibri"/>
              </a:rPr>
              <a:t>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examples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42912" y="1890712"/>
            <a:ext cx="3000375" cy="4219575"/>
            <a:chOff x="442912" y="1890712"/>
            <a:chExt cx="3000375" cy="4219575"/>
          </a:xfrm>
        </p:grpSpPr>
        <p:sp>
          <p:nvSpPr>
            <p:cNvPr id="5" name="object 5"/>
            <p:cNvSpPr/>
            <p:nvPr/>
          </p:nvSpPr>
          <p:spPr>
            <a:xfrm>
              <a:off x="2286000" y="1905000"/>
              <a:ext cx="1143000" cy="914400"/>
            </a:xfrm>
            <a:custGeom>
              <a:avLst/>
              <a:gdLst/>
              <a:ahLst/>
              <a:cxnLst/>
              <a:rect l="l" t="t" r="r" b="b"/>
              <a:pathLst>
                <a:path w="1143000" h="914400">
                  <a:moveTo>
                    <a:pt x="1143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1143000" y="914400"/>
                  </a:lnTo>
                  <a:lnTo>
                    <a:pt x="1143000" y="0"/>
                  </a:lnTo>
                  <a:close/>
                </a:path>
              </a:pathLst>
            </a:custGeom>
            <a:solidFill>
              <a:srgbClr val="4D9F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286000" y="1905000"/>
              <a:ext cx="1143000" cy="914400"/>
            </a:xfrm>
            <a:custGeom>
              <a:avLst/>
              <a:gdLst/>
              <a:ahLst/>
              <a:cxnLst/>
              <a:rect l="l" t="t" r="r" b="b"/>
              <a:pathLst>
                <a:path w="1143000" h="914400">
                  <a:moveTo>
                    <a:pt x="0" y="914400"/>
                  </a:moveTo>
                  <a:lnTo>
                    <a:pt x="1143000" y="914400"/>
                  </a:lnTo>
                  <a:lnTo>
                    <a:pt x="114300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86000" y="3200400"/>
              <a:ext cx="1143000" cy="914400"/>
            </a:xfrm>
            <a:custGeom>
              <a:avLst/>
              <a:gdLst/>
              <a:ahLst/>
              <a:cxnLst/>
              <a:rect l="l" t="t" r="r" b="b"/>
              <a:pathLst>
                <a:path w="1143000" h="914400">
                  <a:moveTo>
                    <a:pt x="1143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1143000" y="914400"/>
                  </a:lnTo>
                  <a:lnTo>
                    <a:pt x="1143000" y="0"/>
                  </a:lnTo>
                  <a:close/>
                </a:path>
              </a:pathLst>
            </a:custGeom>
            <a:solidFill>
              <a:srgbClr val="4D9F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86000" y="3200400"/>
              <a:ext cx="1143000" cy="914400"/>
            </a:xfrm>
            <a:custGeom>
              <a:avLst/>
              <a:gdLst/>
              <a:ahLst/>
              <a:cxnLst/>
              <a:rect l="l" t="t" r="r" b="b"/>
              <a:pathLst>
                <a:path w="1143000" h="914400">
                  <a:moveTo>
                    <a:pt x="0" y="914400"/>
                  </a:moveTo>
                  <a:lnTo>
                    <a:pt x="1143000" y="914400"/>
                  </a:lnTo>
                  <a:lnTo>
                    <a:pt x="114300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600200" y="3409950"/>
              <a:ext cx="657225" cy="457200"/>
            </a:xfrm>
            <a:custGeom>
              <a:avLst/>
              <a:gdLst/>
              <a:ahLst/>
              <a:cxnLst/>
              <a:rect l="l" t="t" r="r" b="b"/>
              <a:pathLst>
                <a:path w="657225" h="457200">
                  <a:moveTo>
                    <a:pt x="542925" y="342900"/>
                  </a:moveTo>
                  <a:lnTo>
                    <a:pt x="542925" y="457200"/>
                  </a:lnTo>
                  <a:lnTo>
                    <a:pt x="619125" y="419100"/>
                  </a:lnTo>
                  <a:lnTo>
                    <a:pt x="561975" y="419100"/>
                  </a:lnTo>
                  <a:lnTo>
                    <a:pt x="561975" y="381000"/>
                  </a:lnTo>
                  <a:lnTo>
                    <a:pt x="619125" y="381000"/>
                  </a:lnTo>
                  <a:lnTo>
                    <a:pt x="542925" y="342900"/>
                  </a:lnTo>
                  <a:close/>
                </a:path>
                <a:path w="657225" h="457200">
                  <a:moveTo>
                    <a:pt x="309625" y="19050"/>
                  </a:moveTo>
                  <a:lnTo>
                    <a:pt x="309625" y="419100"/>
                  </a:lnTo>
                  <a:lnTo>
                    <a:pt x="542925" y="419100"/>
                  </a:lnTo>
                  <a:lnTo>
                    <a:pt x="542925" y="400050"/>
                  </a:lnTo>
                  <a:lnTo>
                    <a:pt x="347725" y="400050"/>
                  </a:lnTo>
                  <a:lnTo>
                    <a:pt x="328675" y="381000"/>
                  </a:lnTo>
                  <a:lnTo>
                    <a:pt x="347725" y="381000"/>
                  </a:lnTo>
                  <a:lnTo>
                    <a:pt x="347725" y="38100"/>
                  </a:lnTo>
                  <a:lnTo>
                    <a:pt x="328675" y="38100"/>
                  </a:lnTo>
                  <a:lnTo>
                    <a:pt x="309625" y="19050"/>
                  </a:lnTo>
                  <a:close/>
                </a:path>
                <a:path w="657225" h="457200">
                  <a:moveTo>
                    <a:pt x="619125" y="381000"/>
                  </a:moveTo>
                  <a:lnTo>
                    <a:pt x="561975" y="381000"/>
                  </a:lnTo>
                  <a:lnTo>
                    <a:pt x="561975" y="419100"/>
                  </a:lnTo>
                  <a:lnTo>
                    <a:pt x="619125" y="419100"/>
                  </a:lnTo>
                  <a:lnTo>
                    <a:pt x="657225" y="400050"/>
                  </a:lnTo>
                  <a:lnTo>
                    <a:pt x="619125" y="381000"/>
                  </a:lnTo>
                  <a:close/>
                </a:path>
                <a:path w="657225" h="457200">
                  <a:moveTo>
                    <a:pt x="347725" y="381000"/>
                  </a:moveTo>
                  <a:lnTo>
                    <a:pt x="328675" y="381000"/>
                  </a:lnTo>
                  <a:lnTo>
                    <a:pt x="347725" y="400050"/>
                  </a:lnTo>
                  <a:lnTo>
                    <a:pt x="347725" y="381000"/>
                  </a:lnTo>
                  <a:close/>
                </a:path>
                <a:path w="657225" h="457200">
                  <a:moveTo>
                    <a:pt x="542925" y="381000"/>
                  </a:moveTo>
                  <a:lnTo>
                    <a:pt x="347725" y="381000"/>
                  </a:lnTo>
                  <a:lnTo>
                    <a:pt x="347725" y="400050"/>
                  </a:lnTo>
                  <a:lnTo>
                    <a:pt x="542925" y="400050"/>
                  </a:lnTo>
                  <a:lnTo>
                    <a:pt x="542925" y="381000"/>
                  </a:lnTo>
                  <a:close/>
                </a:path>
                <a:path w="657225" h="457200">
                  <a:moveTo>
                    <a:pt x="347725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309625" y="38100"/>
                  </a:lnTo>
                  <a:lnTo>
                    <a:pt x="309625" y="19050"/>
                  </a:lnTo>
                  <a:lnTo>
                    <a:pt x="347725" y="19050"/>
                  </a:lnTo>
                  <a:lnTo>
                    <a:pt x="347725" y="0"/>
                  </a:lnTo>
                  <a:close/>
                </a:path>
                <a:path w="657225" h="457200">
                  <a:moveTo>
                    <a:pt x="347725" y="19050"/>
                  </a:moveTo>
                  <a:lnTo>
                    <a:pt x="309625" y="19050"/>
                  </a:lnTo>
                  <a:lnTo>
                    <a:pt x="328675" y="38100"/>
                  </a:lnTo>
                  <a:lnTo>
                    <a:pt x="347725" y="38100"/>
                  </a:lnTo>
                  <a:lnTo>
                    <a:pt x="347725" y="190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286000" y="5181600"/>
              <a:ext cx="1143000" cy="914400"/>
            </a:xfrm>
            <a:custGeom>
              <a:avLst/>
              <a:gdLst/>
              <a:ahLst/>
              <a:cxnLst/>
              <a:rect l="l" t="t" r="r" b="b"/>
              <a:pathLst>
                <a:path w="1143000" h="914400">
                  <a:moveTo>
                    <a:pt x="1143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1143000" y="914400"/>
                  </a:lnTo>
                  <a:lnTo>
                    <a:pt x="1143000" y="0"/>
                  </a:lnTo>
                  <a:close/>
                </a:path>
              </a:pathLst>
            </a:custGeom>
            <a:solidFill>
              <a:srgbClr val="4D9F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286000" y="5181600"/>
              <a:ext cx="1143000" cy="914400"/>
            </a:xfrm>
            <a:custGeom>
              <a:avLst/>
              <a:gdLst/>
              <a:ahLst/>
              <a:cxnLst/>
              <a:rect l="l" t="t" r="r" b="b"/>
              <a:pathLst>
                <a:path w="1143000" h="914400">
                  <a:moveTo>
                    <a:pt x="0" y="914400"/>
                  </a:moveTo>
                  <a:lnTo>
                    <a:pt x="1143000" y="914400"/>
                  </a:lnTo>
                  <a:lnTo>
                    <a:pt x="114300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600200" y="3257550"/>
              <a:ext cx="657225" cy="2438400"/>
            </a:xfrm>
            <a:custGeom>
              <a:avLst/>
              <a:gdLst/>
              <a:ahLst/>
              <a:cxnLst/>
              <a:rect l="l" t="t" r="r" b="b"/>
              <a:pathLst>
                <a:path w="657225" h="2438400">
                  <a:moveTo>
                    <a:pt x="542925" y="2324100"/>
                  </a:moveTo>
                  <a:lnTo>
                    <a:pt x="542925" y="2438400"/>
                  </a:lnTo>
                  <a:lnTo>
                    <a:pt x="619125" y="2400300"/>
                  </a:lnTo>
                  <a:lnTo>
                    <a:pt x="561975" y="2400300"/>
                  </a:lnTo>
                  <a:lnTo>
                    <a:pt x="561975" y="2362200"/>
                  </a:lnTo>
                  <a:lnTo>
                    <a:pt x="619125" y="2362200"/>
                  </a:lnTo>
                  <a:lnTo>
                    <a:pt x="542925" y="2324100"/>
                  </a:lnTo>
                  <a:close/>
                </a:path>
                <a:path w="657225" h="2438400">
                  <a:moveTo>
                    <a:pt x="309625" y="19050"/>
                  </a:moveTo>
                  <a:lnTo>
                    <a:pt x="309625" y="2400300"/>
                  </a:lnTo>
                  <a:lnTo>
                    <a:pt x="542925" y="2400300"/>
                  </a:lnTo>
                  <a:lnTo>
                    <a:pt x="542925" y="2381250"/>
                  </a:lnTo>
                  <a:lnTo>
                    <a:pt x="347725" y="2381250"/>
                  </a:lnTo>
                  <a:lnTo>
                    <a:pt x="328675" y="2362200"/>
                  </a:lnTo>
                  <a:lnTo>
                    <a:pt x="347725" y="2362200"/>
                  </a:lnTo>
                  <a:lnTo>
                    <a:pt x="347725" y="38100"/>
                  </a:lnTo>
                  <a:lnTo>
                    <a:pt x="328675" y="38100"/>
                  </a:lnTo>
                  <a:lnTo>
                    <a:pt x="309625" y="19050"/>
                  </a:lnTo>
                  <a:close/>
                </a:path>
                <a:path w="657225" h="2438400">
                  <a:moveTo>
                    <a:pt x="619125" y="2362200"/>
                  </a:moveTo>
                  <a:lnTo>
                    <a:pt x="561975" y="2362200"/>
                  </a:lnTo>
                  <a:lnTo>
                    <a:pt x="561975" y="2400300"/>
                  </a:lnTo>
                  <a:lnTo>
                    <a:pt x="619125" y="2400300"/>
                  </a:lnTo>
                  <a:lnTo>
                    <a:pt x="657225" y="2381250"/>
                  </a:lnTo>
                  <a:lnTo>
                    <a:pt x="619125" y="2362200"/>
                  </a:lnTo>
                  <a:close/>
                </a:path>
                <a:path w="657225" h="2438400">
                  <a:moveTo>
                    <a:pt x="347725" y="2362200"/>
                  </a:moveTo>
                  <a:lnTo>
                    <a:pt x="328675" y="2362200"/>
                  </a:lnTo>
                  <a:lnTo>
                    <a:pt x="347725" y="2381250"/>
                  </a:lnTo>
                  <a:lnTo>
                    <a:pt x="347725" y="2362200"/>
                  </a:lnTo>
                  <a:close/>
                </a:path>
                <a:path w="657225" h="2438400">
                  <a:moveTo>
                    <a:pt x="542925" y="2362200"/>
                  </a:moveTo>
                  <a:lnTo>
                    <a:pt x="347725" y="2362200"/>
                  </a:lnTo>
                  <a:lnTo>
                    <a:pt x="347725" y="2381250"/>
                  </a:lnTo>
                  <a:lnTo>
                    <a:pt x="542925" y="2381250"/>
                  </a:lnTo>
                  <a:lnTo>
                    <a:pt x="542925" y="2362200"/>
                  </a:lnTo>
                  <a:close/>
                </a:path>
                <a:path w="657225" h="2438400">
                  <a:moveTo>
                    <a:pt x="347725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309625" y="38100"/>
                  </a:lnTo>
                  <a:lnTo>
                    <a:pt x="309625" y="19050"/>
                  </a:lnTo>
                  <a:lnTo>
                    <a:pt x="347725" y="19050"/>
                  </a:lnTo>
                  <a:lnTo>
                    <a:pt x="347725" y="0"/>
                  </a:lnTo>
                  <a:close/>
                </a:path>
                <a:path w="657225" h="2438400">
                  <a:moveTo>
                    <a:pt x="347725" y="19050"/>
                  </a:moveTo>
                  <a:lnTo>
                    <a:pt x="309625" y="19050"/>
                  </a:lnTo>
                  <a:lnTo>
                    <a:pt x="328675" y="38100"/>
                  </a:lnTo>
                  <a:lnTo>
                    <a:pt x="347725" y="38100"/>
                  </a:lnTo>
                  <a:lnTo>
                    <a:pt x="347725" y="190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7200" y="2895600"/>
              <a:ext cx="1143000" cy="914400"/>
            </a:xfrm>
            <a:custGeom>
              <a:avLst/>
              <a:gdLst/>
              <a:ahLst/>
              <a:cxnLst/>
              <a:rect l="l" t="t" r="r" b="b"/>
              <a:pathLst>
                <a:path w="1143000" h="914400">
                  <a:moveTo>
                    <a:pt x="1143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1143000" y="914400"/>
                  </a:lnTo>
                  <a:lnTo>
                    <a:pt x="1143000" y="0"/>
                  </a:lnTo>
                  <a:close/>
                </a:path>
              </a:pathLst>
            </a:custGeom>
            <a:solidFill>
              <a:srgbClr val="EBAB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57200" y="2895600"/>
              <a:ext cx="1143000" cy="914400"/>
            </a:xfrm>
            <a:custGeom>
              <a:avLst/>
              <a:gdLst/>
              <a:ahLst/>
              <a:cxnLst/>
              <a:rect l="l" t="t" r="r" b="b"/>
              <a:pathLst>
                <a:path w="1143000" h="914400">
                  <a:moveTo>
                    <a:pt x="0" y="914400"/>
                  </a:moveTo>
                  <a:lnTo>
                    <a:pt x="1143000" y="914400"/>
                  </a:lnTo>
                  <a:lnTo>
                    <a:pt x="114300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600200" y="2457450"/>
              <a:ext cx="657225" cy="685800"/>
            </a:xfrm>
            <a:custGeom>
              <a:avLst/>
              <a:gdLst/>
              <a:ahLst/>
              <a:cxnLst/>
              <a:rect l="l" t="t" r="r" b="b"/>
              <a:pathLst>
                <a:path w="657225" h="685800">
                  <a:moveTo>
                    <a:pt x="309625" y="647700"/>
                  </a:moveTo>
                  <a:lnTo>
                    <a:pt x="0" y="647700"/>
                  </a:lnTo>
                  <a:lnTo>
                    <a:pt x="0" y="685800"/>
                  </a:lnTo>
                  <a:lnTo>
                    <a:pt x="347725" y="685800"/>
                  </a:lnTo>
                  <a:lnTo>
                    <a:pt x="347725" y="666750"/>
                  </a:lnTo>
                  <a:lnTo>
                    <a:pt x="309625" y="666750"/>
                  </a:lnTo>
                  <a:lnTo>
                    <a:pt x="309625" y="647700"/>
                  </a:lnTo>
                  <a:close/>
                </a:path>
                <a:path w="657225" h="685800">
                  <a:moveTo>
                    <a:pt x="542925" y="38100"/>
                  </a:moveTo>
                  <a:lnTo>
                    <a:pt x="309625" y="38100"/>
                  </a:lnTo>
                  <a:lnTo>
                    <a:pt x="309625" y="666750"/>
                  </a:lnTo>
                  <a:lnTo>
                    <a:pt x="328675" y="647700"/>
                  </a:lnTo>
                  <a:lnTo>
                    <a:pt x="347725" y="647700"/>
                  </a:lnTo>
                  <a:lnTo>
                    <a:pt x="347725" y="76200"/>
                  </a:lnTo>
                  <a:lnTo>
                    <a:pt x="328675" y="76200"/>
                  </a:lnTo>
                  <a:lnTo>
                    <a:pt x="347725" y="57150"/>
                  </a:lnTo>
                  <a:lnTo>
                    <a:pt x="542925" y="57150"/>
                  </a:lnTo>
                  <a:lnTo>
                    <a:pt x="542925" y="38100"/>
                  </a:lnTo>
                  <a:close/>
                </a:path>
                <a:path w="657225" h="685800">
                  <a:moveTo>
                    <a:pt x="347725" y="647700"/>
                  </a:moveTo>
                  <a:lnTo>
                    <a:pt x="328675" y="647700"/>
                  </a:lnTo>
                  <a:lnTo>
                    <a:pt x="309625" y="666750"/>
                  </a:lnTo>
                  <a:lnTo>
                    <a:pt x="347725" y="666750"/>
                  </a:lnTo>
                  <a:lnTo>
                    <a:pt x="347725" y="647700"/>
                  </a:lnTo>
                  <a:close/>
                </a:path>
                <a:path w="657225" h="685800">
                  <a:moveTo>
                    <a:pt x="542925" y="0"/>
                  </a:moveTo>
                  <a:lnTo>
                    <a:pt x="542925" y="114300"/>
                  </a:lnTo>
                  <a:lnTo>
                    <a:pt x="619125" y="76200"/>
                  </a:lnTo>
                  <a:lnTo>
                    <a:pt x="561975" y="76200"/>
                  </a:lnTo>
                  <a:lnTo>
                    <a:pt x="561975" y="38100"/>
                  </a:lnTo>
                  <a:lnTo>
                    <a:pt x="619125" y="38100"/>
                  </a:lnTo>
                  <a:lnTo>
                    <a:pt x="542925" y="0"/>
                  </a:lnTo>
                  <a:close/>
                </a:path>
                <a:path w="657225" h="685800">
                  <a:moveTo>
                    <a:pt x="347725" y="57150"/>
                  </a:moveTo>
                  <a:lnTo>
                    <a:pt x="328675" y="76200"/>
                  </a:lnTo>
                  <a:lnTo>
                    <a:pt x="347725" y="76200"/>
                  </a:lnTo>
                  <a:lnTo>
                    <a:pt x="347725" y="57150"/>
                  </a:lnTo>
                  <a:close/>
                </a:path>
                <a:path w="657225" h="685800">
                  <a:moveTo>
                    <a:pt x="542925" y="57150"/>
                  </a:moveTo>
                  <a:lnTo>
                    <a:pt x="347725" y="57150"/>
                  </a:lnTo>
                  <a:lnTo>
                    <a:pt x="347725" y="76200"/>
                  </a:lnTo>
                  <a:lnTo>
                    <a:pt x="542925" y="76200"/>
                  </a:lnTo>
                  <a:lnTo>
                    <a:pt x="542925" y="57150"/>
                  </a:lnTo>
                  <a:close/>
                </a:path>
                <a:path w="657225" h="685800">
                  <a:moveTo>
                    <a:pt x="619125" y="38100"/>
                  </a:moveTo>
                  <a:lnTo>
                    <a:pt x="561975" y="38100"/>
                  </a:lnTo>
                  <a:lnTo>
                    <a:pt x="561975" y="76200"/>
                  </a:lnTo>
                  <a:lnTo>
                    <a:pt x="619125" y="76200"/>
                  </a:lnTo>
                  <a:lnTo>
                    <a:pt x="657225" y="57150"/>
                  </a:lnTo>
                  <a:lnTo>
                    <a:pt x="619125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609367" y="4274091"/>
            <a:ext cx="356870" cy="61404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575"/>
              </a:lnSpc>
            </a:pPr>
            <a:r>
              <a:rPr sz="2600" b="1" spc="-10" dirty="0">
                <a:latin typeface="Calibri"/>
                <a:cs typeface="Calibri"/>
              </a:rPr>
              <a:t>....…</a:t>
            </a:r>
            <a:endParaRPr sz="26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505200" y="1981073"/>
            <a:ext cx="5638800" cy="3249930"/>
            <a:chOff x="3505200" y="1981073"/>
            <a:chExt cx="5638800" cy="3249930"/>
          </a:xfrm>
        </p:grpSpPr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81400" y="1981073"/>
              <a:ext cx="5562599" cy="3249676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3505200" y="2230247"/>
              <a:ext cx="990600" cy="114300"/>
            </a:xfrm>
            <a:custGeom>
              <a:avLst/>
              <a:gdLst/>
              <a:ahLst/>
              <a:cxnLst/>
              <a:rect l="l" t="t" r="r" b="b"/>
              <a:pathLst>
                <a:path w="990600" h="114300">
                  <a:moveTo>
                    <a:pt x="876257" y="76170"/>
                  </a:moveTo>
                  <a:lnTo>
                    <a:pt x="876173" y="114300"/>
                  </a:lnTo>
                  <a:lnTo>
                    <a:pt x="952627" y="76200"/>
                  </a:lnTo>
                  <a:lnTo>
                    <a:pt x="895350" y="76200"/>
                  </a:lnTo>
                  <a:lnTo>
                    <a:pt x="876257" y="76170"/>
                  </a:lnTo>
                  <a:close/>
                </a:path>
                <a:path w="990600" h="114300">
                  <a:moveTo>
                    <a:pt x="876342" y="38070"/>
                  </a:moveTo>
                  <a:lnTo>
                    <a:pt x="876257" y="76170"/>
                  </a:lnTo>
                  <a:lnTo>
                    <a:pt x="895350" y="76200"/>
                  </a:lnTo>
                  <a:lnTo>
                    <a:pt x="895350" y="38100"/>
                  </a:lnTo>
                  <a:lnTo>
                    <a:pt x="876342" y="38070"/>
                  </a:lnTo>
                  <a:close/>
                </a:path>
                <a:path w="990600" h="114300">
                  <a:moveTo>
                    <a:pt x="876426" y="0"/>
                  </a:moveTo>
                  <a:lnTo>
                    <a:pt x="876342" y="38070"/>
                  </a:lnTo>
                  <a:lnTo>
                    <a:pt x="895350" y="38100"/>
                  </a:lnTo>
                  <a:lnTo>
                    <a:pt x="895350" y="76200"/>
                  </a:lnTo>
                  <a:lnTo>
                    <a:pt x="952627" y="76200"/>
                  </a:lnTo>
                  <a:lnTo>
                    <a:pt x="990600" y="57276"/>
                  </a:lnTo>
                  <a:lnTo>
                    <a:pt x="876426" y="0"/>
                  </a:lnTo>
                  <a:close/>
                </a:path>
                <a:path w="990600" h="114300">
                  <a:moveTo>
                    <a:pt x="0" y="36702"/>
                  </a:moveTo>
                  <a:lnTo>
                    <a:pt x="0" y="74802"/>
                  </a:lnTo>
                  <a:lnTo>
                    <a:pt x="876257" y="76170"/>
                  </a:lnTo>
                  <a:lnTo>
                    <a:pt x="876342" y="38070"/>
                  </a:lnTo>
                  <a:lnTo>
                    <a:pt x="0" y="367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32943" y="2299842"/>
            <a:ext cx="13709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M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features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637026" y="1234820"/>
            <a:ext cx="4312285" cy="574675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402590" marR="5080" indent="-390525">
              <a:lnSpc>
                <a:spcPts val="1920"/>
              </a:lnSpc>
              <a:spcBef>
                <a:spcPts val="565"/>
              </a:spcBef>
            </a:pPr>
            <a:r>
              <a:rPr sz="2000" dirty="0">
                <a:latin typeface="Calibri"/>
                <a:cs typeface="Calibri"/>
              </a:rPr>
              <a:t>At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each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node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choosing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split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feature </a:t>
            </a:r>
            <a:r>
              <a:rPr sz="2000" dirty="0">
                <a:latin typeface="Calibri"/>
                <a:cs typeface="Calibri"/>
              </a:rPr>
              <a:t>choose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only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among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m</a:t>
            </a:r>
            <a:r>
              <a:rPr sz="2000" dirty="0">
                <a:latin typeface="Calibri"/>
                <a:cs typeface="Calibri"/>
              </a:rPr>
              <a:t>&lt;</a:t>
            </a:r>
            <a:r>
              <a:rPr sz="2000" i="1" dirty="0">
                <a:latin typeface="Calibri"/>
                <a:cs typeface="Calibri"/>
              </a:rPr>
              <a:t>M</a:t>
            </a:r>
            <a:r>
              <a:rPr sz="2000" i="1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features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461594"/>
            <a:ext cx="574167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dirty="0">
                <a:latin typeface="Calibri"/>
                <a:cs typeface="Calibri"/>
              </a:rPr>
              <a:t>Random</a:t>
            </a:r>
            <a:r>
              <a:rPr sz="4400" b="1" spc="-140" dirty="0">
                <a:latin typeface="Calibri"/>
                <a:cs typeface="Calibri"/>
              </a:rPr>
              <a:t> </a:t>
            </a:r>
            <a:r>
              <a:rPr sz="4400" b="1" dirty="0">
                <a:latin typeface="Calibri"/>
                <a:cs typeface="Calibri"/>
              </a:rPr>
              <a:t>Forest</a:t>
            </a:r>
            <a:r>
              <a:rPr sz="4400" b="1" spc="-110" dirty="0">
                <a:latin typeface="Calibri"/>
                <a:cs typeface="Calibri"/>
              </a:rPr>
              <a:t> </a:t>
            </a:r>
            <a:r>
              <a:rPr sz="4400" b="1" spc="-10" dirty="0">
                <a:latin typeface="Calibri"/>
                <a:cs typeface="Calibri"/>
              </a:rPr>
              <a:t>Classifier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64355" y="1087374"/>
            <a:ext cx="2996565" cy="574675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 marR="5080" indent="434340">
              <a:lnSpc>
                <a:spcPct val="80000"/>
              </a:lnSpc>
              <a:spcBef>
                <a:spcPts val="585"/>
              </a:spcBef>
            </a:pPr>
            <a:r>
              <a:rPr sz="2000" b="1" spc="-10" dirty="0">
                <a:latin typeface="Calibri"/>
                <a:cs typeface="Calibri"/>
              </a:rPr>
              <a:t>Create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decision</a:t>
            </a:r>
            <a:r>
              <a:rPr sz="2000" b="1" spc="-75" dirty="0">
                <a:latin typeface="Calibri"/>
                <a:cs typeface="Calibri"/>
              </a:rPr>
              <a:t> </a:t>
            </a:r>
            <a:r>
              <a:rPr sz="2000" b="1" spc="-20" dirty="0">
                <a:latin typeface="Calibri"/>
                <a:cs typeface="Calibri"/>
              </a:rPr>
              <a:t>tree </a:t>
            </a:r>
            <a:r>
              <a:rPr sz="2000" b="1" dirty="0">
                <a:latin typeface="Calibri"/>
                <a:cs typeface="Calibri"/>
              </a:rPr>
              <a:t>from</a:t>
            </a:r>
            <a:r>
              <a:rPr sz="2000" b="1" spc="-6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each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bootstrap</a:t>
            </a:r>
            <a:r>
              <a:rPr sz="2000" b="1" spc="-7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sample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585975" y="1676400"/>
            <a:ext cx="5043805" cy="4495800"/>
            <a:chOff x="1585975" y="1676400"/>
            <a:chExt cx="5043805" cy="4495800"/>
          </a:xfrm>
        </p:grpSpPr>
        <p:sp>
          <p:nvSpPr>
            <p:cNvPr id="5" name="object 5"/>
            <p:cNvSpPr/>
            <p:nvPr/>
          </p:nvSpPr>
          <p:spPr>
            <a:xfrm>
              <a:off x="2209799" y="5181600"/>
              <a:ext cx="1143000" cy="914400"/>
            </a:xfrm>
            <a:custGeom>
              <a:avLst/>
              <a:gdLst/>
              <a:ahLst/>
              <a:cxnLst/>
              <a:rect l="l" t="t" r="r" b="b"/>
              <a:pathLst>
                <a:path w="1143000" h="914400">
                  <a:moveTo>
                    <a:pt x="1143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1143000" y="914400"/>
                  </a:lnTo>
                  <a:lnTo>
                    <a:pt x="1143000" y="0"/>
                  </a:lnTo>
                  <a:close/>
                </a:path>
              </a:pathLst>
            </a:custGeom>
            <a:solidFill>
              <a:srgbClr val="4D9F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209799" y="5181600"/>
              <a:ext cx="1143000" cy="914400"/>
            </a:xfrm>
            <a:custGeom>
              <a:avLst/>
              <a:gdLst/>
              <a:ahLst/>
              <a:cxnLst/>
              <a:rect l="l" t="t" r="r" b="b"/>
              <a:pathLst>
                <a:path w="1143000" h="914400">
                  <a:moveTo>
                    <a:pt x="0" y="914400"/>
                  </a:moveTo>
                  <a:lnTo>
                    <a:pt x="1143000" y="914400"/>
                  </a:lnTo>
                  <a:lnTo>
                    <a:pt x="114300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19599" y="4879975"/>
              <a:ext cx="2209800" cy="129222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271775" y="1905000"/>
              <a:ext cx="1143000" cy="914400"/>
            </a:xfrm>
            <a:custGeom>
              <a:avLst/>
              <a:gdLst/>
              <a:ahLst/>
              <a:cxnLst/>
              <a:rect l="l" t="t" r="r" b="b"/>
              <a:pathLst>
                <a:path w="1143000" h="914400">
                  <a:moveTo>
                    <a:pt x="1143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1143000" y="914400"/>
                  </a:lnTo>
                  <a:lnTo>
                    <a:pt x="1143000" y="0"/>
                  </a:lnTo>
                  <a:close/>
                </a:path>
              </a:pathLst>
            </a:custGeom>
            <a:solidFill>
              <a:srgbClr val="4D9F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71775" y="1905000"/>
              <a:ext cx="1143000" cy="914400"/>
            </a:xfrm>
            <a:custGeom>
              <a:avLst/>
              <a:gdLst/>
              <a:ahLst/>
              <a:cxnLst/>
              <a:rect l="l" t="t" r="r" b="b"/>
              <a:pathLst>
                <a:path w="1143000" h="914400">
                  <a:moveTo>
                    <a:pt x="0" y="914400"/>
                  </a:moveTo>
                  <a:lnTo>
                    <a:pt x="1143000" y="914400"/>
                  </a:lnTo>
                  <a:lnTo>
                    <a:pt x="114300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271775" y="3200400"/>
              <a:ext cx="1143000" cy="914400"/>
            </a:xfrm>
            <a:custGeom>
              <a:avLst/>
              <a:gdLst/>
              <a:ahLst/>
              <a:cxnLst/>
              <a:rect l="l" t="t" r="r" b="b"/>
              <a:pathLst>
                <a:path w="1143000" h="914400">
                  <a:moveTo>
                    <a:pt x="1143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1143000" y="914400"/>
                  </a:lnTo>
                  <a:lnTo>
                    <a:pt x="1143000" y="0"/>
                  </a:lnTo>
                  <a:close/>
                </a:path>
              </a:pathLst>
            </a:custGeom>
            <a:solidFill>
              <a:srgbClr val="4D9F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271775" y="3200400"/>
              <a:ext cx="1143000" cy="914400"/>
            </a:xfrm>
            <a:custGeom>
              <a:avLst/>
              <a:gdLst/>
              <a:ahLst/>
              <a:cxnLst/>
              <a:rect l="l" t="t" r="r" b="b"/>
              <a:pathLst>
                <a:path w="1143000" h="914400">
                  <a:moveTo>
                    <a:pt x="0" y="914400"/>
                  </a:moveTo>
                  <a:lnTo>
                    <a:pt x="1143000" y="914400"/>
                  </a:lnTo>
                  <a:lnTo>
                    <a:pt x="114300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585976" y="3257549"/>
              <a:ext cx="657225" cy="2438400"/>
            </a:xfrm>
            <a:custGeom>
              <a:avLst/>
              <a:gdLst/>
              <a:ahLst/>
              <a:cxnLst/>
              <a:rect l="l" t="t" r="r" b="b"/>
              <a:pathLst>
                <a:path w="657225" h="2438400">
                  <a:moveTo>
                    <a:pt x="657098" y="552450"/>
                  </a:moveTo>
                  <a:lnTo>
                    <a:pt x="618998" y="533400"/>
                  </a:lnTo>
                  <a:lnTo>
                    <a:pt x="542798" y="495300"/>
                  </a:lnTo>
                  <a:lnTo>
                    <a:pt x="542798" y="533400"/>
                  </a:lnTo>
                  <a:lnTo>
                    <a:pt x="347599" y="533400"/>
                  </a:lnTo>
                  <a:lnTo>
                    <a:pt x="347599" y="190500"/>
                  </a:lnTo>
                  <a:lnTo>
                    <a:pt x="347599" y="171450"/>
                  </a:lnTo>
                  <a:lnTo>
                    <a:pt x="347599" y="152400"/>
                  </a:lnTo>
                  <a:lnTo>
                    <a:pt x="347599" y="38100"/>
                  </a:lnTo>
                  <a:lnTo>
                    <a:pt x="347599" y="19050"/>
                  </a:lnTo>
                  <a:lnTo>
                    <a:pt x="347599" y="0"/>
                  </a:lnTo>
                  <a:lnTo>
                    <a:pt x="0" y="0"/>
                  </a:lnTo>
                  <a:lnTo>
                    <a:pt x="0" y="38100"/>
                  </a:lnTo>
                  <a:lnTo>
                    <a:pt x="309499" y="38100"/>
                  </a:lnTo>
                  <a:lnTo>
                    <a:pt x="309499" y="152400"/>
                  </a:lnTo>
                  <a:lnTo>
                    <a:pt x="0" y="152400"/>
                  </a:lnTo>
                  <a:lnTo>
                    <a:pt x="0" y="190500"/>
                  </a:lnTo>
                  <a:lnTo>
                    <a:pt x="309499" y="190500"/>
                  </a:lnTo>
                  <a:lnTo>
                    <a:pt x="309499" y="571500"/>
                  </a:lnTo>
                  <a:lnTo>
                    <a:pt x="309499" y="2400300"/>
                  </a:lnTo>
                  <a:lnTo>
                    <a:pt x="542798" y="2400300"/>
                  </a:lnTo>
                  <a:lnTo>
                    <a:pt x="542798" y="2438400"/>
                  </a:lnTo>
                  <a:lnTo>
                    <a:pt x="618998" y="2400300"/>
                  </a:lnTo>
                  <a:lnTo>
                    <a:pt x="657098" y="2381250"/>
                  </a:lnTo>
                  <a:lnTo>
                    <a:pt x="618998" y="2362200"/>
                  </a:lnTo>
                  <a:lnTo>
                    <a:pt x="542798" y="2324100"/>
                  </a:lnTo>
                  <a:lnTo>
                    <a:pt x="542798" y="2362200"/>
                  </a:lnTo>
                  <a:lnTo>
                    <a:pt x="347599" y="2362200"/>
                  </a:lnTo>
                  <a:lnTo>
                    <a:pt x="347599" y="571500"/>
                  </a:lnTo>
                  <a:lnTo>
                    <a:pt x="542798" y="571500"/>
                  </a:lnTo>
                  <a:lnTo>
                    <a:pt x="542798" y="609600"/>
                  </a:lnTo>
                  <a:lnTo>
                    <a:pt x="618998" y="571500"/>
                  </a:lnTo>
                  <a:lnTo>
                    <a:pt x="657098" y="5524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65624" y="1676400"/>
              <a:ext cx="2020951" cy="11811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29175" y="2895600"/>
              <a:ext cx="2209800" cy="1292225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414649" y="2228849"/>
              <a:ext cx="1066800" cy="3390900"/>
            </a:xfrm>
            <a:custGeom>
              <a:avLst/>
              <a:gdLst/>
              <a:ahLst/>
              <a:cxnLst/>
              <a:rect l="l" t="t" r="r" b="b"/>
              <a:pathLst>
                <a:path w="1066800" h="3390900">
                  <a:moveTo>
                    <a:pt x="990600" y="1352550"/>
                  </a:moveTo>
                  <a:lnTo>
                    <a:pt x="952500" y="1333500"/>
                  </a:lnTo>
                  <a:lnTo>
                    <a:pt x="876300" y="1295400"/>
                  </a:lnTo>
                  <a:lnTo>
                    <a:pt x="876300" y="1333500"/>
                  </a:lnTo>
                  <a:lnTo>
                    <a:pt x="0" y="1333500"/>
                  </a:lnTo>
                  <a:lnTo>
                    <a:pt x="0" y="1371600"/>
                  </a:lnTo>
                  <a:lnTo>
                    <a:pt x="876300" y="1371600"/>
                  </a:lnTo>
                  <a:lnTo>
                    <a:pt x="876300" y="1409700"/>
                  </a:lnTo>
                  <a:lnTo>
                    <a:pt x="952500" y="1371600"/>
                  </a:lnTo>
                  <a:lnTo>
                    <a:pt x="990600" y="1352550"/>
                  </a:lnTo>
                  <a:close/>
                </a:path>
                <a:path w="1066800" h="3390900">
                  <a:moveTo>
                    <a:pt x="1066800" y="3333750"/>
                  </a:moveTo>
                  <a:lnTo>
                    <a:pt x="1028700" y="3314700"/>
                  </a:lnTo>
                  <a:lnTo>
                    <a:pt x="952500" y="3276600"/>
                  </a:lnTo>
                  <a:lnTo>
                    <a:pt x="952500" y="3314700"/>
                  </a:lnTo>
                  <a:lnTo>
                    <a:pt x="76200" y="3314700"/>
                  </a:lnTo>
                  <a:lnTo>
                    <a:pt x="76200" y="3352800"/>
                  </a:lnTo>
                  <a:lnTo>
                    <a:pt x="952500" y="3352800"/>
                  </a:lnTo>
                  <a:lnTo>
                    <a:pt x="952500" y="3390900"/>
                  </a:lnTo>
                  <a:lnTo>
                    <a:pt x="1028700" y="3352800"/>
                  </a:lnTo>
                  <a:lnTo>
                    <a:pt x="1066800" y="3333750"/>
                  </a:lnTo>
                  <a:close/>
                </a:path>
                <a:path w="1066800" h="3390900">
                  <a:moveTo>
                    <a:pt x="1066800" y="57150"/>
                  </a:moveTo>
                  <a:lnTo>
                    <a:pt x="1028700" y="38100"/>
                  </a:lnTo>
                  <a:lnTo>
                    <a:pt x="952500" y="0"/>
                  </a:lnTo>
                  <a:lnTo>
                    <a:pt x="952500" y="38100"/>
                  </a:lnTo>
                  <a:lnTo>
                    <a:pt x="76200" y="38100"/>
                  </a:lnTo>
                  <a:lnTo>
                    <a:pt x="76200" y="76200"/>
                  </a:lnTo>
                  <a:lnTo>
                    <a:pt x="952500" y="76200"/>
                  </a:lnTo>
                  <a:lnTo>
                    <a:pt x="952500" y="114300"/>
                  </a:lnTo>
                  <a:lnTo>
                    <a:pt x="1028700" y="76200"/>
                  </a:lnTo>
                  <a:lnTo>
                    <a:pt x="1066800" y="571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2369" y="2733985"/>
            <a:ext cx="330835" cy="145669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380"/>
              </a:lnSpc>
            </a:pPr>
            <a:r>
              <a:rPr sz="2400" dirty="0">
                <a:latin typeface="Calibri"/>
                <a:cs typeface="Calibri"/>
              </a:rPr>
              <a:t>N </a:t>
            </a:r>
            <a:r>
              <a:rPr sz="2400" spc="-10" dirty="0">
                <a:latin typeface="Calibri"/>
                <a:cs typeface="Calibri"/>
              </a:rPr>
              <a:t>examples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595245" y="4274225"/>
            <a:ext cx="356235" cy="61404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575"/>
              </a:lnSpc>
            </a:pPr>
            <a:r>
              <a:rPr sz="2600" b="1" spc="-10" dirty="0">
                <a:latin typeface="Calibri"/>
                <a:cs typeface="Calibri"/>
              </a:rPr>
              <a:t>....…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033898" y="4261780"/>
            <a:ext cx="356235" cy="61404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575"/>
              </a:lnSpc>
            </a:pPr>
            <a:r>
              <a:rPr sz="2600" b="1" spc="-10" dirty="0">
                <a:latin typeface="Calibri"/>
                <a:cs typeface="Calibri"/>
              </a:rPr>
              <a:t>....…</a:t>
            </a:r>
            <a:endParaRPr sz="26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28625" y="2457450"/>
            <a:ext cx="1814830" cy="1367155"/>
            <a:chOff x="428625" y="2457450"/>
            <a:chExt cx="1814830" cy="1367155"/>
          </a:xfrm>
        </p:grpSpPr>
        <p:sp>
          <p:nvSpPr>
            <p:cNvPr id="20" name="object 20"/>
            <p:cNvSpPr/>
            <p:nvPr/>
          </p:nvSpPr>
          <p:spPr>
            <a:xfrm>
              <a:off x="442912" y="2895600"/>
              <a:ext cx="1143000" cy="914400"/>
            </a:xfrm>
            <a:custGeom>
              <a:avLst/>
              <a:gdLst/>
              <a:ahLst/>
              <a:cxnLst/>
              <a:rect l="l" t="t" r="r" b="b"/>
              <a:pathLst>
                <a:path w="1143000" h="914400">
                  <a:moveTo>
                    <a:pt x="1143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1143000" y="914400"/>
                  </a:lnTo>
                  <a:lnTo>
                    <a:pt x="1143000" y="0"/>
                  </a:lnTo>
                  <a:close/>
                </a:path>
              </a:pathLst>
            </a:custGeom>
            <a:solidFill>
              <a:srgbClr val="EBAB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42912" y="2895600"/>
              <a:ext cx="1143000" cy="914400"/>
            </a:xfrm>
            <a:custGeom>
              <a:avLst/>
              <a:gdLst/>
              <a:ahLst/>
              <a:cxnLst/>
              <a:rect l="l" t="t" r="r" b="b"/>
              <a:pathLst>
                <a:path w="1143000" h="914400">
                  <a:moveTo>
                    <a:pt x="0" y="914400"/>
                  </a:moveTo>
                  <a:lnTo>
                    <a:pt x="1143000" y="914400"/>
                  </a:lnTo>
                  <a:lnTo>
                    <a:pt x="114300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585975" y="2457450"/>
              <a:ext cx="657225" cy="685800"/>
            </a:xfrm>
            <a:custGeom>
              <a:avLst/>
              <a:gdLst/>
              <a:ahLst/>
              <a:cxnLst/>
              <a:rect l="l" t="t" r="r" b="b"/>
              <a:pathLst>
                <a:path w="657225" h="685800">
                  <a:moveTo>
                    <a:pt x="309499" y="647700"/>
                  </a:moveTo>
                  <a:lnTo>
                    <a:pt x="0" y="647700"/>
                  </a:lnTo>
                  <a:lnTo>
                    <a:pt x="0" y="685800"/>
                  </a:lnTo>
                  <a:lnTo>
                    <a:pt x="347599" y="685800"/>
                  </a:lnTo>
                  <a:lnTo>
                    <a:pt x="347599" y="666750"/>
                  </a:lnTo>
                  <a:lnTo>
                    <a:pt x="309499" y="666750"/>
                  </a:lnTo>
                  <a:lnTo>
                    <a:pt x="309499" y="647700"/>
                  </a:lnTo>
                  <a:close/>
                </a:path>
                <a:path w="657225" h="685800">
                  <a:moveTo>
                    <a:pt x="542798" y="38100"/>
                  </a:moveTo>
                  <a:lnTo>
                    <a:pt x="309499" y="38100"/>
                  </a:lnTo>
                  <a:lnTo>
                    <a:pt x="309499" y="666750"/>
                  </a:lnTo>
                  <a:lnTo>
                    <a:pt x="328549" y="647700"/>
                  </a:lnTo>
                  <a:lnTo>
                    <a:pt x="347599" y="647700"/>
                  </a:lnTo>
                  <a:lnTo>
                    <a:pt x="347599" y="76200"/>
                  </a:lnTo>
                  <a:lnTo>
                    <a:pt x="328549" y="76200"/>
                  </a:lnTo>
                  <a:lnTo>
                    <a:pt x="347599" y="57150"/>
                  </a:lnTo>
                  <a:lnTo>
                    <a:pt x="542798" y="57150"/>
                  </a:lnTo>
                  <a:lnTo>
                    <a:pt x="542798" y="38100"/>
                  </a:lnTo>
                  <a:close/>
                </a:path>
                <a:path w="657225" h="685800">
                  <a:moveTo>
                    <a:pt x="347599" y="647700"/>
                  </a:moveTo>
                  <a:lnTo>
                    <a:pt x="328549" y="647700"/>
                  </a:lnTo>
                  <a:lnTo>
                    <a:pt x="309499" y="666750"/>
                  </a:lnTo>
                  <a:lnTo>
                    <a:pt x="347599" y="666750"/>
                  </a:lnTo>
                  <a:lnTo>
                    <a:pt x="347599" y="647700"/>
                  </a:lnTo>
                  <a:close/>
                </a:path>
                <a:path w="657225" h="685800">
                  <a:moveTo>
                    <a:pt x="542798" y="0"/>
                  </a:moveTo>
                  <a:lnTo>
                    <a:pt x="542798" y="114300"/>
                  </a:lnTo>
                  <a:lnTo>
                    <a:pt x="618998" y="76200"/>
                  </a:lnTo>
                  <a:lnTo>
                    <a:pt x="561848" y="76200"/>
                  </a:lnTo>
                  <a:lnTo>
                    <a:pt x="561848" y="38100"/>
                  </a:lnTo>
                  <a:lnTo>
                    <a:pt x="618998" y="38100"/>
                  </a:lnTo>
                  <a:lnTo>
                    <a:pt x="542798" y="0"/>
                  </a:lnTo>
                  <a:close/>
                </a:path>
                <a:path w="657225" h="685800">
                  <a:moveTo>
                    <a:pt x="347599" y="57150"/>
                  </a:moveTo>
                  <a:lnTo>
                    <a:pt x="328549" y="76200"/>
                  </a:lnTo>
                  <a:lnTo>
                    <a:pt x="347599" y="76200"/>
                  </a:lnTo>
                  <a:lnTo>
                    <a:pt x="347599" y="57150"/>
                  </a:lnTo>
                  <a:close/>
                </a:path>
                <a:path w="657225" h="685800">
                  <a:moveTo>
                    <a:pt x="542798" y="57150"/>
                  </a:moveTo>
                  <a:lnTo>
                    <a:pt x="347599" y="57150"/>
                  </a:lnTo>
                  <a:lnTo>
                    <a:pt x="347599" y="76200"/>
                  </a:lnTo>
                  <a:lnTo>
                    <a:pt x="542798" y="76200"/>
                  </a:lnTo>
                  <a:lnTo>
                    <a:pt x="542798" y="57150"/>
                  </a:lnTo>
                  <a:close/>
                </a:path>
                <a:path w="657225" h="685800">
                  <a:moveTo>
                    <a:pt x="618998" y="38100"/>
                  </a:moveTo>
                  <a:lnTo>
                    <a:pt x="561848" y="38100"/>
                  </a:lnTo>
                  <a:lnTo>
                    <a:pt x="561848" y="76200"/>
                  </a:lnTo>
                  <a:lnTo>
                    <a:pt x="618998" y="76200"/>
                  </a:lnTo>
                  <a:lnTo>
                    <a:pt x="657098" y="57150"/>
                  </a:lnTo>
                  <a:lnTo>
                    <a:pt x="618998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318617" y="2299842"/>
            <a:ext cx="13709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M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features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8625" y="1581150"/>
            <a:ext cx="8263255" cy="4673600"/>
            <a:chOff x="428625" y="1581150"/>
            <a:chExt cx="8263255" cy="4673600"/>
          </a:xfrm>
        </p:grpSpPr>
        <p:sp>
          <p:nvSpPr>
            <p:cNvPr id="3" name="object 3"/>
            <p:cNvSpPr/>
            <p:nvPr/>
          </p:nvSpPr>
          <p:spPr>
            <a:xfrm>
              <a:off x="2271776" y="1905000"/>
              <a:ext cx="1143000" cy="914400"/>
            </a:xfrm>
            <a:custGeom>
              <a:avLst/>
              <a:gdLst/>
              <a:ahLst/>
              <a:cxnLst/>
              <a:rect l="l" t="t" r="r" b="b"/>
              <a:pathLst>
                <a:path w="1143000" h="914400">
                  <a:moveTo>
                    <a:pt x="1143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1143000" y="914400"/>
                  </a:lnTo>
                  <a:lnTo>
                    <a:pt x="1143000" y="0"/>
                  </a:lnTo>
                  <a:close/>
                </a:path>
              </a:pathLst>
            </a:custGeom>
            <a:solidFill>
              <a:srgbClr val="4D9F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271776" y="1905000"/>
              <a:ext cx="1143000" cy="914400"/>
            </a:xfrm>
            <a:custGeom>
              <a:avLst/>
              <a:gdLst/>
              <a:ahLst/>
              <a:cxnLst/>
              <a:rect l="l" t="t" r="r" b="b"/>
              <a:pathLst>
                <a:path w="1143000" h="914400">
                  <a:moveTo>
                    <a:pt x="0" y="914400"/>
                  </a:moveTo>
                  <a:lnTo>
                    <a:pt x="1143000" y="914400"/>
                  </a:lnTo>
                  <a:lnTo>
                    <a:pt x="114300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271776" y="3200400"/>
              <a:ext cx="1143000" cy="914400"/>
            </a:xfrm>
            <a:custGeom>
              <a:avLst/>
              <a:gdLst/>
              <a:ahLst/>
              <a:cxnLst/>
              <a:rect l="l" t="t" r="r" b="b"/>
              <a:pathLst>
                <a:path w="1143000" h="914400">
                  <a:moveTo>
                    <a:pt x="1143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1143000" y="914400"/>
                  </a:lnTo>
                  <a:lnTo>
                    <a:pt x="1143000" y="0"/>
                  </a:lnTo>
                  <a:close/>
                </a:path>
              </a:pathLst>
            </a:custGeom>
            <a:solidFill>
              <a:srgbClr val="4D9F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271776" y="3200400"/>
              <a:ext cx="1143000" cy="914400"/>
            </a:xfrm>
            <a:custGeom>
              <a:avLst/>
              <a:gdLst/>
              <a:ahLst/>
              <a:cxnLst/>
              <a:rect l="l" t="t" r="r" b="b"/>
              <a:pathLst>
                <a:path w="1143000" h="914400">
                  <a:moveTo>
                    <a:pt x="0" y="914400"/>
                  </a:moveTo>
                  <a:lnTo>
                    <a:pt x="1143000" y="914400"/>
                  </a:lnTo>
                  <a:lnTo>
                    <a:pt x="114300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85976" y="2305049"/>
              <a:ext cx="671830" cy="1562100"/>
            </a:xfrm>
            <a:custGeom>
              <a:avLst/>
              <a:gdLst/>
              <a:ahLst/>
              <a:cxnLst/>
              <a:rect l="l" t="t" r="r" b="b"/>
              <a:pathLst>
                <a:path w="671830" h="1562100">
                  <a:moveTo>
                    <a:pt x="657098" y="1504950"/>
                  </a:moveTo>
                  <a:lnTo>
                    <a:pt x="618998" y="1485900"/>
                  </a:lnTo>
                  <a:lnTo>
                    <a:pt x="542798" y="1447800"/>
                  </a:lnTo>
                  <a:lnTo>
                    <a:pt x="542798" y="1485900"/>
                  </a:lnTo>
                  <a:lnTo>
                    <a:pt x="347599" y="1485900"/>
                  </a:lnTo>
                  <a:lnTo>
                    <a:pt x="347599" y="1143000"/>
                  </a:lnTo>
                  <a:lnTo>
                    <a:pt x="347599" y="1123950"/>
                  </a:lnTo>
                  <a:lnTo>
                    <a:pt x="347599" y="1104900"/>
                  </a:lnTo>
                  <a:lnTo>
                    <a:pt x="0" y="1104900"/>
                  </a:lnTo>
                  <a:lnTo>
                    <a:pt x="0" y="1143000"/>
                  </a:lnTo>
                  <a:lnTo>
                    <a:pt x="309499" y="1143000"/>
                  </a:lnTo>
                  <a:lnTo>
                    <a:pt x="309499" y="1524000"/>
                  </a:lnTo>
                  <a:lnTo>
                    <a:pt x="542798" y="1524000"/>
                  </a:lnTo>
                  <a:lnTo>
                    <a:pt x="542798" y="1562100"/>
                  </a:lnTo>
                  <a:lnTo>
                    <a:pt x="618998" y="1524000"/>
                  </a:lnTo>
                  <a:lnTo>
                    <a:pt x="657098" y="1504950"/>
                  </a:lnTo>
                  <a:close/>
                </a:path>
                <a:path w="671830" h="1562100">
                  <a:moveTo>
                    <a:pt x="671449" y="57150"/>
                  </a:moveTo>
                  <a:lnTo>
                    <a:pt x="633349" y="38100"/>
                  </a:lnTo>
                  <a:lnTo>
                    <a:pt x="557149" y="0"/>
                  </a:lnTo>
                  <a:lnTo>
                    <a:pt x="557149" y="38100"/>
                  </a:lnTo>
                  <a:lnTo>
                    <a:pt x="323850" y="38100"/>
                  </a:lnTo>
                  <a:lnTo>
                    <a:pt x="323850" y="952500"/>
                  </a:lnTo>
                  <a:lnTo>
                    <a:pt x="14224" y="952500"/>
                  </a:lnTo>
                  <a:lnTo>
                    <a:pt x="14224" y="990600"/>
                  </a:lnTo>
                  <a:lnTo>
                    <a:pt x="361950" y="990600"/>
                  </a:lnTo>
                  <a:lnTo>
                    <a:pt x="361950" y="971550"/>
                  </a:lnTo>
                  <a:lnTo>
                    <a:pt x="361950" y="952500"/>
                  </a:lnTo>
                  <a:lnTo>
                    <a:pt x="361950" y="76200"/>
                  </a:lnTo>
                  <a:lnTo>
                    <a:pt x="557149" y="76200"/>
                  </a:lnTo>
                  <a:lnTo>
                    <a:pt x="557149" y="114300"/>
                  </a:lnTo>
                  <a:lnTo>
                    <a:pt x="633349" y="76200"/>
                  </a:lnTo>
                  <a:lnTo>
                    <a:pt x="671449" y="571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71776" y="5181600"/>
              <a:ext cx="1143000" cy="914400"/>
            </a:xfrm>
            <a:custGeom>
              <a:avLst/>
              <a:gdLst/>
              <a:ahLst/>
              <a:cxnLst/>
              <a:rect l="l" t="t" r="r" b="b"/>
              <a:pathLst>
                <a:path w="1143000" h="914400">
                  <a:moveTo>
                    <a:pt x="1143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1143000" y="914400"/>
                  </a:lnTo>
                  <a:lnTo>
                    <a:pt x="1143000" y="0"/>
                  </a:lnTo>
                  <a:close/>
                </a:path>
              </a:pathLst>
            </a:custGeom>
            <a:solidFill>
              <a:srgbClr val="4D9F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71776" y="5181600"/>
              <a:ext cx="1143000" cy="914400"/>
            </a:xfrm>
            <a:custGeom>
              <a:avLst/>
              <a:gdLst/>
              <a:ahLst/>
              <a:cxnLst/>
              <a:rect l="l" t="t" r="r" b="b"/>
              <a:pathLst>
                <a:path w="1143000" h="914400">
                  <a:moveTo>
                    <a:pt x="0" y="914400"/>
                  </a:moveTo>
                  <a:lnTo>
                    <a:pt x="1143000" y="914400"/>
                  </a:lnTo>
                  <a:lnTo>
                    <a:pt x="114300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85975" y="3257550"/>
              <a:ext cx="657225" cy="2438400"/>
            </a:xfrm>
            <a:custGeom>
              <a:avLst/>
              <a:gdLst/>
              <a:ahLst/>
              <a:cxnLst/>
              <a:rect l="l" t="t" r="r" b="b"/>
              <a:pathLst>
                <a:path w="657225" h="2438400">
                  <a:moveTo>
                    <a:pt x="542798" y="2324100"/>
                  </a:moveTo>
                  <a:lnTo>
                    <a:pt x="542798" y="2438400"/>
                  </a:lnTo>
                  <a:lnTo>
                    <a:pt x="618998" y="2400300"/>
                  </a:lnTo>
                  <a:lnTo>
                    <a:pt x="561848" y="2400300"/>
                  </a:lnTo>
                  <a:lnTo>
                    <a:pt x="561848" y="2362200"/>
                  </a:lnTo>
                  <a:lnTo>
                    <a:pt x="618998" y="2362200"/>
                  </a:lnTo>
                  <a:lnTo>
                    <a:pt x="542798" y="2324100"/>
                  </a:lnTo>
                  <a:close/>
                </a:path>
                <a:path w="657225" h="2438400">
                  <a:moveTo>
                    <a:pt x="309499" y="19050"/>
                  </a:moveTo>
                  <a:lnTo>
                    <a:pt x="309499" y="2400300"/>
                  </a:lnTo>
                  <a:lnTo>
                    <a:pt x="542798" y="2400300"/>
                  </a:lnTo>
                  <a:lnTo>
                    <a:pt x="542798" y="2381250"/>
                  </a:lnTo>
                  <a:lnTo>
                    <a:pt x="347599" y="2381250"/>
                  </a:lnTo>
                  <a:lnTo>
                    <a:pt x="328549" y="2362200"/>
                  </a:lnTo>
                  <a:lnTo>
                    <a:pt x="347599" y="2362200"/>
                  </a:lnTo>
                  <a:lnTo>
                    <a:pt x="347599" y="38100"/>
                  </a:lnTo>
                  <a:lnTo>
                    <a:pt x="328549" y="38100"/>
                  </a:lnTo>
                  <a:lnTo>
                    <a:pt x="309499" y="19050"/>
                  </a:lnTo>
                  <a:close/>
                </a:path>
                <a:path w="657225" h="2438400">
                  <a:moveTo>
                    <a:pt x="618998" y="2362200"/>
                  </a:moveTo>
                  <a:lnTo>
                    <a:pt x="561848" y="2362200"/>
                  </a:lnTo>
                  <a:lnTo>
                    <a:pt x="561848" y="2400300"/>
                  </a:lnTo>
                  <a:lnTo>
                    <a:pt x="618998" y="2400300"/>
                  </a:lnTo>
                  <a:lnTo>
                    <a:pt x="657098" y="2381250"/>
                  </a:lnTo>
                  <a:lnTo>
                    <a:pt x="618998" y="2362200"/>
                  </a:lnTo>
                  <a:close/>
                </a:path>
                <a:path w="657225" h="2438400">
                  <a:moveTo>
                    <a:pt x="347599" y="2362200"/>
                  </a:moveTo>
                  <a:lnTo>
                    <a:pt x="328549" y="2362200"/>
                  </a:lnTo>
                  <a:lnTo>
                    <a:pt x="347599" y="2381250"/>
                  </a:lnTo>
                  <a:lnTo>
                    <a:pt x="347599" y="2362200"/>
                  </a:lnTo>
                  <a:close/>
                </a:path>
                <a:path w="657225" h="2438400">
                  <a:moveTo>
                    <a:pt x="542798" y="2362200"/>
                  </a:moveTo>
                  <a:lnTo>
                    <a:pt x="347599" y="2362200"/>
                  </a:lnTo>
                  <a:lnTo>
                    <a:pt x="347599" y="2381250"/>
                  </a:lnTo>
                  <a:lnTo>
                    <a:pt x="542798" y="2381250"/>
                  </a:lnTo>
                  <a:lnTo>
                    <a:pt x="542798" y="2362200"/>
                  </a:lnTo>
                  <a:close/>
                </a:path>
                <a:path w="657225" h="2438400">
                  <a:moveTo>
                    <a:pt x="347599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309499" y="38100"/>
                  </a:lnTo>
                  <a:lnTo>
                    <a:pt x="309499" y="19050"/>
                  </a:lnTo>
                  <a:lnTo>
                    <a:pt x="347599" y="19050"/>
                  </a:lnTo>
                  <a:lnTo>
                    <a:pt x="347599" y="0"/>
                  </a:lnTo>
                  <a:close/>
                </a:path>
                <a:path w="657225" h="2438400">
                  <a:moveTo>
                    <a:pt x="347599" y="19050"/>
                  </a:moveTo>
                  <a:lnTo>
                    <a:pt x="309499" y="19050"/>
                  </a:lnTo>
                  <a:lnTo>
                    <a:pt x="328549" y="38100"/>
                  </a:lnTo>
                  <a:lnTo>
                    <a:pt x="347599" y="38100"/>
                  </a:lnTo>
                  <a:lnTo>
                    <a:pt x="347599" y="190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65625" y="1676400"/>
              <a:ext cx="2020951" cy="11811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29176" y="2895600"/>
              <a:ext cx="2209800" cy="129222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29176" y="4956175"/>
              <a:ext cx="2209800" cy="129222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414649" y="2228849"/>
              <a:ext cx="1066800" cy="3390900"/>
            </a:xfrm>
            <a:custGeom>
              <a:avLst/>
              <a:gdLst/>
              <a:ahLst/>
              <a:cxnLst/>
              <a:rect l="l" t="t" r="r" b="b"/>
              <a:pathLst>
                <a:path w="1066800" h="3390900">
                  <a:moveTo>
                    <a:pt x="990600" y="1352550"/>
                  </a:moveTo>
                  <a:lnTo>
                    <a:pt x="952500" y="1333500"/>
                  </a:lnTo>
                  <a:lnTo>
                    <a:pt x="876300" y="1295400"/>
                  </a:lnTo>
                  <a:lnTo>
                    <a:pt x="876300" y="1333500"/>
                  </a:lnTo>
                  <a:lnTo>
                    <a:pt x="0" y="1333500"/>
                  </a:lnTo>
                  <a:lnTo>
                    <a:pt x="0" y="1371600"/>
                  </a:lnTo>
                  <a:lnTo>
                    <a:pt x="876300" y="1371600"/>
                  </a:lnTo>
                  <a:lnTo>
                    <a:pt x="876300" y="1409700"/>
                  </a:lnTo>
                  <a:lnTo>
                    <a:pt x="952500" y="1371600"/>
                  </a:lnTo>
                  <a:lnTo>
                    <a:pt x="990600" y="1352550"/>
                  </a:lnTo>
                  <a:close/>
                </a:path>
                <a:path w="1066800" h="3390900">
                  <a:moveTo>
                    <a:pt x="1004951" y="57150"/>
                  </a:moveTo>
                  <a:lnTo>
                    <a:pt x="966851" y="38100"/>
                  </a:lnTo>
                  <a:lnTo>
                    <a:pt x="890651" y="0"/>
                  </a:lnTo>
                  <a:lnTo>
                    <a:pt x="890651" y="38100"/>
                  </a:lnTo>
                  <a:lnTo>
                    <a:pt x="14351" y="38100"/>
                  </a:lnTo>
                  <a:lnTo>
                    <a:pt x="14351" y="76200"/>
                  </a:lnTo>
                  <a:lnTo>
                    <a:pt x="890651" y="76200"/>
                  </a:lnTo>
                  <a:lnTo>
                    <a:pt x="890651" y="114300"/>
                  </a:lnTo>
                  <a:lnTo>
                    <a:pt x="966851" y="76200"/>
                  </a:lnTo>
                  <a:lnTo>
                    <a:pt x="1004951" y="57150"/>
                  </a:lnTo>
                  <a:close/>
                </a:path>
                <a:path w="1066800" h="3390900">
                  <a:moveTo>
                    <a:pt x="1066800" y="3333750"/>
                  </a:moveTo>
                  <a:lnTo>
                    <a:pt x="1028700" y="3314700"/>
                  </a:lnTo>
                  <a:lnTo>
                    <a:pt x="952500" y="3276600"/>
                  </a:lnTo>
                  <a:lnTo>
                    <a:pt x="952500" y="3314700"/>
                  </a:lnTo>
                  <a:lnTo>
                    <a:pt x="76200" y="3314700"/>
                  </a:lnTo>
                  <a:lnTo>
                    <a:pt x="76200" y="3352800"/>
                  </a:lnTo>
                  <a:lnTo>
                    <a:pt x="952500" y="3352800"/>
                  </a:lnTo>
                  <a:lnTo>
                    <a:pt x="952500" y="3390900"/>
                  </a:lnTo>
                  <a:lnTo>
                    <a:pt x="1028700" y="3352800"/>
                  </a:lnTo>
                  <a:lnTo>
                    <a:pt x="1066800" y="33337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400800" y="1600200"/>
              <a:ext cx="533400" cy="4572000"/>
            </a:xfrm>
            <a:custGeom>
              <a:avLst/>
              <a:gdLst/>
              <a:ahLst/>
              <a:cxnLst/>
              <a:rect l="l" t="t" r="r" b="b"/>
              <a:pathLst>
                <a:path w="533400" h="4572000">
                  <a:moveTo>
                    <a:pt x="0" y="0"/>
                  </a:moveTo>
                  <a:lnTo>
                    <a:pt x="39416" y="4130"/>
                  </a:lnTo>
                  <a:lnTo>
                    <a:pt x="77035" y="16129"/>
                  </a:lnTo>
                  <a:lnTo>
                    <a:pt x="112445" y="35408"/>
                  </a:lnTo>
                  <a:lnTo>
                    <a:pt x="145232" y="61376"/>
                  </a:lnTo>
                  <a:lnTo>
                    <a:pt x="174985" y="93446"/>
                  </a:lnTo>
                  <a:lnTo>
                    <a:pt x="201291" y="131028"/>
                  </a:lnTo>
                  <a:lnTo>
                    <a:pt x="223739" y="173533"/>
                  </a:lnTo>
                  <a:lnTo>
                    <a:pt x="241916" y="220372"/>
                  </a:lnTo>
                  <a:lnTo>
                    <a:pt x="255410" y="270955"/>
                  </a:lnTo>
                  <a:lnTo>
                    <a:pt x="263808" y="324694"/>
                  </a:lnTo>
                  <a:lnTo>
                    <a:pt x="266700" y="381000"/>
                  </a:lnTo>
                  <a:lnTo>
                    <a:pt x="266700" y="1905000"/>
                  </a:lnTo>
                  <a:lnTo>
                    <a:pt x="269591" y="1961305"/>
                  </a:lnTo>
                  <a:lnTo>
                    <a:pt x="277989" y="2015044"/>
                  </a:lnTo>
                  <a:lnTo>
                    <a:pt x="291483" y="2065627"/>
                  </a:lnTo>
                  <a:lnTo>
                    <a:pt x="309660" y="2112466"/>
                  </a:lnTo>
                  <a:lnTo>
                    <a:pt x="332108" y="2154971"/>
                  </a:lnTo>
                  <a:lnTo>
                    <a:pt x="358414" y="2192553"/>
                  </a:lnTo>
                  <a:lnTo>
                    <a:pt x="388167" y="2224623"/>
                  </a:lnTo>
                  <a:lnTo>
                    <a:pt x="420954" y="2250591"/>
                  </a:lnTo>
                  <a:lnTo>
                    <a:pt x="456364" y="2269870"/>
                  </a:lnTo>
                  <a:lnTo>
                    <a:pt x="493983" y="2281869"/>
                  </a:lnTo>
                  <a:lnTo>
                    <a:pt x="533400" y="2286000"/>
                  </a:lnTo>
                  <a:lnTo>
                    <a:pt x="493983" y="2290130"/>
                  </a:lnTo>
                  <a:lnTo>
                    <a:pt x="456364" y="2302129"/>
                  </a:lnTo>
                  <a:lnTo>
                    <a:pt x="420954" y="2321408"/>
                  </a:lnTo>
                  <a:lnTo>
                    <a:pt x="388167" y="2347376"/>
                  </a:lnTo>
                  <a:lnTo>
                    <a:pt x="358414" y="2379446"/>
                  </a:lnTo>
                  <a:lnTo>
                    <a:pt x="332108" y="2417028"/>
                  </a:lnTo>
                  <a:lnTo>
                    <a:pt x="309660" y="2459533"/>
                  </a:lnTo>
                  <a:lnTo>
                    <a:pt x="291483" y="2506372"/>
                  </a:lnTo>
                  <a:lnTo>
                    <a:pt x="277989" y="2556955"/>
                  </a:lnTo>
                  <a:lnTo>
                    <a:pt x="269591" y="2610694"/>
                  </a:lnTo>
                  <a:lnTo>
                    <a:pt x="266700" y="2667000"/>
                  </a:lnTo>
                  <a:lnTo>
                    <a:pt x="266700" y="4191000"/>
                  </a:lnTo>
                  <a:lnTo>
                    <a:pt x="263808" y="4247299"/>
                  </a:lnTo>
                  <a:lnTo>
                    <a:pt x="255410" y="4301035"/>
                  </a:lnTo>
                  <a:lnTo>
                    <a:pt x="241916" y="4351617"/>
                  </a:lnTo>
                  <a:lnTo>
                    <a:pt x="223739" y="4398455"/>
                  </a:lnTo>
                  <a:lnTo>
                    <a:pt x="201291" y="4440961"/>
                  </a:lnTo>
                  <a:lnTo>
                    <a:pt x="174985" y="4478544"/>
                  </a:lnTo>
                  <a:lnTo>
                    <a:pt x="145232" y="4510616"/>
                  </a:lnTo>
                  <a:lnTo>
                    <a:pt x="112445" y="4536587"/>
                  </a:lnTo>
                  <a:lnTo>
                    <a:pt x="77035" y="4555868"/>
                  </a:lnTo>
                  <a:lnTo>
                    <a:pt x="39416" y="4567868"/>
                  </a:lnTo>
                  <a:lnTo>
                    <a:pt x="0" y="45720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42912" y="2895600"/>
              <a:ext cx="1143000" cy="914400"/>
            </a:xfrm>
            <a:custGeom>
              <a:avLst/>
              <a:gdLst/>
              <a:ahLst/>
              <a:cxnLst/>
              <a:rect l="l" t="t" r="r" b="b"/>
              <a:pathLst>
                <a:path w="1143000" h="914400">
                  <a:moveTo>
                    <a:pt x="1143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1143000" y="914400"/>
                  </a:lnTo>
                  <a:lnTo>
                    <a:pt x="1143000" y="0"/>
                  </a:lnTo>
                  <a:close/>
                </a:path>
              </a:pathLst>
            </a:custGeom>
            <a:solidFill>
              <a:srgbClr val="EBAB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42912" y="2895600"/>
              <a:ext cx="1143000" cy="914400"/>
            </a:xfrm>
            <a:custGeom>
              <a:avLst/>
              <a:gdLst/>
              <a:ahLst/>
              <a:cxnLst/>
              <a:rect l="l" t="t" r="r" b="b"/>
              <a:pathLst>
                <a:path w="1143000" h="914400">
                  <a:moveTo>
                    <a:pt x="0" y="914400"/>
                  </a:moveTo>
                  <a:lnTo>
                    <a:pt x="1143000" y="914400"/>
                  </a:lnTo>
                  <a:lnTo>
                    <a:pt x="114300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2265" rIns="0" bIns="0" rtlCol="0">
            <a:spAutoFit/>
          </a:bodyPr>
          <a:lstStyle/>
          <a:p>
            <a:pPr marL="74295">
              <a:lnSpc>
                <a:spcPct val="100000"/>
              </a:lnSpc>
              <a:spcBef>
                <a:spcPts val="105"/>
              </a:spcBef>
            </a:pPr>
            <a:r>
              <a:rPr sz="4400" b="1" dirty="0">
                <a:latin typeface="Calibri"/>
                <a:cs typeface="Calibri"/>
              </a:rPr>
              <a:t>Random</a:t>
            </a:r>
            <a:r>
              <a:rPr sz="4400" b="1" spc="-140" dirty="0">
                <a:latin typeface="Calibri"/>
                <a:cs typeface="Calibri"/>
              </a:rPr>
              <a:t> </a:t>
            </a:r>
            <a:r>
              <a:rPr sz="4400" b="1" dirty="0">
                <a:latin typeface="Calibri"/>
                <a:cs typeface="Calibri"/>
              </a:rPr>
              <a:t>Forest</a:t>
            </a:r>
            <a:r>
              <a:rPr sz="4400" b="1" spc="-110" dirty="0">
                <a:latin typeface="Calibri"/>
                <a:cs typeface="Calibri"/>
              </a:rPr>
              <a:t> </a:t>
            </a:r>
            <a:r>
              <a:rPr sz="4400" b="1" spc="-10" dirty="0">
                <a:latin typeface="Calibri"/>
                <a:cs typeface="Calibri"/>
              </a:rPr>
              <a:t>Classifier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3207" y="2732427"/>
            <a:ext cx="330200" cy="145732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380"/>
              </a:lnSpc>
            </a:pPr>
            <a:r>
              <a:rPr sz="2400" dirty="0">
                <a:latin typeface="Calibri"/>
                <a:cs typeface="Calibri"/>
              </a:rPr>
              <a:t>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examples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595245" y="4274225"/>
            <a:ext cx="356235" cy="61404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575"/>
              </a:lnSpc>
            </a:pPr>
            <a:r>
              <a:rPr sz="2600" b="1" spc="-10" dirty="0">
                <a:latin typeface="Calibri"/>
                <a:cs typeface="Calibri"/>
              </a:rPr>
              <a:t>....…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033898" y="4261780"/>
            <a:ext cx="356235" cy="61404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575"/>
              </a:lnSpc>
            </a:pPr>
            <a:r>
              <a:rPr sz="2600" b="1" spc="-10" dirty="0">
                <a:latin typeface="Calibri"/>
                <a:cs typeface="Calibri"/>
              </a:rPr>
              <a:t>....…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323581" y="3137991"/>
            <a:ext cx="110045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 algn="ctr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latin typeface="Calibri"/>
                <a:cs typeface="Calibri"/>
              </a:rPr>
              <a:t>Take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he </a:t>
            </a:r>
            <a:r>
              <a:rPr sz="2400" b="1" spc="-10" dirty="0">
                <a:latin typeface="Calibri"/>
                <a:cs typeface="Calibri"/>
              </a:rPr>
              <a:t>majority </a:t>
            </a:r>
            <a:r>
              <a:rPr sz="2400" b="1" spc="-20" dirty="0">
                <a:latin typeface="Calibri"/>
                <a:cs typeface="Calibri"/>
              </a:rPr>
              <a:t>vote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18617" y="2299842"/>
            <a:ext cx="13709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M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features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3670" y="1113974"/>
            <a:ext cx="8296909" cy="181610"/>
            <a:chOff x="423670" y="1113974"/>
            <a:chExt cx="8296909" cy="1816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3670" y="1113974"/>
              <a:ext cx="8296659" cy="18149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57199" y="1143000"/>
              <a:ext cx="8229600" cy="76200"/>
            </a:xfrm>
            <a:custGeom>
              <a:avLst/>
              <a:gdLst/>
              <a:ahLst/>
              <a:cxnLst/>
              <a:rect l="l" t="t" r="r" b="b"/>
              <a:pathLst>
                <a:path w="8229600" h="76200">
                  <a:moveTo>
                    <a:pt x="0" y="76200"/>
                  </a:moveTo>
                  <a:lnTo>
                    <a:pt x="8229600" y="0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457200" y="6248400"/>
            <a:ext cx="8229600" cy="1905"/>
          </a:xfrm>
          <a:custGeom>
            <a:avLst/>
            <a:gdLst/>
            <a:ahLst/>
            <a:cxnLst/>
            <a:rect l="l" t="t" r="r" b="b"/>
            <a:pathLst>
              <a:path w="8229600" h="1904">
                <a:moveTo>
                  <a:pt x="0" y="0"/>
                </a:moveTo>
                <a:lnTo>
                  <a:pt x="8229600" y="1587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2265" rIns="0" bIns="0" rtlCol="0">
            <a:spAutoFit/>
          </a:bodyPr>
          <a:lstStyle/>
          <a:p>
            <a:pPr marL="74295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Additional</a:t>
            </a:r>
            <a:r>
              <a:rPr sz="4400" spc="-60" dirty="0"/>
              <a:t> </a:t>
            </a:r>
            <a:r>
              <a:rPr sz="4400" dirty="0"/>
              <a:t>Info</a:t>
            </a:r>
            <a:r>
              <a:rPr sz="4400" spc="-60" dirty="0"/>
              <a:t> </a:t>
            </a:r>
            <a:r>
              <a:rPr sz="4400" dirty="0"/>
              <a:t>-</a:t>
            </a:r>
            <a:r>
              <a:rPr sz="4400" spc="-55" dirty="0"/>
              <a:t> </a:t>
            </a:r>
            <a:r>
              <a:rPr sz="4400" spc="-10" dirty="0"/>
              <a:t>Boosting</a:t>
            </a:r>
            <a:endParaRPr sz="4400"/>
          </a:p>
        </p:txBody>
      </p:sp>
      <p:sp>
        <p:nvSpPr>
          <p:cNvPr id="7" name="object 7"/>
          <p:cNvSpPr txBox="1"/>
          <p:nvPr/>
        </p:nvSpPr>
        <p:spPr>
          <a:xfrm>
            <a:off x="186639" y="1570990"/>
            <a:ext cx="8930640" cy="3333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Main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idea: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Char char="-"/>
              <a:tabLst>
                <a:tab pos="354965" algn="l"/>
              </a:tabLst>
            </a:pPr>
            <a:r>
              <a:rPr sz="2000" dirty="0">
                <a:latin typeface="Calibri"/>
                <a:cs typeface="Calibri"/>
              </a:rPr>
              <a:t>train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classifiers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(e.g.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decision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trees)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sequence.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Char char="-"/>
              <a:tabLst>
                <a:tab pos="354965" algn="l"/>
              </a:tabLst>
            </a:pPr>
            <a:r>
              <a:rPr sz="2000" dirty="0">
                <a:latin typeface="Calibri"/>
                <a:cs typeface="Calibri"/>
              </a:rPr>
              <a:t>a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new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classifier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should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focus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those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cases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which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were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incorrectly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classified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the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last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round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(get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higher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weights)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Char char="-"/>
              <a:tabLst>
                <a:tab pos="354965" algn="l"/>
              </a:tabLst>
            </a:pPr>
            <a:r>
              <a:rPr sz="2000" dirty="0">
                <a:latin typeface="Calibri"/>
                <a:cs typeface="Calibri"/>
              </a:rPr>
              <a:t>Each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boosting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round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learns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new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(simple)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classifier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weighed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dataset.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Char char="-"/>
              <a:tabLst>
                <a:tab pos="354965" algn="l"/>
              </a:tabLst>
            </a:pPr>
            <a:r>
              <a:rPr sz="2000" dirty="0">
                <a:latin typeface="Calibri"/>
                <a:cs typeface="Calibri"/>
              </a:rPr>
              <a:t>These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classifiers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weighed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combine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them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into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single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powerful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classifier.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84"/>
              </a:spcBef>
              <a:buChar char="-"/>
              <a:tabLst>
                <a:tab pos="354965" algn="l"/>
              </a:tabLst>
            </a:pPr>
            <a:r>
              <a:rPr sz="2000" dirty="0">
                <a:latin typeface="Calibri"/>
                <a:cs typeface="Calibri"/>
              </a:rPr>
              <a:t>Combine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classifiers</a:t>
            </a:r>
            <a:r>
              <a:rPr sz="2000" dirty="0">
                <a:latin typeface="Calibri"/>
                <a:cs typeface="Calibri"/>
              </a:rPr>
              <a:t> by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letting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them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vote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final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prediction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(like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bagging).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Char char="-"/>
              <a:tabLst>
                <a:tab pos="354965" algn="l"/>
              </a:tabLst>
            </a:pPr>
            <a:r>
              <a:rPr sz="2000" dirty="0">
                <a:latin typeface="Calibri"/>
                <a:cs typeface="Calibri"/>
              </a:rPr>
              <a:t>Stop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by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using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monitoring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hold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out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set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(cross-</a:t>
            </a:r>
            <a:r>
              <a:rPr sz="2000" spc="-10" dirty="0">
                <a:latin typeface="Calibri"/>
                <a:cs typeface="Calibri"/>
              </a:rPr>
              <a:t>validation).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5067" rIns="0" bIns="0" rtlCol="0">
            <a:spAutoFit/>
          </a:bodyPr>
          <a:lstStyle/>
          <a:p>
            <a:pPr marL="74295">
              <a:lnSpc>
                <a:spcPct val="100000"/>
              </a:lnSpc>
              <a:spcBef>
                <a:spcPts val="95"/>
              </a:spcBef>
            </a:pPr>
            <a:r>
              <a:rPr dirty="0"/>
              <a:t>Boosting</a:t>
            </a:r>
            <a:r>
              <a:rPr spc="-50" dirty="0"/>
              <a:t> </a:t>
            </a:r>
            <a:r>
              <a:rPr dirty="0"/>
              <a:t>in</a:t>
            </a:r>
            <a:r>
              <a:rPr spc="-55" dirty="0"/>
              <a:t> </a:t>
            </a:r>
            <a:r>
              <a:rPr dirty="0"/>
              <a:t>a</a:t>
            </a:r>
            <a:r>
              <a:rPr spc="-65" dirty="0"/>
              <a:t> </a:t>
            </a:r>
            <a:r>
              <a:rPr spc="-10" dirty="0"/>
              <a:t>Picture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598814" y="1681173"/>
            <a:ext cx="6555105" cy="4923790"/>
            <a:chOff x="1598814" y="1681173"/>
            <a:chExt cx="6555105" cy="492379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98814" y="1681173"/>
              <a:ext cx="6018414" cy="492338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162800" y="1866899"/>
              <a:ext cx="990600" cy="76200"/>
            </a:xfrm>
            <a:custGeom>
              <a:avLst/>
              <a:gdLst/>
              <a:ahLst/>
              <a:cxnLst/>
              <a:rect l="l" t="t" r="r" b="b"/>
              <a:pathLst>
                <a:path w="990600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44450"/>
                  </a:lnTo>
                  <a:lnTo>
                    <a:pt x="63500" y="44450"/>
                  </a:lnTo>
                  <a:lnTo>
                    <a:pt x="63500" y="31750"/>
                  </a:lnTo>
                  <a:lnTo>
                    <a:pt x="76200" y="31750"/>
                  </a:lnTo>
                  <a:lnTo>
                    <a:pt x="76200" y="0"/>
                  </a:lnTo>
                  <a:close/>
                </a:path>
                <a:path w="990600" h="76200">
                  <a:moveTo>
                    <a:pt x="76200" y="31750"/>
                  </a:moveTo>
                  <a:lnTo>
                    <a:pt x="63500" y="31750"/>
                  </a:lnTo>
                  <a:lnTo>
                    <a:pt x="63500" y="44450"/>
                  </a:lnTo>
                  <a:lnTo>
                    <a:pt x="76200" y="44450"/>
                  </a:lnTo>
                  <a:lnTo>
                    <a:pt x="76200" y="31750"/>
                  </a:lnTo>
                  <a:close/>
                </a:path>
                <a:path w="990600" h="76200">
                  <a:moveTo>
                    <a:pt x="990600" y="31750"/>
                  </a:moveTo>
                  <a:lnTo>
                    <a:pt x="76200" y="31750"/>
                  </a:lnTo>
                  <a:lnTo>
                    <a:pt x="76200" y="44450"/>
                  </a:lnTo>
                  <a:lnTo>
                    <a:pt x="990600" y="44450"/>
                  </a:lnTo>
                  <a:lnTo>
                    <a:pt x="990600" y="317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1104900" y="2209800"/>
            <a:ext cx="76200" cy="914400"/>
          </a:xfrm>
          <a:custGeom>
            <a:avLst/>
            <a:gdLst/>
            <a:ahLst/>
            <a:cxnLst/>
            <a:rect l="l" t="t" r="r" b="b"/>
            <a:pathLst>
              <a:path w="76200" h="914400">
                <a:moveTo>
                  <a:pt x="31750" y="838200"/>
                </a:moveTo>
                <a:lnTo>
                  <a:pt x="0" y="838200"/>
                </a:lnTo>
                <a:lnTo>
                  <a:pt x="38100" y="914400"/>
                </a:lnTo>
                <a:lnTo>
                  <a:pt x="69850" y="850900"/>
                </a:lnTo>
                <a:lnTo>
                  <a:pt x="31750" y="850900"/>
                </a:lnTo>
                <a:lnTo>
                  <a:pt x="31750" y="838200"/>
                </a:lnTo>
                <a:close/>
              </a:path>
              <a:path w="76200" h="914400">
                <a:moveTo>
                  <a:pt x="44450" y="0"/>
                </a:moveTo>
                <a:lnTo>
                  <a:pt x="31750" y="0"/>
                </a:lnTo>
                <a:lnTo>
                  <a:pt x="31750" y="850900"/>
                </a:lnTo>
                <a:lnTo>
                  <a:pt x="44450" y="850900"/>
                </a:lnTo>
                <a:lnTo>
                  <a:pt x="44450" y="0"/>
                </a:lnTo>
                <a:close/>
              </a:path>
              <a:path w="76200" h="914400">
                <a:moveTo>
                  <a:pt x="76200" y="838200"/>
                </a:moveTo>
                <a:lnTo>
                  <a:pt x="44450" y="838200"/>
                </a:lnTo>
                <a:lnTo>
                  <a:pt x="44450" y="850900"/>
                </a:lnTo>
                <a:lnTo>
                  <a:pt x="69850" y="850900"/>
                </a:lnTo>
                <a:lnTo>
                  <a:pt x="76200" y="838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8739" y="1857578"/>
            <a:ext cx="12788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Arial MT"/>
                <a:cs typeface="Arial MT"/>
              </a:rPr>
              <a:t>training</a:t>
            </a:r>
            <a:r>
              <a:rPr sz="1600" spc="-5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cases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11261" y="1933778"/>
            <a:ext cx="86296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Arial MT"/>
                <a:cs typeface="Arial MT"/>
              </a:rPr>
              <a:t>correctly</a:t>
            </a:r>
            <a:endParaRPr sz="1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Arial MT"/>
                <a:cs typeface="Arial MT"/>
              </a:rPr>
              <a:t>classified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477000" y="2889250"/>
            <a:ext cx="1068070" cy="186055"/>
          </a:xfrm>
          <a:custGeom>
            <a:avLst/>
            <a:gdLst/>
            <a:ahLst/>
            <a:cxnLst/>
            <a:rect l="l" t="t" r="r" b="b"/>
            <a:pathLst>
              <a:path w="1068070" h="186055">
                <a:moveTo>
                  <a:pt x="70103" y="110236"/>
                </a:moveTo>
                <a:lnTo>
                  <a:pt x="0" y="158750"/>
                </a:lnTo>
                <a:lnTo>
                  <a:pt x="80772" y="185674"/>
                </a:lnTo>
                <a:lnTo>
                  <a:pt x="76587" y="156083"/>
                </a:lnTo>
                <a:lnTo>
                  <a:pt x="63753" y="156083"/>
                </a:lnTo>
                <a:lnTo>
                  <a:pt x="61975" y="143510"/>
                </a:lnTo>
                <a:lnTo>
                  <a:pt x="74555" y="141711"/>
                </a:lnTo>
                <a:lnTo>
                  <a:pt x="70103" y="110236"/>
                </a:lnTo>
                <a:close/>
              </a:path>
              <a:path w="1068070" h="186055">
                <a:moveTo>
                  <a:pt x="74555" y="141711"/>
                </a:moveTo>
                <a:lnTo>
                  <a:pt x="61975" y="143510"/>
                </a:lnTo>
                <a:lnTo>
                  <a:pt x="63753" y="156083"/>
                </a:lnTo>
                <a:lnTo>
                  <a:pt x="76333" y="154284"/>
                </a:lnTo>
                <a:lnTo>
                  <a:pt x="74555" y="141711"/>
                </a:lnTo>
                <a:close/>
              </a:path>
              <a:path w="1068070" h="186055">
                <a:moveTo>
                  <a:pt x="76333" y="154284"/>
                </a:moveTo>
                <a:lnTo>
                  <a:pt x="63753" y="156083"/>
                </a:lnTo>
                <a:lnTo>
                  <a:pt x="76587" y="156083"/>
                </a:lnTo>
                <a:lnTo>
                  <a:pt x="76333" y="154284"/>
                </a:lnTo>
                <a:close/>
              </a:path>
              <a:path w="1068070" h="186055">
                <a:moveTo>
                  <a:pt x="1065910" y="0"/>
                </a:moveTo>
                <a:lnTo>
                  <a:pt x="74555" y="141711"/>
                </a:lnTo>
                <a:lnTo>
                  <a:pt x="76333" y="154284"/>
                </a:lnTo>
                <a:lnTo>
                  <a:pt x="1067689" y="12573"/>
                </a:lnTo>
                <a:lnTo>
                  <a:pt x="10659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7376286" y="3000882"/>
            <a:ext cx="1502410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Arial MT"/>
                <a:cs typeface="Arial MT"/>
              </a:rPr>
              <a:t>training</a:t>
            </a:r>
            <a:r>
              <a:rPr sz="1600" spc="-65" dirty="0">
                <a:latin typeface="Arial MT"/>
                <a:cs typeface="Arial MT"/>
              </a:rPr>
              <a:t> </a:t>
            </a:r>
            <a:r>
              <a:rPr sz="1600" spc="-20" dirty="0">
                <a:latin typeface="Arial MT"/>
                <a:cs typeface="Arial MT"/>
              </a:rPr>
              <a:t>case </a:t>
            </a:r>
            <a:r>
              <a:rPr sz="1600" dirty="0">
                <a:latin typeface="Arial MT"/>
                <a:cs typeface="Arial MT"/>
              </a:rPr>
              <a:t>has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large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weight </a:t>
            </a:r>
            <a:r>
              <a:rPr sz="1600" dirty="0">
                <a:latin typeface="Arial MT"/>
                <a:cs typeface="Arial MT"/>
              </a:rPr>
              <a:t>in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this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round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467600" y="4718558"/>
            <a:ext cx="764540" cy="318135"/>
          </a:xfrm>
          <a:custGeom>
            <a:avLst/>
            <a:gdLst/>
            <a:ahLst/>
            <a:cxnLst/>
            <a:rect l="l" t="t" r="r" b="b"/>
            <a:pathLst>
              <a:path w="764540" h="318135">
                <a:moveTo>
                  <a:pt x="56642" y="247015"/>
                </a:moveTo>
                <a:lnTo>
                  <a:pt x="0" y="310642"/>
                </a:lnTo>
                <a:lnTo>
                  <a:pt x="84835" y="317754"/>
                </a:lnTo>
                <a:lnTo>
                  <a:pt x="74965" y="292989"/>
                </a:lnTo>
                <a:lnTo>
                  <a:pt x="61341" y="292989"/>
                </a:lnTo>
                <a:lnTo>
                  <a:pt x="56642" y="281178"/>
                </a:lnTo>
                <a:lnTo>
                  <a:pt x="68385" y="276480"/>
                </a:lnTo>
                <a:lnTo>
                  <a:pt x="56642" y="247015"/>
                </a:lnTo>
                <a:close/>
              </a:path>
              <a:path w="764540" h="318135">
                <a:moveTo>
                  <a:pt x="68385" y="276480"/>
                </a:moveTo>
                <a:lnTo>
                  <a:pt x="56642" y="281178"/>
                </a:lnTo>
                <a:lnTo>
                  <a:pt x="61341" y="292989"/>
                </a:lnTo>
                <a:lnTo>
                  <a:pt x="73091" y="288287"/>
                </a:lnTo>
                <a:lnTo>
                  <a:pt x="68385" y="276480"/>
                </a:lnTo>
                <a:close/>
              </a:path>
              <a:path w="764540" h="318135">
                <a:moveTo>
                  <a:pt x="73091" y="288287"/>
                </a:moveTo>
                <a:lnTo>
                  <a:pt x="61341" y="292989"/>
                </a:lnTo>
                <a:lnTo>
                  <a:pt x="74965" y="292989"/>
                </a:lnTo>
                <a:lnTo>
                  <a:pt x="73091" y="288287"/>
                </a:lnTo>
                <a:close/>
              </a:path>
              <a:path w="764540" h="318135">
                <a:moveTo>
                  <a:pt x="759586" y="0"/>
                </a:moveTo>
                <a:lnTo>
                  <a:pt x="68385" y="276480"/>
                </a:lnTo>
                <a:lnTo>
                  <a:pt x="73091" y="288287"/>
                </a:lnTo>
                <a:lnTo>
                  <a:pt x="764413" y="11684"/>
                </a:lnTo>
                <a:lnTo>
                  <a:pt x="75958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760334" y="4942788"/>
            <a:ext cx="125730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Arial MT"/>
                <a:cs typeface="Arial MT"/>
              </a:rPr>
              <a:t>this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DT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has</a:t>
            </a:r>
            <a:endParaRPr sz="1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Arial MT"/>
                <a:cs typeface="Arial MT"/>
              </a:rPr>
              <a:t>a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strong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20" dirty="0">
                <a:latin typeface="Arial MT"/>
                <a:cs typeface="Arial MT"/>
              </a:rPr>
              <a:t>vote.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755394" y="1171702"/>
            <a:ext cx="14693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Arial MT"/>
                <a:cs typeface="Arial MT"/>
              </a:rPr>
              <a:t>boosting</a:t>
            </a:r>
            <a:r>
              <a:rPr sz="1600" spc="-5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rounds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505200" y="1333500"/>
            <a:ext cx="1447800" cy="76200"/>
          </a:xfrm>
          <a:custGeom>
            <a:avLst/>
            <a:gdLst/>
            <a:ahLst/>
            <a:cxnLst/>
            <a:rect l="l" t="t" r="r" b="b"/>
            <a:pathLst>
              <a:path w="1447800" h="76200">
                <a:moveTo>
                  <a:pt x="1371600" y="0"/>
                </a:moveTo>
                <a:lnTo>
                  <a:pt x="1371600" y="76200"/>
                </a:lnTo>
                <a:lnTo>
                  <a:pt x="1435100" y="44450"/>
                </a:lnTo>
                <a:lnTo>
                  <a:pt x="1384300" y="44450"/>
                </a:lnTo>
                <a:lnTo>
                  <a:pt x="1384300" y="31750"/>
                </a:lnTo>
                <a:lnTo>
                  <a:pt x="1435100" y="31750"/>
                </a:lnTo>
                <a:lnTo>
                  <a:pt x="1371600" y="0"/>
                </a:lnTo>
                <a:close/>
              </a:path>
              <a:path w="1447800" h="76200">
                <a:moveTo>
                  <a:pt x="137160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1371600" y="44450"/>
                </a:lnTo>
                <a:lnTo>
                  <a:pt x="1371600" y="31750"/>
                </a:lnTo>
                <a:close/>
              </a:path>
              <a:path w="1447800" h="76200">
                <a:moveTo>
                  <a:pt x="1435100" y="31750"/>
                </a:moveTo>
                <a:lnTo>
                  <a:pt x="1384300" y="31750"/>
                </a:lnTo>
                <a:lnTo>
                  <a:pt x="1384300" y="44450"/>
                </a:lnTo>
                <a:lnTo>
                  <a:pt x="1435100" y="44450"/>
                </a:lnTo>
                <a:lnTo>
                  <a:pt x="1447800" y="38100"/>
                </a:lnTo>
                <a:lnTo>
                  <a:pt x="1435100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743200" y="2971800"/>
            <a:ext cx="6757314" cy="1231106"/>
          </a:xfrm>
        </p:spPr>
        <p:txBody>
          <a:bodyPr/>
          <a:lstStyle/>
          <a:p>
            <a:r>
              <a:rPr lang="en-US" dirty="0" smtClean="0"/>
              <a:t>Thank You</a:t>
            </a:r>
            <a:br>
              <a:rPr lang="en-US" dirty="0" smtClean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2793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F791D681F0175408567295AB7E790D7" ma:contentTypeVersion="8" ma:contentTypeDescription="Create a new document." ma:contentTypeScope="" ma:versionID="5e92681daaab39766a7dd8a9bf600aae">
  <xsd:schema xmlns:xsd="http://www.w3.org/2001/XMLSchema" xmlns:xs="http://www.w3.org/2001/XMLSchema" xmlns:p="http://schemas.microsoft.com/office/2006/metadata/properties" xmlns:ns2="9fab35ef-0481-4046-9675-12e4f1bc0cca" targetNamespace="http://schemas.microsoft.com/office/2006/metadata/properties" ma:root="true" ma:fieldsID="b38a3fb03cd5edafde7b47374fceee75" ns2:_="">
    <xsd:import namespace="9fab35ef-0481-4046-9675-12e4f1bc0cc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ab35ef-0481-4046-9675-12e4f1bc0cc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9EA416B-4332-4EC3-B569-6E78C479BA4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fab35ef-0481-4046-9675-12e4f1bc0cc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3E7DA31-6520-4257-826B-C0A220E37E5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B1833A5-2ADE-425F-B3D2-1B9077DECDBC}">
  <ds:schemaRefs>
    <ds:schemaRef ds:uri="http://purl.org/dc/elements/1.1/"/>
    <ds:schemaRef ds:uri="http://purl.org/dc/dcmitype/"/>
    <ds:schemaRef ds:uri="http://schemas.openxmlformats.org/package/2006/metadata/core-properties"/>
    <ds:schemaRef ds:uri="http://purl.org/dc/terms/"/>
    <ds:schemaRef ds:uri="http://www.w3.org/XML/1998/namespace"/>
    <ds:schemaRef ds:uri="http://schemas.microsoft.com/office/infopath/2007/PartnerControls"/>
    <ds:schemaRef ds:uri="http://schemas.microsoft.com/office/2006/documentManagement/types"/>
    <ds:schemaRef ds:uri="9fab35ef-0481-4046-9675-12e4f1bc0cca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188</TotalTime>
  <Words>1427</Words>
  <Application>Microsoft Office PowerPoint</Application>
  <PresentationFormat>On-screen Show (4:3)</PresentationFormat>
  <Paragraphs>422</Paragraphs>
  <Slides>57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5" baseType="lpstr">
      <vt:lpstr>Arial</vt:lpstr>
      <vt:lpstr>Arial MT</vt:lpstr>
      <vt:lpstr>Calibri</vt:lpstr>
      <vt:lpstr>quote-cjk-patch</vt:lpstr>
      <vt:lpstr>Symbol</vt:lpstr>
      <vt:lpstr>Tahoma</vt:lpstr>
      <vt:lpstr>Times New Roman</vt:lpstr>
      <vt:lpstr>Office Theme</vt:lpstr>
      <vt:lpstr>Decision Trees, Random Forest and Ensemble Methods</vt:lpstr>
      <vt:lpstr>Decision trees</vt:lpstr>
      <vt:lpstr>Anatomy of a decision tree</vt:lpstr>
      <vt:lpstr>Anatomy of a decision tree</vt:lpstr>
      <vt:lpstr>To ‘play tennis’ or not.</vt:lpstr>
      <vt:lpstr>To ‘play tennis’ or not.</vt:lpstr>
      <vt:lpstr>PowerPoint Presentation</vt:lpstr>
      <vt:lpstr>How do we choose the test ?</vt:lpstr>
      <vt:lpstr>Im(purity) Measures</vt:lpstr>
      <vt:lpstr>Gini for Binary Classification</vt:lpstr>
      <vt:lpstr>PowerPoint Presentation</vt:lpstr>
      <vt:lpstr>PowerPoint Presentation</vt:lpstr>
      <vt:lpstr>ROOT NODE SELECTION</vt:lpstr>
      <vt:lpstr>ROOT NODE SELECTION WITH ALL 4 FEATURES </vt:lpstr>
      <vt:lpstr>ROOT NODE SELECTION WITH ALL 4 FEATURES </vt:lpstr>
      <vt:lpstr>Comparison Table for Root: </vt:lpstr>
      <vt:lpstr>SECOND LEVEL SPLITS WITH CROSS-TABLES </vt:lpstr>
      <vt:lpstr>Cross-Distribution Tables: </vt:lpstr>
      <vt:lpstr>Cross-Distribution Tables: </vt:lpstr>
      <vt:lpstr>SECOND LEVEL NODE SELECTION WITH REMAINING 4 FEATURES – Branch 1: Sunny (5 days, 2Y, 3N)  </vt:lpstr>
      <vt:lpstr>SECOND LEVEL NODE SELECTION WITH REMAINING 4 FEATURES – Branch 1: Sunny (5 days, 2Y, 3N) </vt:lpstr>
      <vt:lpstr>SECOND LEVEL NODE SELECTION WITH REMAINING 4 FEATURES – Branch 2: Overcast (4 days, 4Y, 0N)</vt:lpstr>
      <vt:lpstr>SECOND LEVEL NODE SELECTION WITH REMAINING 4 FEATURES – Branch 3: RAINY (5 days, 3Y, 2N)</vt:lpstr>
      <vt:lpstr>SECOND LEVEL NODE SELECTION WITH REMAINING 4 FEATURES – Branch 3: RAINY (5 days, 3Y, 2N)</vt:lpstr>
      <vt:lpstr>Third LEVEL SPLITS</vt:lpstr>
      <vt:lpstr>THIRD LEVEL SPLITS (If needed) </vt:lpstr>
      <vt:lpstr>To ‘play tennis’ or not.</vt:lpstr>
      <vt:lpstr>Entropy</vt:lpstr>
      <vt:lpstr>Entropy</vt:lpstr>
      <vt:lpstr>Information Gain</vt:lpstr>
      <vt:lpstr>CALCULATE ENTROPY FOR EACH SPLIT </vt:lpstr>
      <vt:lpstr>CALCULATE ENTROPY FOR EACH SPLIT </vt:lpstr>
      <vt:lpstr>CALCULATE ENTROPY FOR EACH SPLIT </vt:lpstr>
      <vt:lpstr>CALCULATE ENTROPY FOR EACH SPLIT </vt:lpstr>
      <vt:lpstr> COMPARE ALL FEATURES FOR ROOT </vt:lpstr>
      <vt:lpstr>SECOND LEVEL SPLITS USING ENTROPY </vt:lpstr>
      <vt:lpstr>SECOND LEVEL SPLITS USING ENTROPY BRANCH 1: SUNNY (5 days, 2Y, 3N)  </vt:lpstr>
      <vt:lpstr>SECOND LEVEL SPLITS USING ENTROPY BRANCH 1: SUNNY (5 days, 2Y, 3N)  </vt:lpstr>
      <vt:lpstr>SECOND LEVEL SPLITS USING ENTROPY BRANCH 1: OVERCAST (4 days, 4Y, 0N) </vt:lpstr>
      <vt:lpstr>SECOND LEVEL SPLITS USING ENTROPY BRANCH 1: RAINY (5 days, 3Y, 2N)  </vt:lpstr>
      <vt:lpstr>SECOND LEVEL SPLITS USING ENTROPY BRANCH 1: RAINY (5 days, 3Y, 2N)  </vt:lpstr>
      <vt:lpstr>THIRD LEVEL SPLITS (If needed) </vt:lpstr>
      <vt:lpstr>To ‘play tennis’ or not.</vt:lpstr>
      <vt:lpstr>Overfitting</vt:lpstr>
      <vt:lpstr>Decision tree</vt:lpstr>
      <vt:lpstr>Random Forest</vt:lpstr>
      <vt:lpstr>Bagging</vt:lpstr>
      <vt:lpstr>Bagging</vt:lpstr>
      <vt:lpstr>Bootstrap</vt:lpstr>
      <vt:lpstr>Random Forest Classifier</vt:lpstr>
      <vt:lpstr>Random Forest Classifier</vt:lpstr>
      <vt:lpstr>Random Forest Classifier</vt:lpstr>
      <vt:lpstr>Random Forest Classifier</vt:lpstr>
      <vt:lpstr>Random Forest Classifier</vt:lpstr>
      <vt:lpstr>Additional Info - Boosting</vt:lpstr>
      <vt:lpstr>Boosting in a Picture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Markus Svensén</dc:creator>
  <cp:lastModifiedBy>Zainab</cp:lastModifiedBy>
  <cp:revision>23</cp:revision>
  <dcterms:created xsi:type="dcterms:W3CDTF">2024-11-18T03:20:32Z</dcterms:created>
  <dcterms:modified xsi:type="dcterms:W3CDTF">2025-12-31T04:39:48Z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2022-04-15T00:00:00Z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2024-11-18T00:00:00Z</vt:filetime>
  </property>
  <property fmtid="{D5CDD505-2E9C-101B-9397-08002B2CF9AE}" pid="5" name="Producer">
    <vt:lpwstr>Microsoft® PowerPoint® 2010</vt:lpwstr>
  </property>
  <property fmtid="{D5CDD505-2E9C-101B-9397-08002B2CF9AE}" pid="6" name="ContentTypeId">
    <vt:lpwstr>0x010100CF791D681F0175408567295AB7E790D7</vt:lpwstr>
  </property>
</Properties>
</file>