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5"/>
  </p:notesMasterIdLst>
  <p:sldIdLst>
    <p:sldId id="310" r:id="rId3"/>
    <p:sldId id="257" r:id="rId4"/>
    <p:sldId id="294" r:id="rId5"/>
    <p:sldId id="295" r:id="rId6"/>
    <p:sldId id="303" r:id="rId7"/>
    <p:sldId id="276" r:id="rId8"/>
    <p:sldId id="277" r:id="rId9"/>
    <p:sldId id="278" r:id="rId10"/>
    <p:sldId id="282" r:id="rId11"/>
    <p:sldId id="283" r:id="rId12"/>
    <p:sldId id="284" r:id="rId13"/>
    <p:sldId id="285" r:id="rId14"/>
    <p:sldId id="300" r:id="rId15"/>
    <p:sldId id="301" r:id="rId16"/>
    <p:sldId id="302" r:id="rId17"/>
    <p:sldId id="286" r:id="rId18"/>
    <p:sldId id="287" r:id="rId19"/>
    <p:sldId id="288" r:id="rId20"/>
    <p:sldId id="289" r:id="rId21"/>
    <p:sldId id="290" r:id="rId22"/>
    <p:sldId id="291" r:id="rId23"/>
    <p:sldId id="304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220" autoAdjust="0"/>
  </p:normalViewPr>
  <p:slideViewPr>
    <p:cSldViewPr>
      <p:cViewPr varScale="1">
        <p:scale>
          <a:sx n="65" d="100"/>
          <a:sy n="65" d="100"/>
        </p:scale>
        <p:origin x="195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05T03:29:40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0 1876 0 0,'0'5'921'0'0,"0"-3"-465"0"0,1-1 1 0 0,-1 0-1 0 0,0 0 1 0 0,0 1-1 0 0,0-1 0 0 0,0 0 1 0 0,0 0-1 0 0,0 0 0 0 0,0 1 1 0 0,-1-1-1 0 0,1 0 0 0 0,0 0 1 0 0,-1 0-1 0 0,1 1 0 0 0,-1-1 1 0 0,1 0-1 0 0,-1 0 0 0 0,0 0 1 0 0,1 0-1 0 0,-1 0 1 0 0,0 0-1 0 0,-1 1 0 0 0,0 0-95 0 0,0-1 0 0 0,1 0 0 0 0,-1 1-1 0 0,0-1 1 0 0,1 1 0 0 0,0-1 0 0 0,-1 1 0 0 0,1 0-1 0 0,-2 3 1 0 0,-10 10-4537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B5548-4144-4570-82C5-AE2DE0BE40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C10EA-85C1-4F6E-8639-76B85CAA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6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2DC3-7004-415F-83E1-98C9742A21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67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7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50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5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16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50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63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21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1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19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C10EA-85C1-4F6E-8639-76B85CAA871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3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90309" y="5264658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399"/>
                </a:moveTo>
                <a:lnTo>
                  <a:pt x="0" y="0"/>
                </a:lnTo>
              </a:path>
            </a:pathLst>
          </a:custGeom>
          <a:ln w="19050">
            <a:solidFill>
              <a:srgbClr val="1382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456742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3872" cy="51023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42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24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1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6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3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80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02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09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30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571500"/>
            <a:fld id="{00000000-1234-1234-1234-123412341234}" type="slidenum">
              <a:rPr lang="en" smtClean="0">
                <a:solidFill>
                  <a:srgbClr val="44546A"/>
                </a:solidFill>
              </a:rPr>
              <a:pPr defTabSz="571500"/>
              <a:t>‹#›</a:t>
            </a:fld>
            <a:endParaRPr lang="en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72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3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571500"/>
            <a:fld id="{00000000-1234-1234-1234-123412341234}" type="slidenum">
              <a:rPr lang="en" smtClean="0">
                <a:solidFill>
                  <a:srgbClr val="44546A"/>
                </a:solidFill>
              </a:rPr>
              <a:pPr defTabSz="571500"/>
              <a:t>‹#›</a:t>
            </a:fld>
            <a:endParaRPr lang="en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0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71500"/>
            <a:endParaRPr lang="en-US" sz="1125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71500"/>
            <a:fld id="{1D8BD707-D9CF-40AE-B4C6-C98DA3205C09}" type="datetimeFigureOut">
              <a:rPr lang="en-US" sz="1125" smtClean="0">
                <a:solidFill>
                  <a:prstClr val="black">
                    <a:tint val="75000"/>
                  </a:prstClr>
                </a:solidFill>
              </a:rPr>
              <a:pPr defTabSz="571500"/>
              <a:t>11/12/2025</a:t>
            </a:fld>
            <a:endParaRPr lang="en-US" sz="1125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28575" defTabSz="571500">
              <a:spcBef>
                <a:spcPts val="75"/>
              </a:spcBef>
            </a:pPr>
            <a:fld id="{81D60167-4931-47E6-BA6A-407CBD079E47}" type="slidenum">
              <a:rPr lang="en-US" smtClean="0"/>
              <a:pPr marL="28575" defTabSz="571500">
                <a:spcBef>
                  <a:spcPts val="75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06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64770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" y="990600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9525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4151" y="6432803"/>
            <a:ext cx="79375" cy="125095"/>
          </a:xfrm>
          <a:custGeom>
            <a:avLst/>
            <a:gdLst/>
            <a:ahLst/>
            <a:cxnLst/>
            <a:rect l="l" t="t" r="r" b="b"/>
            <a:pathLst>
              <a:path w="79375" h="125095">
                <a:moveTo>
                  <a:pt x="0" y="0"/>
                </a:moveTo>
                <a:lnTo>
                  <a:pt x="0" y="124968"/>
                </a:lnTo>
                <a:lnTo>
                  <a:pt x="79248" y="624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90473"/>
            <a:ext cx="72631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2068195"/>
            <a:ext cx="8099425" cy="2986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6292" y="6525795"/>
            <a:ext cx="243840" cy="20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03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ftr="0" dt="0"/>
  <p:txStyles>
    <p:titleStyle>
      <a:lvl1pPr algn="ctr" defTabSz="571500" rtl="0" eaLnBrk="1" latinLnBrk="0" hangingPunct="1">
        <a:spcBef>
          <a:spcPct val="0"/>
        </a:spcBef>
        <a:buNone/>
        <a:defRPr sz="2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5715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344" indent="-178594" algn="l" defTabSz="571500" rtl="0" eaLnBrk="1" latinLnBrk="0" hangingPunct="1">
        <a:spcBef>
          <a:spcPct val="20000"/>
        </a:spcBef>
        <a:buFont typeface="Arial" pitchFamily="34" charset="0"/>
        <a:buChar char="–"/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42875" algn="l" defTabSz="5715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00125" indent="-142875" algn="l" defTabSz="571500" rtl="0" eaLnBrk="1" latinLnBrk="0" hangingPunct="1">
        <a:spcBef>
          <a:spcPct val="20000"/>
        </a:spcBef>
        <a:buFont typeface="Arial" pitchFamily="34" charset="0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indent="-142875" algn="l" defTabSz="571500" rtl="0" eaLnBrk="1" latinLnBrk="0" hangingPunct="1">
        <a:spcBef>
          <a:spcPct val="20000"/>
        </a:spcBef>
        <a:buFont typeface="Arial" pitchFamily="34" charset="0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71625" indent="-142875" algn="l" defTabSz="5715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spcBef>
          <a:spcPct val="20000"/>
        </a:spcBef>
        <a:buFont typeface="Arial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131" Type="http://schemas.openxmlformats.org/officeDocument/2006/relationships/image" Target="../media/image51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962400" y="1816100"/>
            <a:ext cx="5181600" cy="8080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6195"/>
              </a:lnSpc>
            </a:pPr>
            <a:r>
              <a:rPr lang="en-MY" sz="52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1</a:t>
            </a:r>
            <a:endParaRPr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50229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43400" y="5105400"/>
            <a:ext cx="7315200" cy="81560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1400" b="1" dirty="0">
                <a:latin typeface="roboto"/>
              </a:rPr>
              <a:t>Dr. Zainab Malik</a:t>
            </a:r>
            <a:r>
              <a:rPr lang="en-US" sz="1400" dirty="0">
                <a:latin typeface="Calibri" panose="020F0502020204030204"/>
              </a:rPr>
              <a:t/>
            </a:r>
            <a:br>
              <a:rPr lang="en-US" sz="1400" dirty="0">
                <a:latin typeface="Calibri" panose="020F0502020204030204"/>
              </a:rPr>
            </a:br>
            <a:r>
              <a:rPr lang="en-US" sz="1100" dirty="0" err="1">
                <a:latin typeface="roboto"/>
              </a:rPr>
              <a:t>Pensyarah</a:t>
            </a:r>
            <a:r>
              <a:rPr lang="en-US" sz="1100" dirty="0">
                <a:latin typeface="roboto"/>
              </a:rPr>
              <a:t> </a:t>
            </a:r>
            <a:r>
              <a:rPr lang="en-US" sz="1100" dirty="0" err="1">
                <a:latin typeface="roboto"/>
              </a:rPr>
              <a:t>Kanan</a:t>
            </a:r>
            <a:r>
              <a:rPr lang="en-US" sz="1100" dirty="0">
                <a:latin typeface="roboto"/>
              </a:rPr>
              <a:t> | </a:t>
            </a:r>
            <a:r>
              <a:rPr lang="en-US" sz="1100" i="1" dirty="0">
                <a:latin typeface="roboto"/>
              </a:rPr>
              <a:t>Senior Lecturer</a:t>
            </a:r>
            <a:r>
              <a:rPr lang="en-US" sz="1100" dirty="0">
                <a:latin typeface="Calibri" panose="020F0502020204030204"/>
              </a:rPr>
              <a:t/>
            </a:r>
            <a:br>
              <a:rPr lang="en-US" sz="1100" dirty="0">
                <a:latin typeface="Calibri" panose="020F0502020204030204"/>
              </a:rPr>
            </a:br>
            <a:r>
              <a:rPr lang="en-US" sz="1100" dirty="0">
                <a:latin typeface="roboto"/>
              </a:rPr>
              <a:t> </a:t>
            </a:r>
            <a:r>
              <a:rPr lang="en-US" sz="1100" i="1" dirty="0">
                <a:latin typeface="roboto"/>
              </a:rPr>
              <a:t>Department of Artificial Intelligence</a:t>
            </a:r>
            <a:r>
              <a:rPr lang="en-US" sz="1100" dirty="0">
                <a:latin typeface="Calibri" panose="020F0502020204030204"/>
              </a:rPr>
              <a:t/>
            </a:r>
            <a:br>
              <a:rPr lang="en-US" sz="1100" dirty="0">
                <a:latin typeface="Calibri" panose="020F0502020204030204"/>
              </a:rPr>
            </a:br>
            <a:r>
              <a:rPr lang="en-US" sz="1100" i="1" dirty="0" smtClean="0">
                <a:latin typeface="roboto"/>
              </a:rPr>
              <a:t>Faculty </a:t>
            </a:r>
            <a:r>
              <a:rPr lang="en-US" sz="1100" i="1" dirty="0">
                <a:latin typeface="roboto"/>
              </a:rPr>
              <a:t>of Computer Science and Information Technology</a:t>
            </a:r>
            <a:endParaRPr lang="en-US" sz="140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7369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1318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210"/>
            <a:ext cx="3169920" cy="5013552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tabLst>
                <a:tab pos="286385" algn="l"/>
              </a:tabLst>
            </a:pPr>
            <a:r>
              <a:rPr lang="en-MY" sz="2000" spc="180" dirty="0">
                <a:latin typeface="Trebuchet MS"/>
                <a:cs typeface="Trebuchet MS"/>
              </a:rPr>
              <a:t>Part 1</a:t>
            </a: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180" dirty="0">
                <a:latin typeface="Trebuchet MS"/>
                <a:cs typeface="Trebuchet MS"/>
              </a:rPr>
              <a:t>W</a:t>
            </a:r>
            <a:r>
              <a:rPr sz="2000" spc="40" dirty="0">
                <a:latin typeface="Trebuchet MS"/>
                <a:cs typeface="Trebuchet MS"/>
              </a:rPr>
              <a:t>h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ep</a:t>
            </a:r>
            <a:r>
              <a:rPr sz="2000" spc="-110" dirty="0">
                <a:latin typeface="Trebuchet MS"/>
                <a:cs typeface="Trebuchet MS"/>
              </a:rPr>
              <a:t>r</a:t>
            </a:r>
            <a:r>
              <a:rPr sz="2000" spc="-45" dirty="0">
                <a:latin typeface="Trebuchet MS"/>
                <a:cs typeface="Trebuchet MS"/>
              </a:rPr>
              <a:t>o</a:t>
            </a:r>
            <a:r>
              <a:rPr sz="2000" spc="-50" dirty="0">
                <a:latin typeface="Trebuchet MS"/>
                <a:cs typeface="Trebuchet MS"/>
              </a:rPr>
              <a:t>c</a:t>
            </a:r>
            <a:r>
              <a:rPr sz="2000" spc="-70" dirty="0">
                <a:latin typeface="Trebuchet MS"/>
                <a:cs typeface="Trebuchet MS"/>
              </a:rPr>
              <a:t>ess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da</a:t>
            </a:r>
            <a:r>
              <a:rPr sz="2000" spc="-130" dirty="0">
                <a:latin typeface="Trebuchet MS"/>
                <a:cs typeface="Trebuchet MS"/>
              </a:rPr>
              <a:t>ta?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clean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ng</a:t>
            </a:r>
            <a:endParaRPr lang="en-MY" sz="2000" spc="-120" dirty="0">
              <a:latin typeface="Trebuchet MS"/>
              <a:cs typeface="Trebuchet MS"/>
            </a:endParaRPr>
          </a:p>
          <a:p>
            <a:pPr marL="742950" lvl="1" indent="-273685"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Incomplete</a:t>
            </a:r>
          </a:p>
          <a:p>
            <a:pPr marL="742950" lvl="1" indent="-273685"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Noise</a:t>
            </a:r>
          </a:p>
          <a:p>
            <a:pPr marL="742950" lvl="1" indent="-273685"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Inconsistent</a:t>
            </a: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endParaRPr lang="en-MY" sz="2000" spc="-12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endParaRPr lang="en-MY" sz="2000" spc="-120" dirty="0">
              <a:latin typeface="Trebuchet MS"/>
              <a:cs typeface="Trebuchet MS"/>
            </a:endParaRPr>
          </a:p>
          <a:p>
            <a:pPr marL="1206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tabLst>
                <a:tab pos="286385" algn="l"/>
              </a:tabLst>
            </a:pPr>
            <a:r>
              <a:rPr lang="en-MY" sz="2000" spc="-120" dirty="0">
                <a:latin typeface="Trebuchet MS"/>
                <a:cs typeface="Trebuchet MS"/>
              </a:rPr>
              <a:t>Part 2 </a:t>
            </a:r>
            <a:r>
              <a:rPr lang="en-MY" sz="2000" spc="-120" dirty="0" smtClean="0">
                <a:latin typeface="Trebuchet MS"/>
                <a:cs typeface="Trebuchet MS"/>
              </a:rPr>
              <a:t>(After Mid Break)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tegra</a:t>
            </a:r>
            <a:r>
              <a:rPr sz="2000" spc="-120" dirty="0">
                <a:latin typeface="Trebuchet MS"/>
                <a:cs typeface="Trebuchet MS"/>
              </a:rPr>
              <a:t>t</a:t>
            </a:r>
            <a:r>
              <a:rPr sz="2000" spc="-70" dirty="0">
                <a:latin typeface="Trebuchet MS"/>
                <a:cs typeface="Trebuchet MS"/>
              </a:rPr>
              <a:t>ion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transf</a:t>
            </a:r>
            <a:r>
              <a:rPr sz="2000" spc="-85" dirty="0">
                <a:latin typeface="Trebuchet MS"/>
                <a:cs typeface="Trebuchet MS"/>
              </a:rPr>
              <a:t>orma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educt</a:t>
            </a:r>
            <a:r>
              <a:rPr sz="2000" spc="-70" dirty="0">
                <a:latin typeface="Trebuchet MS"/>
                <a:cs typeface="Trebuchet MS"/>
              </a:rPr>
              <a:t>ion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90" dirty="0">
                <a:latin typeface="Trebuchet MS"/>
                <a:cs typeface="Trebuchet MS"/>
              </a:rPr>
              <a:t>Summary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8A484-B68D-8912-DE60-827579655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14" y="279154"/>
            <a:ext cx="8193771" cy="629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2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74F3D3-D885-F2D0-9108-E52DDD2AE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39499"/>
            <a:ext cx="5181330" cy="59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4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40" y="490473"/>
            <a:ext cx="7263130" cy="430887"/>
          </a:xfrm>
        </p:spPr>
        <p:txBody>
          <a:bodyPr/>
          <a:lstStyle/>
          <a:p>
            <a:r>
              <a:rPr lang="en-US" dirty="0" smtClean="0"/>
              <a:t>Model-centric vs. Data-centric approach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371600"/>
            <a:ext cx="8099425" cy="6340197"/>
          </a:xfrm>
        </p:spPr>
        <p:txBody>
          <a:bodyPr/>
          <a:lstStyle/>
          <a:p>
            <a:r>
              <a:rPr lang="en-US" dirty="0"/>
              <a:t>Model-Centric </a:t>
            </a:r>
            <a:r>
              <a:rPr lang="en-US" dirty="0" smtClean="0"/>
              <a:t>Approach (Path-A)</a:t>
            </a:r>
          </a:p>
          <a:p>
            <a:endParaRPr lang="en-US" dirty="0"/>
          </a:p>
          <a:p>
            <a:r>
              <a:rPr lang="en-US" kern="1200" dirty="0" smtClean="0">
                <a:solidFill>
                  <a:schemeClr val="tx1"/>
                </a:solidFill>
              </a:rPr>
              <a:t>If the </a:t>
            </a:r>
            <a:r>
              <a:rPr lang="en-US" kern="1200" dirty="0">
                <a:solidFill>
                  <a:schemeClr val="tx1"/>
                </a:solidFill>
              </a:rPr>
              <a:t>model's predictions are </a:t>
            </a:r>
            <a:r>
              <a:rPr lang="en-US" kern="1200" dirty="0" smtClean="0">
                <a:solidFill>
                  <a:schemeClr val="tx1"/>
                </a:solidFill>
              </a:rPr>
              <a:t>inaccurate, </a:t>
            </a:r>
            <a:r>
              <a:rPr lang="en-US" kern="1200" dirty="0">
                <a:solidFill>
                  <a:schemeClr val="tx1"/>
                </a:solidFill>
              </a:rPr>
              <a:t> </a:t>
            </a:r>
            <a:r>
              <a:rPr lang="en-US" kern="1200" dirty="0" smtClean="0">
                <a:solidFill>
                  <a:schemeClr val="tx1"/>
                </a:solidFill>
              </a:rPr>
              <a:t>the </a:t>
            </a:r>
            <a:r>
              <a:rPr lang="en-US" kern="1200" dirty="0">
                <a:solidFill>
                  <a:schemeClr val="tx1"/>
                </a:solidFill>
              </a:rPr>
              <a:t>team focuses on the algorithm. </a:t>
            </a:r>
          </a:p>
          <a:p>
            <a:pPr lvl="1"/>
            <a:r>
              <a:rPr lang="en-US" sz="1600" b="1" kern="1200" dirty="0" smtClean="0">
                <a:solidFill>
                  <a:schemeClr val="tx1"/>
                </a:solidFill>
              </a:rPr>
              <a:t>Tune </a:t>
            </a:r>
            <a:r>
              <a:rPr lang="en-US" sz="1600" b="1" kern="1200" dirty="0" err="1">
                <a:solidFill>
                  <a:schemeClr val="tx1"/>
                </a:solidFill>
              </a:rPr>
              <a:t>Hyperparameters</a:t>
            </a:r>
            <a:r>
              <a:rPr lang="en-US" sz="1600" b="1" kern="1200" dirty="0">
                <a:solidFill>
                  <a:schemeClr val="tx1"/>
                </a:solidFill>
              </a:rPr>
              <a:t>:</a:t>
            </a:r>
            <a:r>
              <a:rPr lang="en-US" sz="1600" kern="1200" dirty="0">
                <a:solidFill>
                  <a:schemeClr val="tx1"/>
                </a:solidFill>
              </a:rPr>
              <a:t> Endlessly adjust the "knobs" of the model (e.g., learning rate, number of layers).</a:t>
            </a:r>
          </a:p>
          <a:p>
            <a:pPr lvl="1"/>
            <a:r>
              <a:rPr lang="en-US" sz="1600" b="1" kern="1200" dirty="0">
                <a:solidFill>
                  <a:schemeClr val="tx1"/>
                </a:solidFill>
              </a:rPr>
              <a:t>Try New Architectures:</a:t>
            </a:r>
            <a:r>
              <a:rPr lang="en-US" sz="1600" kern="1200" dirty="0">
                <a:solidFill>
                  <a:schemeClr val="tx1"/>
                </a:solidFill>
              </a:rPr>
              <a:t> Switch from a Decision Tree to a Random Forest, or to a complex Deep Neural Network.</a:t>
            </a:r>
          </a:p>
          <a:p>
            <a:pPr lvl="1"/>
            <a:r>
              <a:rPr lang="en-US" sz="1600" b="1" kern="1200" dirty="0">
                <a:solidFill>
                  <a:schemeClr val="tx1"/>
                </a:solidFill>
              </a:rPr>
              <a:t>"Stir the Pile":</a:t>
            </a:r>
            <a:r>
              <a:rPr lang="en-US" sz="1600" kern="1200" dirty="0">
                <a:solidFill>
                  <a:schemeClr val="tx1"/>
                </a:solidFill>
              </a:rPr>
              <a:t> Experiment with different mathematical techniques to squeeze out more performance from the </a:t>
            </a:r>
            <a:r>
              <a:rPr lang="en-US" sz="1600" i="1" kern="1200" dirty="0">
                <a:solidFill>
                  <a:schemeClr val="tx1"/>
                </a:solidFill>
              </a:rPr>
              <a:t>existing</a:t>
            </a:r>
            <a:r>
              <a:rPr lang="en-US" sz="1600" kern="1200" dirty="0">
                <a:solidFill>
                  <a:schemeClr val="tx1"/>
                </a:solidFill>
              </a:rPr>
              <a:t> dataset</a:t>
            </a:r>
            <a:r>
              <a:rPr lang="en-US" sz="1600" kern="1200" dirty="0" smtClean="0">
                <a:solidFill>
                  <a:schemeClr val="tx1"/>
                </a:solidFill>
              </a:rPr>
              <a:t>. </a:t>
            </a:r>
          </a:p>
          <a:p>
            <a:pPr lvl="1"/>
            <a:endParaRPr lang="en-US" sz="1200" kern="1200" dirty="0">
              <a:solidFill>
                <a:schemeClr val="tx1"/>
              </a:solidFill>
            </a:endParaRPr>
          </a:p>
          <a:p>
            <a:r>
              <a:rPr lang="en-US" dirty="0"/>
              <a:t>Data-Centric </a:t>
            </a:r>
            <a:r>
              <a:rPr lang="en-US" dirty="0" smtClean="0"/>
              <a:t>Approach (Path-B)</a:t>
            </a:r>
          </a:p>
          <a:p>
            <a:r>
              <a:rPr lang="en-US" kern="1200" dirty="0">
                <a:solidFill>
                  <a:schemeClr val="tx1"/>
                </a:solidFill>
              </a:rPr>
              <a:t>If the model's predictions are inaccurate,  the team </a:t>
            </a:r>
            <a:r>
              <a:rPr lang="en-US" kern="1200" dirty="0" smtClean="0">
                <a:solidFill>
                  <a:schemeClr val="tx1"/>
                </a:solidFill>
              </a:rPr>
              <a:t>goes back to </a:t>
            </a:r>
            <a:r>
              <a:rPr lang="en-US" kern="1200" dirty="0">
                <a:solidFill>
                  <a:schemeClr val="tx1"/>
                </a:solidFill>
              </a:rPr>
              <a:t>the </a:t>
            </a:r>
            <a:r>
              <a:rPr lang="en-US" kern="1200" dirty="0" smtClean="0">
                <a:solidFill>
                  <a:schemeClr val="tx1"/>
                </a:solidFill>
              </a:rPr>
              <a:t>data.</a:t>
            </a:r>
            <a:endParaRPr lang="en-US" sz="2800" kern="1200" dirty="0">
              <a:solidFill>
                <a:schemeClr val="tx1"/>
              </a:solidFill>
            </a:endParaRPr>
          </a:p>
          <a:p>
            <a:pPr lvl="1"/>
            <a:r>
              <a:rPr lang="en-US" sz="1600" b="1" kern="1200" dirty="0">
                <a:solidFill>
                  <a:schemeClr val="tx1"/>
                </a:solidFill>
              </a:rPr>
              <a:t>Clean:</a:t>
            </a:r>
            <a:r>
              <a:rPr lang="en-US" sz="1600" kern="1200" dirty="0">
                <a:solidFill>
                  <a:schemeClr val="tx1"/>
                </a:solidFill>
              </a:rPr>
              <a:t> Fix typos, handle missing values.</a:t>
            </a:r>
          </a:p>
          <a:p>
            <a:pPr lvl="1"/>
            <a:r>
              <a:rPr lang="en-US" sz="1600" b="1" kern="1200" dirty="0">
                <a:solidFill>
                  <a:schemeClr val="tx1"/>
                </a:solidFill>
              </a:rPr>
              <a:t>Label Consistently:</a:t>
            </a:r>
            <a:r>
              <a:rPr lang="en-US" sz="1600" kern="1200" dirty="0">
                <a:solidFill>
                  <a:schemeClr val="tx1"/>
                </a:solidFill>
              </a:rPr>
              <a:t> Ensure that "</a:t>
            </a:r>
            <a:r>
              <a:rPr lang="en-US" sz="1600" kern="1200" dirty="0" err="1">
                <a:solidFill>
                  <a:schemeClr val="tx1"/>
                </a:solidFill>
              </a:rPr>
              <a:t>Cofe</a:t>
            </a:r>
            <a:r>
              <a:rPr lang="en-US" sz="1600" kern="1200" dirty="0">
                <a:solidFill>
                  <a:schemeClr val="tx1"/>
                </a:solidFill>
              </a:rPr>
              <a:t>" and "Coffee" are the same thing.</a:t>
            </a:r>
          </a:p>
          <a:p>
            <a:pPr lvl="1"/>
            <a:r>
              <a:rPr lang="en-US" sz="1600" b="1" kern="1200" dirty="0">
                <a:solidFill>
                  <a:schemeClr val="tx1"/>
                </a:solidFill>
              </a:rPr>
              <a:t>Augment:</a:t>
            </a:r>
            <a:r>
              <a:rPr lang="en-US" sz="1600" kern="1200" dirty="0">
                <a:solidFill>
                  <a:schemeClr val="tx1"/>
                </a:solidFill>
              </a:rPr>
              <a:t> Collect more data for under-represented cases.</a:t>
            </a:r>
          </a:p>
          <a:p>
            <a:pPr lvl="1"/>
            <a:r>
              <a:rPr lang="en-US" sz="1600" b="1" kern="1200" dirty="0">
                <a:solidFill>
                  <a:schemeClr val="tx1"/>
                </a:solidFill>
              </a:rPr>
              <a:t>Engineer Features:</a:t>
            </a:r>
            <a:r>
              <a:rPr lang="en-US" sz="1600" kern="1200" dirty="0">
                <a:solidFill>
                  <a:schemeClr val="tx1"/>
                </a:solidFill>
              </a:rPr>
              <a:t> Create new, more informative data columns from existing ones.</a:t>
            </a:r>
          </a:p>
          <a:p>
            <a:endParaRPr lang="en-US" kern="1200" dirty="0" smtClean="0">
              <a:solidFill>
                <a:schemeClr val="tx1"/>
              </a:solidFill>
            </a:endParaRPr>
          </a:p>
          <a:p>
            <a:r>
              <a:rPr lang="en-US" kern="1200" dirty="0">
                <a:solidFill>
                  <a:schemeClr val="tx1"/>
                </a:solidFill>
              </a:rPr>
              <a:t>	</a:t>
            </a:r>
            <a:endParaRPr lang="en-US" kern="1200" dirty="0" smtClean="0">
              <a:solidFill>
                <a:schemeClr val="tx1"/>
              </a:solidFill>
            </a:endParaRPr>
          </a:p>
          <a:p>
            <a:r>
              <a:rPr lang="en-US" kern="1200" dirty="0">
                <a:solidFill>
                  <a:schemeClr val="tx1"/>
                </a:solidFill>
              </a:rPr>
              <a:t>	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67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3854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5" dirty="0"/>
              <a:t>Why</a:t>
            </a:r>
            <a:r>
              <a:rPr spc="250" dirty="0"/>
              <a:t> </a:t>
            </a:r>
            <a:r>
              <a:rPr spc="140" dirty="0"/>
              <a:t>preprocess</a:t>
            </a:r>
            <a:r>
              <a:rPr spc="260" dirty="0"/>
              <a:t> </a:t>
            </a:r>
            <a:r>
              <a:rPr spc="220" dirty="0"/>
              <a:t>data?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69915" y="1478248"/>
            <a:ext cx="2123440" cy="1285240"/>
            <a:chOff x="1869915" y="1478248"/>
            <a:chExt cx="2123440" cy="12852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9915" y="1478248"/>
              <a:ext cx="2122996" cy="12847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1783" y="1808975"/>
              <a:ext cx="1697736" cy="7147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4999" y="1487424"/>
              <a:ext cx="2057400" cy="1219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04999" y="1487424"/>
              <a:ext cx="2057400" cy="1219200"/>
            </a:xfrm>
            <a:custGeom>
              <a:avLst/>
              <a:gdLst/>
              <a:ahLst/>
              <a:cxnLst/>
              <a:rect l="l" t="t" r="r" b="b"/>
              <a:pathLst>
                <a:path w="2057400" h="1219200">
                  <a:moveTo>
                    <a:pt x="0" y="609600"/>
                  </a:moveTo>
                  <a:lnTo>
                    <a:pt x="6919" y="538506"/>
                  </a:lnTo>
                  <a:lnTo>
                    <a:pt x="27165" y="469822"/>
                  </a:lnTo>
                  <a:lnTo>
                    <a:pt x="59965" y="404005"/>
                  </a:lnTo>
                  <a:lnTo>
                    <a:pt x="104547" y="341511"/>
                  </a:lnTo>
                  <a:lnTo>
                    <a:pt x="131015" y="311653"/>
                  </a:lnTo>
                  <a:lnTo>
                    <a:pt x="160140" y="282798"/>
                  </a:lnTo>
                  <a:lnTo>
                    <a:pt x="191825" y="255003"/>
                  </a:lnTo>
                  <a:lnTo>
                    <a:pt x="225974" y="228324"/>
                  </a:lnTo>
                  <a:lnTo>
                    <a:pt x="262489" y="202819"/>
                  </a:lnTo>
                  <a:lnTo>
                    <a:pt x="301275" y="178546"/>
                  </a:lnTo>
                  <a:lnTo>
                    <a:pt x="342236" y="155560"/>
                  </a:lnTo>
                  <a:lnTo>
                    <a:pt x="385274" y="133920"/>
                  </a:lnTo>
                  <a:lnTo>
                    <a:pt x="430293" y="113683"/>
                  </a:lnTo>
                  <a:lnTo>
                    <a:pt x="477198" y="94906"/>
                  </a:lnTo>
                  <a:lnTo>
                    <a:pt x="525891" y="77645"/>
                  </a:lnTo>
                  <a:lnTo>
                    <a:pt x="576276" y="61959"/>
                  </a:lnTo>
                  <a:lnTo>
                    <a:pt x="628257" y="47904"/>
                  </a:lnTo>
                  <a:lnTo>
                    <a:pt x="681737" y="35538"/>
                  </a:lnTo>
                  <a:lnTo>
                    <a:pt x="736619" y="24917"/>
                  </a:lnTo>
                  <a:lnTo>
                    <a:pt x="792808" y="16099"/>
                  </a:lnTo>
                  <a:lnTo>
                    <a:pt x="850207" y="9141"/>
                  </a:lnTo>
                  <a:lnTo>
                    <a:pt x="908720" y="4101"/>
                  </a:lnTo>
                  <a:lnTo>
                    <a:pt x="968249" y="1034"/>
                  </a:lnTo>
                  <a:lnTo>
                    <a:pt x="1028700" y="0"/>
                  </a:lnTo>
                  <a:lnTo>
                    <a:pt x="1089150" y="1034"/>
                  </a:lnTo>
                  <a:lnTo>
                    <a:pt x="1148679" y="4101"/>
                  </a:lnTo>
                  <a:lnTo>
                    <a:pt x="1207192" y="9141"/>
                  </a:lnTo>
                  <a:lnTo>
                    <a:pt x="1264591" y="16099"/>
                  </a:lnTo>
                  <a:lnTo>
                    <a:pt x="1320780" y="24917"/>
                  </a:lnTo>
                  <a:lnTo>
                    <a:pt x="1375662" y="35538"/>
                  </a:lnTo>
                  <a:lnTo>
                    <a:pt x="1429142" y="47904"/>
                  </a:lnTo>
                  <a:lnTo>
                    <a:pt x="1481123" y="61959"/>
                  </a:lnTo>
                  <a:lnTo>
                    <a:pt x="1531508" y="77645"/>
                  </a:lnTo>
                  <a:lnTo>
                    <a:pt x="1580201" y="94906"/>
                  </a:lnTo>
                  <a:lnTo>
                    <a:pt x="1627106" y="113683"/>
                  </a:lnTo>
                  <a:lnTo>
                    <a:pt x="1672125" y="133920"/>
                  </a:lnTo>
                  <a:lnTo>
                    <a:pt x="1715163" y="155560"/>
                  </a:lnTo>
                  <a:lnTo>
                    <a:pt x="1756124" y="178546"/>
                  </a:lnTo>
                  <a:lnTo>
                    <a:pt x="1794910" y="202819"/>
                  </a:lnTo>
                  <a:lnTo>
                    <a:pt x="1831425" y="228324"/>
                  </a:lnTo>
                  <a:lnTo>
                    <a:pt x="1865574" y="255003"/>
                  </a:lnTo>
                  <a:lnTo>
                    <a:pt x="1897259" y="282798"/>
                  </a:lnTo>
                  <a:lnTo>
                    <a:pt x="1926384" y="311653"/>
                  </a:lnTo>
                  <a:lnTo>
                    <a:pt x="1952852" y="341511"/>
                  </a:lnTo>
                  <a:lnTo>
                    <a:pt x="1976568" y="372314"/>
                  </a:lnTo>
                  <a:lnTo>
                    <a:pt x="2015355" y="436527"/>
                  </a:lnTo>
                  <a:lnTo>
                    <a:pt x="2041974" y="503835"/>
                  </a:lnTo>
                  <a:lnTo>
                    <a:pt x="2055653" y="573780"/>
                  </a:lnTo>
                  <a:lnTo>
                    <a:pt x="2057400" y="609600"/>
                  </a:lnTo>
                  <a:lnTo>
                    <a:pt x="2055653" y="645419"/>
                  </a:lnTo>
                  <a:lnTo>
                    <a:pt x="2041974" y="715364"/>
                  </a:lnTo>
                  <a:lnTo>
                    <a:pt x="2015355" y="782672"/>
                  </a:lnTo>
                  <a:lnTo>
                    <a:pt x="1976568" y="846885"/>
                  </a:lnTo>
                  <a:lnTo>
                    <a:pt x="1952852" y="877688"/>
                  </a:lnTo>
                  <a:lnTo>
                    <a:pt x="1926384" y="907546"/>
                  </a:lnTo>
                  <a:lnTo>
                    <a:pt x="1897259" y="936401"/>
                  </a:lnTo>
                  <a:lnTo>
                    <a:pt x="1865574" y="964196"/>
                  </a:lnTo>
                  <a:lnTo>
                    <a:pt x="1831425" y="990875"/>
                  </a:lnTo>
                  <a:lnTo>
                    <a:pt x="1794910" y="1016380"/>
                  </a:lnTo>
                  <a:lnTo>
                    <a:pt x="1756124" y="1040653"/>
                  </a:lnTo>
                  <a:lnTo>
                    <a:pt x="1715163" y="1063639"/>
                  </a:lnTo>
                  <a:lnTo>
                    <a:pt x="1672125" y="1085279"/>
                  </a:lnTo>
                  <a:lnTo>
                    <a:pt x="1627106" y="1105516"/>
                  </a:lnTo>
                  <a:lnTo>
                    <a:pt x="1580201" y="1124293"/>
                  </a:lnTo>
                  <a:lnTo>
                    <a:pt x="1531508" y="1141554"/>
                  </a:lnTo>
                  <a:lnTo>
                    <a:pt x="1481123" y="1157240"/>
                  </a:lnTo>
                  <a:lnTo>
                    <a:pt x="1429142" y="1171295"/>
                  </a:lnTo>
                  <a:lnTo>
                    <a:pt x="1375662" y="1183661"/>
                  </a:lnTo>
                  <a:lnTo>
                    <a:pt x="1320780" y="1194282"/>
                  </a:lnTo>
                  <a:lnTo>
                    <a:pt x="1264591" y="1203100"/>
                  </a:lnTo>
                  <a:lnTo>
                    <a:pt x="1207192" y="1210058"/>
                  </a:lnTo>
                  <a:lnTo>
                    <a:pt x="1148679" y="1215098"/>
                  </a:lnTo>
                  <a:lnTo>
                    <a:pt x="1089150" y="1218165"/>
                  </a:lnTo>
                  <a:lnTo>
                    <a:pt x="1028700" y="1219200"/>
                  </a:lnTo>
                  <a:lnTo>
                    <a:pt x="968249" y="1218165"/>
                  </a:lnTo>
                  <a:lnTo>
                    <a:pt x="908720" y="1215098"/>
                  </a:lnTo>
                  <a:lnTo>
                    <a:pt x="850207" y="1210058"/>
                  </a:lnTo>
                  <a:lnTo>
                    <a:pt x="792808" y="1203100"/>
                  </a:lnTo>
                  <a:lnTo>
                    <a:pt x="736619" y="1194282"/>
                  </a:lnTo>
                  <a:lnTo>
                    <a:pt x="681737" y="1183661"/>
                  </a:lnTo>
                  <a:lnTo>
                    <a:pt x="628257" y="1171295"/>
                  </a:lnTo>
                  <a:lnTo>
                    <a:pt x="576276" y="1157240"/>
                  </a:lnTo>
                  <a:lnTo>
                    <a:pt x="525891" y="1141554"/>
                  </a:lnTo>
                  <a:lnTo>
                    <a:pt x="477198" y="1124293"/>
                  </a:lnTo>
                  <a:lnTo>
                    <a:pt x="430293" y="1105516"/>
                  </a:lnTo>
                  <a:lnTo>
                    <a:pt x="385274" y="1085279"/>
                  </a:lnTo>
                  <a:lnTo>
                    <a:pt x="342236" y="1063639"/>
                  </a:lnTo>
                  <a:lnTo>
                    <a:pt x="301275" y="1040653"/>
                  </a:lnTo>
                  <a:lnTo>
                    <a:pt x="262489" y="1016380"/>
                  </a:lnTo>
                  <a:lnTo>
                    <a:pt x="225974" y="990875"/>
                  </a:lnTo>
                  <a:lnTo>
                    <a:pt x="191825" y="964196"/>
                  </a:lnTo>
                  <a:lnTo>
                    <a:pt x="160140" y="936401"/>
                  </a:lnTo>
                  <a:lnTo>
                    <a:pt x="131015" y="907546"/>
                  </a:lnTo>
                  <a:lnTo>
                    <a:pt x="104547" y="877688"/>
                  </a:lnTo>
                  <a:lnTo>
                    <a:pt x="80831" y="846885"/>
                  </a:lnTo>
                  <a:lnTo>
                    <a:pt x="42044" y="782672"/>
                  </a:lnTo>
                  <a:lnTo>
                    <a:pt x="15425" y="715364"/>
                  </a:lnTo>
                  <a:lnTo>
                    <a:pt x="1746" y="645419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291588" y="1889886"/>
            <a:ext cx="1285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rebuchet MS"/>
                <a:cs typeface="Trebuchet MS"/>
              </a:rPr>
              <a:t>Dirty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8828" y="5254244"/>
            <a:ext cx="3785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622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48285" algn="l"/>
                <a:tab pos="248920" algn="l"/>
              </a:tabLst>
            </a:pPr>
            <a:r>
              <a:rPr sz="1800" spc="-5" dirty="0">
                <a:latin typeface="Tahoma"/>
                <a:cs typeface="Tahoma"/>
              </a:rPr>
              <a:t>containing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noise, errors,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outliers</a:t>
            </a:r>
            <a:endParaRPr sz="1800" dirty="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buFont typeface="Microsoft Sans Serif"/>
              <a:buChar char="•"/>
              <a:tabLst>
                <a:tab pos="248285" algn="l"/>
                <a:tab pos="248920" algn="l"/>
              </a:tabLst>
            </a:pPr>
            <a:r>
              <a:rPr sz="1800" spc="-30" dirty="0">
                <a:solidFill>
                  <a:srgbClr val="0033CC"/>
                </a:solidFill>
                <a:latin typeface="Tahoma"/>
                <a:cs typeface="Tahoma"/>
              </a:rPr>
              <a:t>e.g.,</a:t>
            </a:r>
            <a:r>
              <a:rPr sz="1800" spc="1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Salary=“−10”</a:t>
            </a:r>
            <a:r>
              <a:rPr sz="1800" spc="1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(an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 error)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22776" y="1519425"/>
            <a:ext cx="2752725" cy="3647440"/>
            <a:chOff x="3922776" y="1519425"/>
            <a:chExt cx="2752725" cy="364744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8380" y="1519425"/>
              <a:ext cx="1818147" cy="9037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6216" y="1703831"/>
              <a:ext cx="1524000" cy="6080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63440" y="1528571"/>
              <a:ext cx="1752600" cy="8382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63440" y="1528571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01" y="359794"/>
                  </a:lnTo>
                  <a:lnTo>
                    <a:pt x="34015" y="303049"/>
                  </a:lnTo>
                  <a:lnTo>
                    <a:pt x="74755" y="249430"/>
                  </a:lnTo>
                  <a:lnTo>
                    <a:pt x="129736" y="199505"/>
                  </a:lnTo>
                  <a:lnTo>
                    <a:pt x="162195" y="176105"/>
                  </a:lnTo>
                  <a:lnTo>
                    <a:pt x="197771" y="153841"/>
                  </a:lnTo>
                  <a:lnTo>
                    <a:pt x="236313" y="132783"/>
                  </a:lnTo>
                  <a:lnTo>
                    <a:pt x="277674" y="113003"/>
                  </a:lnTo>
                  <a:lnTo>
                    <a:pt x="321706" y="94572"/>
                  </a:lnTo>
                  <a:lnTo>
                    <a:pt x="368261" y="77559"/>
                  </a:lnTo>
                  <a:lnTo>
                    <a:pt x="417189" y="62037"/>
                  </a:lnTo>
                  <a:lnTo>
                    <a:pt x="468344" y="48075"/>
                  </a:lnTo>
                  <a:lnTo>
                    <a:pt x="521576" y="35745"/>
                  </a:lnTo>
                  <a:lnTo>
                    <a:pt x="576738" y="25118"/>
                  </a:lnTo>
                  <a:lnTo>
                    <a:pt x="633681" y="16264"/>
                  </a:lnTo>
                  <a:lnTo>
                    <a:pt x="692256" y="9255"/>
                  </a:lnTo>
                  <a:lnTo>
                    <a:pt x="752317" y="4160"/>
                  </a:lnTo>
                  <a:lnTo>
                    <a:pt x="813714" y="1051"/>
                  </a:lnTo>
                  <a:lnTo>
                    <a:pt x="876300" y="0"/>
                  </a:lnTo>
                  <a:lnTo>
                    <a:pt x="938885" y="1051"/>
                  </a:lnTo>
                  <a:lnTo>
                    <a:pt x="1000282" y="4160"/>
                  </a:lnTo>
                  <a:lnTo>
                    <a:pt x="1060343" y="9255"/>
                  </a:lnTo>
                  <a:lnTo>
                    <a:pt x="1118918" y="16264"/>
                  </a:lnTo>
                  <a:lnTo>
                    <a:pt x="1175861" y="25118"/>
                  </a:lnTo>
                  <a:lnTo>
                    <a:pt x="1231023" y="35745"/>
                  </a:lnTo>
                  <a:lnTo>
                    <a:pt x="1284255" y="48075"/>
                  </a:lnTo>
                  <a:lnTo>
                    <a:pt x="1335410" y="62037"/>
                  </a:lnTo>
                  <a:lnTo>
                    <a:pt x="1384338" y="77559"/>
                  </a:lnTo>
                  <a:lnTo>
                    <a:pt x="1430893" y="94572"/>
                  </a:lnTo>
                  <a:lnTo>
                    <a:pt x="1474925" y="113003"/>
                  </a:lnTo>
                  <a:lnTo>
                    <a:pt x="1516286" y="132783"/>
                  </a:lnTo>
                  <a:lnTo>
                    <a:pt x="1554828" y="153841"/>
                  </a:lnTo>
                  <a:lnTo>
                    <a:pt x="1590404" y="176105"/>
                  </a:lnTo>
                  <a:lnTo>
                    <a:pt x="1622863" y="199505"/>
                  </a:lnTo>
                  <a:lnTo>
                    <a:pt x="1677844" y="249430"/>
                  </a:lnTo>
                  <a:lnTo>
                    <a:pt x="1718584" y="303049"/>
                  </a:lnTo>
                  <a:lnTo>
                    <a:pt x="1743898" y="359794"/>
                  </a:lnTo>
                  <a:lnTo>
                    <a:pt x="1752600" y="419100"/>
                  </a:lnTo>
                  <a:lnTo>
                    <a:pt x="1750399" y="449037"/>
                  </a:lnTo>
                  <a:lnTo>
                    <a:pt x="1733244" y="507133"/>
                  </a:lnTo>
                  <a:lnTo>
                    <a:pt x="1700068" y="562386"/>
                  </a:lnTo>
                  <a:lnTo>
                    <a:pt x="1652060" y="614228"/>
                  </a:lnTo>
                  <a:lnTo>
                    <a:pt x="1590404" y="662094"/>
                  </a:lnTo>
                  <a:lnTo>
                    <a:pt x="1554828" y="684358"/>
                  </a:lnTo>
                  <a:lnTo>
                    <a:pt x="1516286" y="705416"/>
                  </a:lnTo>
                  <a:lnTo>
                    <a:pt x="1474925" y="725196"/>
                  </a:lnTo>
                  <a:lnTo>
                    <a:pt x="1430893" y="743627"/>
                  </a:lnTo>
                  <a:lnTo>
                    <a:pt x="1384338" y="760640"/>
                  </a:lnTo>
                  <a:lnTo>
                    <a:pt x="1335410" y="776162"/>
                  </a:lnTo>
                  <a:lnTo>
                    <a:pt x="1284255" y="790124"/>
                  </a:lnTo>
                  <a:lnTo>
                    <a:pt x="1231023" y="802454"/>
                  </a:lnTo>
                  <a:lnTo>
                    <a:pt x="1175861" y="813081"/>
                  </a:lnTo>
                  <a:lnTo>
                    <a:pt x="1118918" y="821935"/>
                  </a:lnTo>
                  <a:lnTo>
                    <a:pt x="1060343" y="828944"/>
                  </a:lnTo>
                  <a:lnTo>
                    <a:pt x="1000282" y="834039"/>
                  </a:lnTo>
                  <a:lnTo>
                    <a:pt x="938885" y="837148"/>
                  </a:lnTo>
                  <a:lnTo>
                    <a:pt x="876300" y="838200"/>
                  </a:lnTo>
                  <a:lnTo>
                    <a:pt x="813714" y="837148"/>
                  </a:lnTo>
                  <a:lnTo>
                    <a:pt x="752317" y="834039"/>
                  </a:lnTo>
                  <a:lnTo>
                    <a:pt x="692256" y="828944"/>
                  </a:lnTo>
                  <a:lnTo>
                    <a:pt x="633681" y="821935"/>
                  </a:lnTo>
                  <a:lnTo>
                    <a:pt x="576738" y="813081"/>
                  </a:lnTo>
                  <a:lnTo>
                    <a:pt x="521576" y="802454"/>
                  </a:lnTo>
                  <a:lnTo>
                    <a:pt x="468344" y="790124"/>
                  </a:lnTo>
                  <a:lnTo>
                    <a:pt x="417189" y="776162"/>
                  </a:lnTo>
                  <a:lnTo>
                    <a:pt x="368261" y="760640"/>
                  </a:lnTo>
                  <a:lnTo>
                    <a:pt x="321706" y="743627"/>
                  </a:lnTo>
                  <a:lnTo>
                    <a:pt x="277674" y="725196"/>
                  </a:lnTo>
                  <a:lnTo>
                    <a:pt x="236313" y="705416"/>
                  </a:lnTo>
                  <a:lnTo>
                    <a:pt x="197771" y="684358"/>
                  </a:lnTo>
                  <a:lnTo>
                    <a:pt x="162195" y="662094"/>
                  </a:lnTo>
                  <a:lnTo>
                    <a:pt x="129736" y="638694"/>
                  </a:lnTo>
                  <a:lnTo>
                    <a:pt x="74755" y="588769"/>
                  </a:lnTo>
                  <a:lnTo>
                    <a:pt x="34015" y="535150"/>
                  </a:lnTo>
                  <a:lnTo>
                    <a:pt x="8701" y="478405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22776" y="1927885"/>
              <a:ext cx="836676" cy="23467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61638" y="1989836"/>
              <a:ext cx="687070" cy="112395"/>
            </a:xfrm>
            <a:custGeom>
              <a:avLst/>
              <a:gdLst/>
              <a:ahLst/>
              <a:cxnLst/>
              <a:rect l="l" t="t" r="r" b="b"/>
              <a:pathLst>
                <a:path w="687070" h="112394">
                  <a:moveTo>
                    <a:pt x="610181" y="31626"/>
                  </a:moveTo>
                  <a:lnTo>
                    <a:pt x="0" y="99313"/>
                  </a:lnTo>
                  <a:lnTo>
                    <a:pt x="1524" y="112013"/>
                  </a:lnTo>
                  <a:lnTo>
                    <a:pt x="611573" y="44203"/>
                  </a:lnTo>
                  <a:lnTo>
                    <a:pt x="610181" y="31626"/>
                  </a:lnTo>
                  <a:close/>
                </a:path>
                <a:path w="687070" h="112394">
                  <a:moveTo>
                    <a:pt x="685383" y="30225"/>
                  </a:moveTo>
                  <a:lnTo>
                    <a:pt x="622808" y="30225"/>
                  </a:lnTo>
                  <a:lnTo>
                    <a:pt x="624204" y="42799"/>
                  </a:lnTo>
                  <a:lnTo>
                    <a:pt x="611573" y="44203"/>
                  </a:lnTo>
                  <a:lnTo>
                    <a:pt x="615061" y="75691"/>
                  </a:lnTo>
                  <a:lnTo>
                    <a:pt x="685383" y="30225"/>
                  </a:lnTo>
                  <a:close/>
                </a:path>
                <a:path w="687070" h="112394">
                  <a:moveTo>
                    <a:pt x="622808" y="30225"/>
                  </a:moveTo>
                  <a:lnTo>
                    <a:pt x="610181" y="31626"/>
                  </a:lnTo>
                  <a:lnTo>
                    <a:pt x="611573" y="44203"/>
                  </a:lnTo>
                  <a:lnTo>
                    <a:pt x="624204" y="42799"/>
                  </a:lnTo>
                  <a:lnTo>
                    <a:pt x="622808" y="30225"/>
                  </a:lnTo>
                  <a:close/>
                </a:path>
                <a:path w="687070" h="112394">
                  <a:moveTo>
                    <a:pt x="606678" y="0"/>
                  </a:moveTo>
                  <a:lnTo>
                    <a:pt x="610181" y="31626"/>
                  </a:lnTo>
                  <a:lnTo>
                    <a:pt x="622808" y="30225"/>
                  </a:lnTo>
                  <a:lnTo>
                    <a:pt x="685383" y="30225"/>
                  </a:lnTo>
                  <a:lnTo>
                    <a:pt x="686562" y="29463"/>
                  </a:lnTo>
                  <a:lnTo>
                    <a:pt x="60667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6980" y="4262625"/>
              <a:ext cx="1818147" cy="9037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05044" y="4447032"/>
              <a:ext cx="923569" cy="6080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92040" y="4271772"/>
              <a:ext cx="1752600" cy="838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92040" y="4271772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01" y="359794"/>
                  </a:lnTo>
                  <a:lnTo>
                    <a:pt x="34015" y="303049"/>
                  </a:lnTo>
                  <a:lnTo>
                    <a:pt x="74755" y="249430"/>
                  </a:lnTo>
                  <a:lnTo>
                    <a:pt x="129736" y="199505"/>
                  </a:lnTo>
                  <a:lnTo>
                    <a:pt x="162195" y="176105"/>
                  </a:lnTo>
                  <a:lnTo>
                    <a:pt x="197771" y="153841"/>
                  </a:lnTo>
                  <a:lnTo>
                    <a:pt x="236313" y="132783"/>
                  </a:lnTo>
                  <a:lnTo>
                    <a:pt x="277674" y="113003"/>
                  </a:lnTo>
                  <a:lnTo>
                    <a:pt x="321706" y="94572"/>
                  </a:lnTo>
                  <a:lnTo>
                    <a:pt x="368261" y="77559"/>
                  </a:lnTo>
                  <a:lnTo>
                    <a:pt x="417189" y="62037"/>
                  </a:lnTo>
                  <a:lnTo>
                    <a:pt x="468344" y="48075"/>
                  </a:lnTo>
                  <a:lnTo>
                    <a:pt x="521576" y="35745"/>
                  </a:lnTo>
                  <a:lnTo>
                    <a:pt x="576738" y="25118"/>
                  </a:lnTo>
                  <a:lnTo>
                    <a:pt x="633681" y="16264"/>
                  </a:lnTo>
                  <a:lnTo>
                    <a:pt x="692256" y="9255"/>
                  </a:lnTo>
                  <a:lnTo>
                    <a:pt x="752317" y="4160"/>
                  </a:lnTo>
                  <a:lnTo>
                    <a:pt x="813714" y="1051"/>
                  </a:lnTo>
                  <a:lnTo>
                    <a:pt x="876300" y="0"/>
                  </a:lnTo>
                  <a:lnTo>
                    <a:pt x="938885" y="1051"/>
                  </a:lnTo>
                  <a:lnTo>
                    <a:pt x="1000282" y="4160"/>
                  </a:lnTo>
                  <a:lnTo>
                    <a:pt x="1060343" y="9255"/>
                  </a:lnTo>
                  <a:lnTo>
                    <a:pt x="1118918" y="16264"/>
                  </a:lnTo>
                  <a:lnTo>
                    <a:pt x="1175861" y="25118"/>
                  </a:lnTo>
                  <a:lnTo>
                    <a:pt x="1231023" y="35745"/>
                  </a:lnTo>
                  <a:lnTo>
                    <a:pt x="1284255" y="48075"/>
                  </a:lnTo>
                  <a:lnTo>
                    <a:pt x="1335410" y="62037"/>
                  </a:lnTo>
                  <a:lnTo>
                    <a:pt x="1384338" y="77559"/>
                  </a:lnTo>
                  <a:lnTo>
                    <a:pt x="1430893" y="94572"/>
                  </a:lnTo>
                  <a:lnTo>
                    <a:pt x="1474925" y="113003"/>
                  </a:lnTo>
                  <a:lnTo>
                    <a:pt x="1516286" y="132783"/>
                  </a:lnTo>
                  <a:lnTo>
                    <a:pt x="1554828" y="153841"/>
                  </a:lnTo>
                  <a:lnTo>
                    <a:pt x="1590404" y="176105"/>
                  </a:lnTo>
                  <a:lnTo>
                    <a:pt x="1622863" y="199505"/>
                  </a:lnTo>
                  <a:lnTo>
                    <a:pt x="1677844" y="249430"/>
                  </a:lnTo>
                  <a:lnTo>
                    <a:pt x="1718584" y="303049"/>
                  </a:lnTo>
                  <a:lnTo>
                    <a:pt x="1743898" y="359794"/>
                  </a:lnTo>
                  <a:lnTo>
                    <a:pt x="1752600" y="419100"/>
                  </a:lnTo>
                  <a:lnTo>
                    <a:pt x="1750399" y="449037"/>
                  </a:lnTo>
                  <a:lnTo>
                    <a:pt x="1733244" y="507133"/>
                  </a:lnTo>
                  <a:lnTo>
                    <a:pt x="1700068" y="562386"/>
                  </a:lnTo>
                  <a:lnTo>
                    <a:pt x="1652060" y="614228"/>
                  </a:lnTo>
                  <a:lnTo>
                    <a:pt x="1590404" y="662094"/>
                  </a:lnTo>
                  <a:lnTo>
                    <a:pt x="1554828" y="684358"/>
                  </a:lnTo>
                  <a:lnTo>
                    <a:pt x="1516286" y="705416"/>
                  </a:lnTo>
                  <a:lnTo>
                    <a:pt x="1474925" y="725196"/>
                  </a:lnTo>
                  <a:lnTo>
                    <a:pt x="1430893" y="743627"/>
                  </a:lnTo>
                  <a:lnTo>
                    <a:pt x="1384338" y="760640"/>
                  </a:lnTo>
                  <a:lnTo>
                    <a:pt x="1335410" y="776162"/>
                  </a:lnTo>
                  <a:lnTo>
                    <a:pt x="1284255" y="790124"/>
                  </a:lnTo>
                  <a:lnTo>
                    <a:pt x="1231023" y="802454"/>
                  </a:lnTo>
                  <a:lnTo>
                    <a:pt x="1175861" y="813081"/>
                  </a:lnTo>
                  <a:lnTo>
                    <a:pt x="1118918" y="821935"/>
                  </a:lnTo>
                  <a:lnTo>
                    <a:pt x="1060343" y="828944"/>
                  </a:lnTo>
                  <a:lnTo>
                    <a:pt x="1000282" y="834039"/>
                  </a:lnTo>
                  <a:lnTo>
                    <a:pt x="938885" y="837148"/>
                  </a:lnTo>
                  <a:lnTo>
                    <a:pt x="876300" y="838200"/>
                  </a:lnTo>
                  <a:lnTo>
                    <a:pt x="813714" y="837148"/>
                  </a:lnTo>
                  <a:lnTo>
                    <a:pt x="752317" y="834039"/>
                  </a:lnTo>
                  <a:lnTo>
                    <a:pt x="692256" y="828944"/>
                  </a:lnTo>
                  <a:lnTo>
                    <a:pt x="633681" y="821935"/>
                  </a:lnTo>
                  <a:lnTo>
                    <a:pt x="576738" y="813081"/>
                  </a:lnTo>
                  <a:lnTo>
                    <a:pt x="521576" y="802454"/>
                  </a:lnTo>
                  <a:lnTo>
                    <a:pt x="468344" y="790124"/>
                  </a:lnTo>
                  <a:lnTo>
                    <a:pt x="417189" y="776162"/>
                  </a:lnTo>
                  <a:lnTo>
                    <a:pt x="368261" y="760640"/>
                  </a:lnTo>
                  <a:lnTo>
                    <a:pt x="321706" y="743627"/>
                  </a:lnTo>
                  <a:lnTo>
                    <a:pt x="277674" y="725196"/>
                  </a:lnTo>
                  <a:lnTo>
                    <a:pt x="236313" y="705416"/>
                  </a:lnTo>
                  <a:lnTo>
                    <a:pt x="197771" y="684358"/>
                  </a:lnTo>
                  <a:lnTo>
                    <a:pt x="162195" y="662094"/>
                  </a:lnTo>
                  <a:lnTo>
                    <a:pt x="129736" y="638694"/>
                  </a:lnTo>
                  <a:lnTo>
                    <a:pt x="74755" y="588769"/>
                  </a:lnTo>
                  <a:lnTo>
                    <a:pt x="34015" y="535150"/>
                  </a:lnTo>
                  <a:lnTo>
                    <a:pt x="8701" y="478405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85638" y="4516069"/>
            <a:ext cx="5695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75" dirty="0">
                <a:latin typeface="Trebuchet MS"/>
                <a:cs typeface="Trebuchet MS"/>
              </a:rPr>
              <a:t>noise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94580" y="2534411"/>
            <a:ext cx="4337685" cy="2026920"/>
            <a:chOff x="894580" y="2534411"/>
            <a:chExt cx="4337685" cy="2026920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37203" y="2534411"/>
              <a:ext cx="1694688" cy="20269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76446" y="2548635"/>
              <a:ext cx="1544320" cy="1875789"/>
            </a:xfrm>
            <a:custGeom>
              <a:avLst/>
              <a:gdLst/>
              <a:ahLst/>
              <a:cxnLst/>
              <a:rect l="l" t="t" r="r" b="b"/>
              <a:pathLst>
                <a:path w="1544320" h="1875789">
                  <a:moveTo>
                    <a:pt x="1490873" y="1820721"/>
                  </a:moveTo>
                  <a:lnTo>
                    <a:pt x="1466341" y="1840864"/>
                  </a:lnTo>
                  <a:lnTo>
                    <a:pt x="1544192" y="1875536"/>
                  </a:lnTo>
                  <a:lnTo>
                    <a:pt x="1533950" y="1830577"/>
                  </a:lnTo>
                  <a:lnTo>
                    <a:pt x="1498980" y="1830577"/>
                  </a:lnTo>
                  <a:lnTo>
                    <a:pt x="1490873" y="1820721"/>
                  </a:lnTo>
                  <a:close/>
                </a:path>
                <a:path w="1544320" h="1875789">
                  <a:moveTo>
                    <a:pt x="1500701" y="1812651"/>
                  </a:moveTo>
                  <a:lnTo>
                    <a:pt x="1490873" y="1820721"/>
                  </a:lnTo>
                  <a:lnTo>
                    <a:pt x="1498980" y="1830577"/>
                  </a:lnTo>
                  <a:lnTo>
                    <a:pt x="1508760" y="1822450"/>
                  </a:lnTo>
                  <a:lnTo>
                    <a:pt x="1500701" y="1812651"/>
                  </a:lnTo>
                  <a:close/>
                </a:path>
                <a:path w="1544320" h="1875789">
                  <a:moveTo>
                    <a:pt x="1525269" y="1792477"/>
                  </a:moveTo>
                  <a:lnTo>
                    <a:pt x="1500701" y="1812651"/>
                  </a:lnTo>
                  <a:lnTo>
                    <a:pt x="1508760" y="1822450"/>
                  </a:lnTo>
                  <a:lnTo>
                    <a:pt x="1498980" y="1830577"/>
                  </a:lnTo>
                  <a:lnTo>
                    <a:pt x="1533950" y="1830577"/>
                  </a:lnTo>
                  <a:lnTo>
                    <a:pt x="1525269" y="1792477"/>
                  </a:lnTo>
                  <a:close/>
                </a:path>
                <a:path w="1544320" h="1875789">
                  <a:moveTo>
                    <a:pt x="9905" y="0"/>
                  </a:moveTo>
                  <a:lnTo>
                    <a:pt x="0" y="8127"/>
                  </a:lnTo>
                  <a:lnTo>
                    <a:pt x="1490873" y="1820721"/>
                  </a:lnTo>
                  <a:lnTo>
                    <a:pt x="1500701" y="1812651"/>
                  </a:lnTo>
                  <a:lnTo>
                    <a:pt x="9905" y="0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4580" y="2967225"/>
              <a:ext cx="1818147" cy="90374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8219" y="3151631"/>
              <a:ext cx="1613916" cy="6080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9639" y="2976371"/>
              <a:ext cx="1752600" cy="8382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29639" y="2976371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01" y="359794"/>
                  </a:lnTo>
                  <a:lnTo>
                    <a:pt x="34015" y="303049"/>
                  </a:lnTo>
                  <a:lnTo>
                    <a:pt x="74755" y="249430"/>
                  </a:lnTo>
                  <a:lnTo>
                    <a:pt x="129736" y="199505"/>
                  </a:lnTo>
                  <a:lnTo>
                    <a:pt x="162195" y="176105"/>
                  </a:lnTo>
                  <a:lnTo>
                    <a:pt x="197771" y="153841"/>
                  </a:lnTo>
                  <a:lnTo>
                    <a:pt x="236313" y="132783"/>
                  </a:lnTo>
                  <a:lnTo>
                    <a:pt x="277674" y="113003"/>
                  </a:lnTo>
                  <a:lnTo>
                    <a:pt x="321706" y="94572"/>
                  </a:lnTo>
                  <a:lnTo>
                    <a:pt x="368261" y="77559"/>
                  </a:lnTo>
                  <a:lnTo>
                    <a:pt x="417189" y="62037"/>
                  </a:lnTo>
                  <a:lnTo>
                    <a:pt x="468344" y="48075"/>
                  </a:lnTo>
                  <a:lnTo>
                    <a:pt x="521576" y="35745"/>
                  </a:lnTo>
                  <a:lnTo>
                    <a:pt x="576738" y="25118"/>
                  </a:lnTo>
                  <a:lnTo>
                    <a:pt x="633681" y="16264"/>
                  </a:lnTo>
                  <a:lnTo>
                    <a:pt x="692256" y="9255"/>
                  </a:lnTo>
                  <a:lnTo>
                    <a:pt x="752317" y="4160"/>
                  </a:lnTo>
                  <a:lnTo>
                    <a:pt x="813714" y="1051"/>
                  </a:lnTo>
                  <a:lnTo>
                    <a:pt x="876299" y="0"/>
                  </a:lnTo>
                  <a:lnTo>
                    <a:pt x="938885" y="1051"/>
                  </a:lnTo>
                  <a:lnTo>
                    <a:pt x="1000282" y="4160"/>
                  </a:lnTo>
                  <a:lnTo>
                    <a:pt x="1060343" y="9255"/>
                  </a:lnTo>
                  <a:lnTo>
                    <a:pt x="1118918" y="16264"/>
                  </a:lnTo>
                  <a:lnTo>
                    <a:pt x="1175861" y="25118"/>
                  </a:lnTo>
                  <a:lnTo>
                    <a:pt x="1231023" y="35745"/>
                  </a:lnTo>
                  <a:lnTo>
                    <a:pt x="1284255" y="48075"/>
                  </a:lnTo>
                  <a:lnTo>
                    <a:pt x="1335410" y="62037"/>
                  </a:lnTo>
                  <a:lnTo>
                    <a:pt x="1384338" y="77559"/>
                  </a:lnTo>
                  <a:lnTo>
                    <a:pt x="1430893" y="94572"/>
                  </a:lnTo>
                  <a:lnTo>
                    <a:pt x="1474925" y="113003"/>
                  </a:lnTo>
                  <a:lnTo>
                    <a:pt x="1516286" y="132783"/>
                  </a:lnTo>
                  <a:lnTo>
                    <a:pt x="1554828" y="153841"/>
                  </a:lnTo>
                  <a:lnTo>
                    <a:pt x="1590404" y="176105"/>
                  </a:lnTo>
                  <a:lnTo>
                    <a:pt x="1622863" y="199505"/>
                  </a:lnTo>
                  <a:lnTo>
                    <a:pt x="1677844" y="249430"/>
                  </a:lnTo>
                  <a:lnTo>
                    <a:pt x="1718584" y="303049"/>
                  </a:lnTo>
                  <a:lnTo>
                    <a:pt x="1743898" y="359794"/>
                  </a:lnTo>
                  <a:lnTo>
                    <a:pt x="1752600" y="419100"/>
                  </a:lnTo>
                  <a:lnTo>
                    <a:pt x="1750399" y="449037"/>
                  </a:lnTo>
                  <a:lnTo>
                    <a:pt x="1733244" y="507133"/>
                  </a:lnTo>
                  <a:lnTo>
                    <a:pt x="1700068" y="562386"/>
                  </a:lnTo>
                  <a:lnTo>
                    <a:pt x="1652060" y="614228"/>
                  </a:lnTo>
                  <a:lnTo>
                    <a:pt x="1590404" y="662094"/>
                  </a:lnTo>
                  <a:lnTo>
                    <a:pt x="1554828" y="684358"/>
                  </a:lnTo>
                  <a:lnTo>
                    <a:pt x="1516286" y="705416"/>
                  </a:lnTo>
                  <a:lnTo>
                    <a:pt x="1474925" y="725196"/>
                  </a:lnTo>
                  <a:lnTo>
                    <a:pt x="1430893" y="743627"/>
                  </a:lnTo>
                  <a:lnTo>
                    <a:pt x="1384338" y="760640"/>
                  </a:lnTo>
                  <a:lnTo>
                    <a:pt x="1335410" y="776162"/>
                  </a:lnTo>
                  <a:lnTo>
                    <a:pt x="1284255" y="790124"/>
                  </a:lnTo>
                  <a:lnTo>
                    <a:pt x="1231023" y="802454"/>
                  </a:lnTo>
                  <a:lnTo>
                    <a:pt x="1175861" y="813081"/>
                  </a:lnTo>
                  <a:lnTo>
                    <a:pt x="1118918" y="821935"/>
                  </a:lnTo>
                  <a:lnTo>
                    <a:pt x="1060343" y="828944"/>
                  </a:lnTo>
                  <a:lnTo>
                    <a:pt x="1000282" y="834039"/>
                  </a:lnTo>
                  <a:lnTo>
                    <a:pt x="938885" y="837148"/>
                  </a:lnTo>
                  <a:lnTo>
                    <a:pt x="876299" y="838200"/>
                  </a:lnTo>
                  <a:lnTo>
                    <a:pt x="813714" y="837148"/>
                  </a:lnTo>
                  <a:lnTo>
                    <a:pt x="752317" y="834039"/>
                  </a:lnTo>
                  <a:lnTo>
                    <a:pt x="692256" y="828944"/>
                  </a:lnTo>
                  <a:lnTo>
                    <a:pt x="633681" y="821935"/>
                  </a:lnTo>
                  <a:lnTo>
                    <a:pt x="576738" y="813081"/>
                  </a:lnTo>
                  <a:lnTo>
                    <a:pt x="521576" y="802454"/>
                  </a:lnTo>
                  <a:lnTo>
                    <a:pt x="468344" y="790124"/>
                  </a:lnTo>
                  <a:lnTo>
                    <a:pt x="417189" y="776162"/>
                  </a:lnTo>
                  <a:lnTo>
                    <a:pt x="368261" y="760640"/>
                  </a:lnTo>
                  <a:lnTo>
                    <a:pt x="321706" y="743627"/>
                  </a:lnTo>
                  <a:lnTo>
                    <a:pt x="277674" y="725196"/>
                  </a:lnTo>
                  <a:lnTo>
                    <a:pt x="236313" y="705416"/>
                  </a:lnTo>
                  <a:lnTo>
                    <a:pt x="197771" y="684358"/>
                  </a:lnTo>
                  <a:lnTo>
                    <a:pt x="162195" y="662094"/>
                  </a:lnTo>
                  <a:lnTo>
                    <a:pt x="129736" y="638694"/>
                  </a:lnTo>
                  <a:lnTo>
                    <a:pt x="74755" y="588769"/>
                  </a:lnTo>
                  <a:lnTo>
                    <a:pt x="34015" y="535150"/>
                  </a:lnTo>
                  <a:lnTo>
                    <a:pt x="8701" y="478405"/>
                  </a:lnTo>
                  <a:lnTo>
                    <a:pt x="0" y="419100"/>
                  </a:lnTo>
                  <a:close/>
                </a:path>
              </a:pathLst>
            </a:custGeom>
            <a:ln w="952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7340" y="3220288"/>
            <a:ext cx="4233545" cy="2132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0">
              <a:lnSpc>
                <a:spcPct val="100000"/>
              </a:lnSpc>
              <a:spcBef>
                <a:spcPts val="105"/>
              </a:spcBef>
            </a:pPr>
            <a:r>
              <a:rPr sz="2000" spc="-90" dirty="0">
                <a:latin typeface="Trebuchet MS"/>
                <a:cs typeface="Trebuchet MS"/>
              </a:rPr>
              <a:t>inconsistent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 dirty="0">
              <a:latin typeface="Trebuchet MS"/>
              <a:cs typeface="Trebuchet MS"/>
            </a:endParaRPr>
          </a:p>
          <a:p>
            <a:pPr marL="248920" indent="-23622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248285" algn="l"/>
                <a:tab pos="248920" algn="l"/>
              </a:tabLst>
            </a:pPr>
            <a:r>
              <a:rPr sz="1800" spc="-5" dirty="0">
                <a:latin typeface="Tahoma"/>
                <a:cs typeface="Tahoma"/>
              </a:rPr>
              <a:t>containing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discrepancies</a:t>
            </a:r>
            <a:r>
              <a:rPr sz="1800" dirty="0">
                <a:latin typeface="Tahoma"/>
                <a:cs typeface="Tahoma"/>
              </a:rPr>
              <a:t> in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codes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</a:p>
          <a:p>
            <a:pPr marL="248285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names,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e.g.,</a:t>
            </a:r>
            <a:endParaRPr sz="1800" dirty="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buFont typeface="Microsoft Sans Serif"/>
              <a:buChar char="•"/>
              <a:tabLst>
                <a:tab pos="248285" algn="l"/>
                <a:tab pos="248920" algn="l"/>
              </a:tabLst>
            </a:pP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Age=“42”</a:t>
            </a:r>
            <a:r>
              <a:rPr sz="1800" spc="-2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Birthday=“03/07/1997”</a:t>
            </a:r>
            <a:endParaRPr sz="1800" dirty="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buFont typeface="Microsoft Sans Serif"/>
              <a:buChar char="•"/>
              <a:tabLst>
                <a:tab pos="248285" algn="l"/>
                <a:tab pos="248920" algn="l"/>
              </a:tabLst>
            </a:pPr>
            <a:r>
              <a:rPr sz="1800" spc="-30" dirty="0">
                <a:solidFill>
                  <a:srgbClr val="0033CC"/>
                </a:solidFill>
                <a:latin typeface="Tahoma"/>
                <a:cs typeface="Tahoma"/>
              </a:rPr>
              <a:t>Was</a:t>
            </a:r>
            <a:r>
              <a:rPr sz="1800" spc="1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Tahoma"/>
                <a:cs typeface="Tahoma"/>
              </a:rPr>
              <a:t>rating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0033CC"/>
                </a:solidFill>
                <a:latin typeface="Tahoma"/>
                <a:cs typeface="Tahoma"/>
              </a:rPr>
              <a:t>“1,2,3”,</a:t>
            </a:r>
            <a:r>
              <a:rPr sz="1800" spc="5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now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Tahoma"/>
                <a:cs typeface="Tahoma"/>
              </a:rPr>
              <a:t>rating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0033CC"/>
                </a:solidFill>
                <a:latin typeface="Tahoma"/>
                <a:cs typeface="Tahoma"/>
              </a:rPr>
              <a:t>“A,</a:t>
            </a:r>
            <a:r>
              <a:rPr sz="1800" spc="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Tahoma"/>
                <a:cs typeface="Tahoma"/>
              </a:rPr>
              <a:t>B,</a:t>
            </a:r>
            <a:r>
              <a:rPr sz="1800" spc="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C”</a:t>
            </a:r>
            <a:endParaRPr sz="1800" dirty="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buFont typeface="Microsoft Sans Serif"/>
              <a:buChar char="•"/>
              <a:tabLst>
                <a:tab pos="248285" algn="l"/>
                <a:tab pos="248920" algn="l"/>
              </a:tabLst>
            </a:pP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discrepancy</a:t>
            </a:r>
            <a:r>
              <a:rPr sz="1800" spc="-2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between duplicate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33CC"/>
                </a:solidFill>
                <a:latin typeface="Tahoma"/>
                <a:cs typeface="Tahoma"/>
              </a:rPr>
              <a:t>records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93976" y="2685288"/>
            <a:ext cx="536575" cy="462280"/>
            <a:chOff x="2093976" y="2685288"/>
            <a:chExt cx="536575" cy="462280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93976" y="2685288"/>
              <a:ext cx="536435" cy="46177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209800" y="2700147"/>
              <a:ext cx="385445" cy="309880"/>
            </a:xfrm>
            <a:custGeom>
              <a:avLst/>
              <a:gdLst/>
              <a:ahLst/>
              <a:cxnLst/>
              <a:rect l="l" t="t" r="r" b="b"/>
              <a:pathLst>
                <a:path w="385444" h="309880">
                  <a:moveTo>
                    <a:pt x="35687" y="232410"/>
                  </a:moveTo>
                  <a:lnTo>
                    <a:pt x="0" y="309752"/>
                  </a:lnTo>
                  <a:lnTo>
                    <a:pt x="83312" y="291845"/>
                  </a:lnTo>
                  <a:lnTo>
                    <a:pt x="69879" y="275081"/>
                  </a:lnTo>
                  <a:lnTo>
                    <a:pt x="53593" y="275081"/>
                  </a:lnTo>
                  <a:lnTo>
                    <a:pt x="45593" y="265175"/>
                  </a:lnTo>
                  <a:lnTo>
                    <a:pt x="55555" y="257205"/>
                  </a:lnTo>
                  <a:lnTo>
                    <a:pt x="35687" y="232410"/>
                  </a:lnTo>
                  <a:close/>
                </a:path>
                <a:path w="385444" h="309880">
                  <a:moveTo>
                    <a:pt x="55555" y="257205"/>
                  </a:moveTo>
                  <a:lnTo>
                    <a:pt x="45593" y="265175"/>
                  </a:lnTo>
                  <a:lnTo>
                    <a:pt x="53593" y="275081"/>
                  </a:lnTo>
                  <a:lnTo>
                    <a:pt x="63516" y="267141"/>
                  </a:lnTo>
                  <a:lnTo>
                    <a:pt x="55555" y="257205"/>
                  </a:lnTo>
                  <a:close/>
                </a:path>
                <a:path w="385444" h="309880">
                  <a:moveTo>
                    <a:pt x="63516" y="267141"/>
                  </a:moveTo>
                  <a:lnTo>
                    <a:pt x="53593" y="275081"/>
                  </a:lnTo>
                  <a:lnTo>
                    <a:pt x="69879" y="275081"/>
                  </a:lnTo>
                  <a:lnTo>
                    <a:pt x="63516" y="267141"/>
                  </a:lnTo>
                  <a:close/>
                </a:path>
                <a:path w="385444" h="309880">
                  <a:moveTo>
                    <a:pt x="377063" y="0"/>
                  </a:moveTo>
                  <a:lnTo>
                    <a:pt x="55555" y="257205"/>
                  </a:lnTo>
                  <a:lnTo>
                    <a:pt x="63516" y="267141"/>
                  </a:lnTo>
                  <a:lnTo>
                    <a:pt x="384937" y="9905"/>
                  </a:lnTo>
                  <a:lnTo>
                    <a:pt x="37706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956428" y="1772538"/>
            <a:ext cx="3950970" cy="186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10" dirty="0">
                <a:latin typeface="Trebuchet MS"/>
                <a:cs typeface="Trebuchet MS"/>
              </a:rPr>
              <a:t>incomplete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 dirty="0">
              <a:latin typeface="Trebuchet MS"/>
              <a:cs typeface="Trebuchet MS"/>
            </a:endParaRPr>
          </a:p>
          <a:p>
            <a:pPr marL="401320" marR="370840" indent="-236220" algn="just">
              <a:lnSpc>
                <a:spcPct val="100000"/>
              </a:lnSpc>
              <a:buFont typeface="Microsoft Sans Serif"/>
              <a:buChar char="•"/>
              <a:tabLst>
                <a:tab pos="401320" algn="l"/>
              </a:tabLst>
            </a:pPr>
            <a:r>
              <a:rPr sz="1800" spc="-5" dirty="0">
                <a:latin typeface="Tahoma"/>
                <a:cs typeface="Tahoma"/>
              </a:rPr>
              <a:t>lacking attribute values, lacking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certain attributes </a:t>
            </a:r>
            <a:r>
              <a:rPr sz="1800" dirty="0">
                <a:latin typeface="Tahoma"/>
                <a:cs typeface="Tahoma"/>
              </a:rPr>
              <a:t>of </a:t>
            </a:r>
            <a:r>
              <a:rPr sz="1800" spc="-5" dirty="0">
                <a:latin typeface="Tahoma"/>
                <a:cs typeface="Tahoma"/>
              </a:rPr>
              <a:t>interest, </a:t>
            </a:r>
            <a:r>
              <a:rPr sz="1800" dirty="0">
                <a:latin typeface="Tahoma"/>
                <a:cs typeface="Tahoma"/>
              </a:rPr>
              <a:t>or </a:t>
            </a:r>
            <a:r>
              <a:rPr sz="1800" spc="-5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containing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only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aggregate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data</a:t>
            </a:r>
          </a:p>
          <a:p>
            <a:pPr marL="401320" indent="-236220" algn="just">
              <a:lnSpc>
                <a:spcPct val="100000"/>
              </a:lnSpc>
              <a:buFont typeface="Microsoft Sans Serif"/>
              <a:buChar char="•"/>
              <a:tabLst>
                <a:tab pos="401320" algn="l"/>
              </a:tabLst>
            </a:pPr>
            <a:r>
              <a:rPr sz="1800" spc="-30" dirty="0">
                <a:solidFill>
                  <a:srgbClr val="0033CC"/>
                </a:solidFill>
                <a:latin typeface="Tahoma"/>
                <a:cs typeface="Tahoma"/>
              </a:rPr>
              <a:t>e.g.,</a:t>
            </a:r>
            <a:r>
              <a:rPr sz="1800" spc="1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occupation=“</a:t>
            </a:r>
            <a:r>
              <a:rPr sz="1800" spc="-1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”</a:t>
            </a:r>
            <a:r>
              <a:rPr sz="1800" spc="-20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33CC"/>
                </a:solidFill>
                <a:latin typeface="Tahoma"/>
                <a:cs typeface="Tahoma"/>
              </a:rPr>
              <a:t>(missing</a:t>
            </a:r>
            <a:r>
              <a:rPr sz="1800" spc="-15" dirty="0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33CC"/>
                </a:solidFill>
                <a:latin typeface="Tahoma"/>
                <a:cs typeface="Tahoma"/>
              </a:rPr>
              <a:t>data)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F91A798-EE40-4051-96C7-0F63FD8C0504}"/>
                  </a:ext>
                </a:extLst>
              </p14:cNvPr>
              <p14:cNvContentPartPr/>
              <p14:nvPr/>
            </p14:nvContentPartPr>
            <p14:xfrm>
              <a:off x="5952410" y="6064788"/>
              <a:ext cx="14760" cy="244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F91A798-EE40-4051-96C7-0F63FD8C050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943770" y="6055788"/>
                <a:ext cx="32400" cy="4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3340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5" dirty="0"/>
              <a:t>Why</a:t>
            </a:r>
            <a:r>
              <a:rPr spc="250" dirty="0"/>
              <a:t> </a:t>
            </a:r>
            <a:r>
              <a:rPr spc="145" dirty="0"/>
              <a:t>Is</a:t>
            </a:r>
            <a:r>
              <a:rPr spc="254" dirty="0"/>
              <a:t> </a:t>
            </a:r>
            <a:r>
              <a:rPr spc="250" dirty="0"/>
              <a:t>Data</a:t>
            </a:r>
            <a:r>
              <a:rPr spc="265" dirty="0"/>
              <a:t> </a:t>
            </a:r>
            <a:r>
              <a:rPr spc="175" dirty="0"/>
              <a:t>Dirty?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26388"/>
            <a:ext cx="7938134" cy="47904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10" dirty="0">
                <a:latin typeface="Trebuchet MS"/>
                <a:cs typeface="Trebuchet MS"/>
              </a:rPr>
              <a:t>complete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come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</a:t>
            </a:r>
            <a:r>
              <a:rPr sz="2000" spc="-165" dirty="0">
                <a:latin typeface="Trebuchet MS"/>
                <a:cs typeface="Trebuchet MS"/>
              </a:rPr>
              <a:t>r</a:t>
            </a:r>
            <a:r>
              <a:rPr sz="2000" spc="-45" dirty="0">
                <a:latin typeface="Trebuchet MS"/>
                <a:cs typeface="Trebuchet MS"/>
              </a:rPr>
              <a:t>om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40" dirty="0">
                <a:solidFill>
                  <a:srgbClr val="1F487C"/>
                </a:solidFill>
                <a:latin typeface="Trebuchet MS"/>
                <a:cs typeface="Trebuchet MS"/>
              </a:rPr>
              <a:t>“</a:t>
            </a:r>
            <a:r>
              <a:rPr sz="2000" spc="3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ot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2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ble”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whe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ected</a:t>
            </a:r>
            <a:endParaRPr sz="2000" dirty="0">
              <a:latin typeface="Trebuchet MS"/>
              <a:cs typeface="Trebuchet MS"/>
            </a:endParaRPr>
          </a:p>
          <a:p>
            <a:pPr marL="561340" marR="5080" lvl="1" indent="-274320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Dif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considerati</a:t>
            </a:r>
            <a:r>
              <a:rPr sz="2000" spc="-35" dirty="0">
                <a:solidFill>
                  <a:srgbClr val="1F487C"/>
                </a:solidFill>
                <a:latin typeface="Trebuchet MS"/>
                <a:cs typeface="Trebuchet MS"/>
              </a:rPr>
              <a:t>ons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een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me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whe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wa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ol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ected 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whe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1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na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yzed.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30" dirty="0">
                <a:solidFill>
                  <a:srgbClr val="1F487C"/>
                </a:solidFill>
                <a:latin typeface="Trebuchet MS"/>
                <a:cs typeface="Trebuchet MS"/>
              </a:rPr>
              <a:t>Hu</a:t>
            </a:r>
            <a:r>
              <a:rPr sz="2000" spc="-225" dirty="0">
                <a:solidFill>
                  <a:srgbClr val="1F487C"/>
                </a:solidFill>
                <a:latin typeface="Trebuchet MS"/>
                <a:cs typeface="Trebuchet MS"/>
              </a:rPr>
              <a:t>man/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ha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dw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e/sof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wa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ob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ems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280" dirty="0">
                <a:latin typeface="Trebuchet MS"/>
                <a:cs typeface="Trebuchet MS"/>
              </a:rPr>
              <a:t>N</a:t>
            </a:r>
            <a:r>
              <a:rPr sz="2000" spc="-65" dirty="0">
                <a:latin typeface="Trebuchet MS"/>
                <a:cs typeface="Trebuchet MS"/>
              </a:rPr>
              <a:t>oisy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d</a:t>
            </a:r>
            <a:r>
              <a:rPr sz="2000" spc="-175" dirty="0">
                <a:latin typeface="Trebuchet MS"/>
                <a:cs typeface="Trebuchet MS"/>
              </a:rPr>
              <a:t>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(i</a:t>
            </a:r>
            <a:r>
              <a:rPr sz="2000" spc="-135" dirty="0">
                <a:latin typeface="Trebuchet MS"/>
                <a:cs typeface="Trebuchet MS"/>
              </a:rPr>
              <a:t>n</a:t>
            </a:r>
            <a:r>
              <a:rPr sz="2000" spc="-40" dirty="0">
                <a:latin typeface="Trebuchet MS"/>
                <a:cs typeface="Trebuchet MS"/>
              </a:rPr>
              <a:t>c</a:t>
            </a:r>
            <a:r>
              <a:rPr sz="2000" spc="-55" dirty="0">
                <a:latin typeface="Trebuchet MS"/>
                <a:cs typeface="Trebuchet MS"/>
              </a:rPr>
              <a:t>o</a:t>
            </a:r>
            <a:r>
              <a:rPr sz="2000" spc="-15" dirty="0">
                <a:latin typeface="Trebuchet MS"/>
                <a:cs typeface="Trebuchet MS"/>
              </a:rPr>
              <a:t>r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25" dirty="0">
                <a:latin typeface="Trebuchet MS"/>
                <a:cs typeface="Trebuchet MS"/>
              </a:rPr>
              <a:t>ect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16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l</a:t>
            </a:r>
            <a:r>
              <a:rPr sz="2000" spc="-155" dirty="0">
                <a:latin typeface="Trebuchet MS"/>
                <a:cs typeface="Trebuchet MS"/>
              </a:rPr>
              <a:t>u</a:t>
            </a:r>
            <a:r>
              <a:rPr sz="2000" spc="-85" dirty="0">
                <a:latin typeface="Trebuchet MS"/>
                <a:cs typeface="Trebuchet MS"/>
              </a:rPr>
              <a:t>es)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90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c</a:t>
            </a:r>
            <a:r>
              <a:rPr sz="2000" spc="-55" dirty="0">
                <a:latin typeface="Trebuchet MS"/>
                <a:cs typeface="Trebuchet MS"/>
              </a:rPr>
              <a:t>o</a:t>
            </a:r>
            <a:r>
              <a:rPr sz="2000" spc="-125" dirty="0">
                <a:latin typeface="Trebuchet MS"/>
                <a:cs typeface="Trebuchet MS"/>
              </a:rPr>
              <a:t>me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</a:t>
            </a:r>
            <a:r>
              <a:rPr sz="2000" spc="-165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om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9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ty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coll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ect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on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stru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30" dirty="0">
                <a:solidFill>
                  <a:srgbClr val="1F487C"/>
                </a:solidFill>
                <a:latin typeface="Trebuchet MS"/>
                <a:cs typeface="Trebuchet MS"/>
              </a:rPr>
              <a:t>Hu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man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20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comp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ter 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20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at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2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transmiss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ion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80" dirty="0">
                <a:latin typeface="Trebuchet MS"/>
                <a:cs typeface="Trebuchet MS"/>
              </a:rPr>
              <a:t>consiste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130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come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</a:t>
            </a:r>
            <a:r>
              <a:rPr sz="2000" spc="-165" dirty="0">
                <a:latin typeface="Trebuchet MS"/>
                <a:cs typeface="Trebuchet MS"/>
              </a:rPr>
              <a:t>r</a:t>
            </a:r>
            <a:r>
              <a:rPr sz="2000" spc="-45" dirty="0">
                <a:latin typeface="Trebuchet MS"/>
                <a:cs typeface="Trebuchet MS"/>
              </a:rPr>
              <a:t>om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Dif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sou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ces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Functional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dependency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violation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10" dirty="0">
                <a:solidFill>
                  <a:srgbClr val="1F487C"/>
                </a:solidFill>
                <a:latin typeface="Trebuchet MS"/>
                <a:cs typeface="Trebuchet MS"/>
              </a:rPr>
              <a:t>(e.g.,</a:t>
            </a:r>
            <a:r>
              <a:rPr sz="2000" spc="-2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modify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some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linked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data)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90" dirty="0">
                <a:latin typeface="Trebuchet MS"/>
                <a:cs typeface="Trebuchet MS"/>
              </a:rPr>
              <a:t>Duplicate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records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also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need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cleaning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5767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5" dirty="0"/>
              <a:t>Why</a:t>
            </a:r>
            <a:r>
              <a:rPr spc="260" dirty="0"/>
              <a:t> </a:t>
            </a:r>
            <a:r>
              <a:rPr spc="140" dirty="0"/>
              <a:t>Preprocessing</a:t>
            </a:r>
            <a:r>
              <a:rPr spc="280" dirty="0"/>
              <a:t> </a:t>
            </a:r>
            <a:r>
              <a:rPr spc="155" dirty="0"/>
              <a:t>is</a:t>
            </a:r>
            <a:r>
              <a:rPr spc="265" dirty="0"/>
              <a:t> </a:t>
            </a:r>
            <a:r>
              <a:rPr spc="175" dirty="0"/>
              <a:t>Important?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26388"/>
            <a:ext cx="8014334" cy="32524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160" dirty="0">
                <a:latin typeface="Trebuchet MS"/>
                <a:cs typeface="Trebuchet MS"/>
              </a:rPr>
              <a:t>No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quality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85" dirty="0">
                <a:latin typeface="Trebuchet MS"/>
                <a:cs typeface="Trebuchet MS"/>
              </a:rPr>
              <a:t>data,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no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quality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mining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results!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290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ual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ty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dec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ision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s 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ust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ba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on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ali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endParaRPr sz="2000">
              <a:latin typeface="Trebuchet MS"/>
              <a:cs typeface="Trebuchet MS"/>
            </a:endParaRPr>
          </a:p>
          <a:p>
            <a:pPr marL="835660" marR="80010" lvl="2" indent="-22860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70000"/>
              <a:buFont typeface="Wingdings"/>
              <a:buChar char=""/>
              <a:tabLst>
                <a:tab pos="836294" algn="l"/>
              </a:tabLst>
            </a:pPr>
            <a:r>
              <a:rPr sz="2000" spc="-229" dirty="0">
                <a:solidFill>
                  <a:srgbClr val="6F2F9F"/>
                </a:solidFill>
                <a:latin typeface="Trebuchet MS"/>
                <a:cs typeface="Trebuchet MS"/>
              </a:rPr>
              <a:t>e.g.,</a:t>
            </a:r>
            <a:r>
              <a:rPr sz="2000" spc="-26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6F2F9F"/>
                </a:solidFill>
                <a:latin typeface="Trebuchet MS"/>
                <a:cs typeface="Trebuchet MS"/>
              </a:rPr>
              <a:t>duplicate</a:t>
            </a:r>
            <a:r>
              <a:rPr sz="2000" spc="-9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20" dirty="0">
                <a:solidFill>
                  <a:srgbClr val="6F2F9F"/>
                </a:solidFill>
                <a:latin typeface="Trebuchet MS"/>
                <a:cs typeface="Trebuchet MS"/>
              </a:rPr>
              <a:t>or</a:t>
            </a:r>
            <a:r>
              <a:rPr sz="2000" spc="-6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6F2F9F"/>
                </a:solidFill>
                <a:latin typeface="Trebuchet MS"/>
                <a:cs typeface="Trebuchet MS"/>
              </a:rPr>
              <a:t>missing</a:t>
            </a:r>
            <a:r>
              <a:rPr sz="2000" spc="-7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6F2F9F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70" dirty="0">
                <a:solidFill>
                  <a:srgbClr val="6F2F9F"/>
                </a:solidFill>
                <a:latin typeface="Trebuchet MS"/>
                <a:cs typeface="Trebuchet MS"/>
              </a:rPr>
              <a:t>may</a:t>
            </a:r>
            <a:r>
              <a:rPr sz="2000" spc="-6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6F2F9F"/>
                </a:solidFill>
                <a:latin typeface="Trebuchet MS"/>
                <a:cs typeface="Trebuchet MS"/>
              </a:rPr>
              <a:t>cause</a:t>
            </a:r>
            <a:r>
              <a:rPr sz="2000" spc="-5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6F2F9F"/>
                </a:solidFill>
                <a:latin typeface="Trebuchet MS"/>
                <a:cs typeface="Trebuchet MS"/>
              </a:rPr>
              <a:t>incorrect </a:t>
            </a:r>
            <a:r>
              <a:rPr sz="2000" spc="20" dirty="0">
                <a:solidFill>
                  <a:srgbClr val="6F2F9F"/>
                </a:solidFill>
                <a:latin typeface="Trebuchet MS"/>
                <a:cs typeface="Trebuchet MS"/>
              </a:rPr>
              <a:t>or</a:t>
            </a:r>
            <a:r>
              <a:rPr sz="2000" spc="-6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6F2F9F"/>
                </a:solidFill>
                <a:latin typeface="Trebuchet MS"/>
                <a:cs typeface="Trebuchet MS"/>
              </a:rPr>
              <a:t>even</a:t>
            </a:r>
            <a:r>
              <a:rPr sz="2000" spc="-4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6F2F9F"/>
                </a:solidFill>
                <a:latin typeface="Trebuchet MS"/>
                <a:cs typeface="Trebuchet MS"/>
              </a:rPr>
              <a:t>misleading </a:t>
            </a:r>
            <a:r>
              <a:rPr sz="2000" spc="-58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6F2F9F"/>
                </a:solidFill>
                <a:latin typeface="Trebuchet MS"/>
                <a:cs typeface="Trebuchet MS"/>
              </a:rPr>
              <a:t>statistics.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4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000" spc="2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wa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eh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ouse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ne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eds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consiste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tegra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io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ali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ty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C0504D"/>
              </a:buClr>
              <a:buFont typeface="Wingdings"/>
              <a:buChar char=""/>
            </a:pPr>
            <a:endParaRPr sz="3100">
              <a:latin typeface="Trebuchet MS"/>
              <a:cs typeface="Trebuchet MS"/>
            </a:endParaRPr>
          </a:p>
          <a:p>
            <a:pPr marL="285750" marR="5080" indent="-273685">
              <a:lnSpc>
                <a:spcPct val="100000"/>
              </a:lnSpc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65" dirty="0">
                <a:latin typeface="Trebuchet MS"/>
                <a:cs typeface="Trebuchet MS"/>
              </a:rPr>
              <a:t>Data </a:t>
            </a:r>
            <a:r>
              <a:rPr sz="2000" spc="-110" dirty="0">
                <a:latin typeface="Trebuchet MS"/>
                <a:cs typeface="Trebuchet MS"/>
              </a:rPr>
              <a:t>extraction, </a:t>
            </a:r>
            <a:r>
              <a:rPr sz="2000" spc="-150" dirty="0">
                <a:latin typeface="Trebuchet MS"/>
                <a:cs typeface="Trebuchet MS"/>
              </a:rPr>
              <a:t>cleaning, </a:t>
            </a:r>
            <a:r>
              <a:rPr sz="2000" spc="-130" dirty="0">
                <a:latin typeface="Trebuchet MS"/>
                <a:cs typeface="Trebuchet MS"/>
              </a:rPr>
              <a:t>and </a:t>
            </a:r>
            <a:r>
              <a:rPr sz="2000" spc="-95" dirty="0">
                <a:latin typeface="Trebuchet MS"/>
                <a:cs typeface="Trebuchet MS"/>
              </a:rPr>
              <a:t>transformation </a:t>
            </a:r>
            <a:r>
              <a:rPr sz="2000" spc="-70" dirty="0">
                <a:latin typeface="Trebuchet MS"/>
                <a:cs typeface="Trebuchet MS"/>
              </a:rPr>
              <a:t>comprises </a:t>
            </a:r>
            <a:r>
              <a:rPr sz="2000" spc="-114" dirty="0">
                <a:latin typeface="Trebuchet MS"/>
                <a:cs typeface="Trebuchet MS"/>
              </a:rPr>
              <a:t>the </a:t>
            </a:r>
            <a:r>
              <a:rPr sz="2000" spc="-120" dirty="0">
                <a:latin typeface="Trebuchet MS"/>
                <a:cs typeface="Trebuchet MS"/>
              </a:rPr>
              <a:t>majority </a:t>
            </a:r>
            <a:r>
              <a:rPr sz="2000" spc="-105" dirty="0">
                <a:latin typeface="Trebuchet MS"/>
                <a:cs typeface="Trebuchet MS"/>
              </a:rPr>
              <a:t>of </a:t>
            </a:r>
            <a:r>
              <a:rPr sz="2000" spc="-114" dirty="0">
                <a:latin typeface="Trebuchet MS"/>
                <a:cs typeface="Trebuchet MS"/>
              </a:rPr>
              <a:t>the </a:t>
            </a:r>
            <a:r>
              <a:rPr sz="2000" spc="-59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w</a:t>
            </a:r>
            <a:r>
              <a:rPr sz="2000" dirty="0">
                <a:latin typeface="Trebuchet MS"/>
                <a:cs typeface="Trebuchet MS"/>
              </a:rPr>
              <a:t>ork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b</a:t>
            </a:r>
            <a:r>
              <a:rPr sz="2000" spc="-95" dirty="0">
                <a:latin typeface="Trebuchet MS"/>
                <a:cs typeface="Trebuchet MS"/>
              </a:rPr>
              <a:t>u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140" dirty="0">
                <a:latin typeface="Trebuchet MS"/>
                <a:cs typeface="Trebuchet MS"/>
              </a:rPr>
              <a:t>l</a:t>
            </a:r>
            <a:r>
              <a:rPr sz="2000" spc="-100" dirty="0">
                <a:latin typeface="Trebuchet MS"/>
                <a:cs typeface="Trebuchet MS"/>
              </a:rPr>
              <a:t>di</a:t>
            </a:r>
            <a:r>
              <a:rPr sz="2000" spc="-120" dirty="0">
                <a:latin typeface="Trebuchet MS"/>
                <a:cs typeface="Trebuchet MS"/>
              </a:rPr>
              <a:t>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wa</a:t>
            </a:r>
            <a:r>
              <a:rPr sz="2000" spc="-100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eh</a:t>
            </a:r>
            <a:r>
              <a:rPr sz="2000" spc="-60" dirty="0">
                <a:latin typeface="Trebuchet MS"/>
                <a:cs typeface="Trebuchet MS"/>
              </a:rPr>
              <a:t>ous</a:t>
            </a:r>
            <a:r>
              <a:rPr sz="2000" spc="-35" dirty="0">
                <a:latin typeface="Trebuchet MS"/>
                <a:cs typeface="Trebuchet MS"/>
              </a:rPr>
              <a:t>e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spc="535" dirty="0">
                <a:latin typeface="Trebuchet MS"/>
                <a:cs typeface="Trebuchet MS"/>
              </a:rPr>
              <a:t>—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Bi</a:t>
            </a:r>
            <a:r>
              <a:rPr sz="2000" spc="-70" dirty="0">
                <a:latin typeface="Trebuchet MS"/>
                <a:cs typeface="Trebuchet MS"/>
              </a:rPr>
              <a:t>l</a:t>
            </a:r>
            <a:r>
              <a:rPr sz="2000" spc="-150" dirty="0">
                <a:latin typeface="Trebuchet MS"/>
                <a:cs typeface="Trebuchet MS"/>
              </a:rPr>
              <a:t>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60" dirty="0">
                <a:latin typeface="Trebuchet MS"/>
                <a:cs typeface="Trebuchet MS"/>
              </a:rPr>
              <a:t>mon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1318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95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210"/>
            <a:ext cx="3169920" cy="26930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9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40" dirty="0">
                <a:latin typeface="Trebuchet MS"/>
                <a:cs typeface="Trebuchet MS"/>
              </a:rPr>
              <a:t>Ge</a:t>
            </a:r>
            <a:r>
              <a:rPr sz="2000" spc="-25" dirty="0">
                <a:latin typeface="Trebuchet MS"/>
                <a:cs typeface="Trebuchet MS"/>
              </a:rPr>
              <a:t>n</a:t>
            </a:r>
            <a:r>
              <a:rPr sz="2000" spc="-120" dirty="0">
                <a:latin typeface="Trebuchet MS"/>
                <a:cs typeface="Trebuchet MS"/>
              </a:rPr>
              <a:t>eral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chara</a:t>
            </a:r>
            <a:r>
              <a:rPr sz="2000" spc="-125" dirty="0">
                <a:latin typeface="Trebuchet MS"/>
                <a:cs typeface="Trebuchet MS"/>
              </a:rPr>
              <a:t>c</a:t>
            </a:r>
            <a:r>
              <a:rPr sz="2000" spc="-105" dirty="0">
                <a:latin typeface="Trebuchet MS"/>
                <a:cs typeface="Trebuchet MS"/>
              </a:rPr>
              <a:t>ter</a:t>
            </a:r>
            <a:r>
              <a:rPr sz="2000" spc="-65" dirty="0">
                <a:latin typeface="Trebuchet MS"/>
                <a:cs typeface="Trebuchet MS"/>
              </a:rPr>
              <a:t>i</a:t>
            </a:r>
            <a:r>
              <a:rPr sz="2000" spc="-85" dirty="0">
                <a:latin typeface="Trebuchet MS"/>
                <a:cs typeface="Trebuchet MS"/>
              </a:rPr>
              <a:t>s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ics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180" dirty="0">
                <a:latin typeface="Trebuchet MS"/>
                <a:cs typeface="Trebuchet MS"/>
              </a:rPr>
              <a:t>W</a:t>
            </a:r>
            <a:r>
              <a:rPr sz="2000" spc="40" dirty="0">
                <a:latin typeface="Trebuchet MS"/>
                <a:cs typeface="Trebuchet MS"/>
              </a:rPr>
              <a:t>h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ep</a:t>
            </a:r>
            <a:r>
              <a:rPr sz="2000" spc="-110" dirty="0">
                <a:latin typeface="Trebuchet MS"/>
                <a:cs typeface="Trebuchet MS"/>
              </a:rPr>
              <a:t>r</a:t>
            </a:r>
            <a:r>
              <a:rPr sz="2000" spc="-45" dirty="0">
                <a:latin typeface="Trebuchet MS"/>
                <a:cs typeface="Trebuchet MS"/>
              </a:rPr>
              <a:t>o</a:t>
            </a:r>
            <a:r>
              <a:rPr sz="2000" spc="-50" dirty="0">
                <a:latin typeface="Trebuchet MS"/>
                <a:cs typeface="Trebuchet MS"/>
              </a:rPr>
              <a:t>c</a:t>
            </a:r>
            <a:r>
              <a:rPr sz="2000" spc="-70" dirty="0">
                <a:latin typeface="Trebuchet MS"/>
                <a:cs typeface="Trebuchet MS"/>
              </a:rPr>
              <a:t>ess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da</a:t>
            </a:r>
            <a:r>
              <a:rPr sz="2000" spc="-130" dirty="0">
                <a:latin typeface="Trebuchet MS"/>
                <a:cs typeface="Trebuchet MS"/>
              </a:rPr>
              <a:t>ta?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Wingdings"/>
              <a:buChar char=""/>
              <a:tabLst>
                <a:tab pos="286385" algn="l"/>
              </a:tabLst>
            </a:pPr>
            <a:r>
              <a:rPr sz="2000" b="1" spc="85" dirty="0">
                <a:solidFill>
                  <a:srgbClr val="E36C09"/>
                </a:solidFill>
                <a:latin typeface="Trebuchet MS"/>
                <a:cs typeface="Trebuchet MS"/>
              </a:rPr>
              <a:t>Data</a:t>
            </a:r>
            <a:r>
              <a:rPr sz="2000" b="1" spc="-12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b="1" spc="-15" dirty="0">
                <a:solidFill>
                  <a:srgbClr val="E36C09"/>
                </a:solidFill>
                <a:latin typeface="Trebuchet MS"/>
                <a:cs typeface="Trebuchet MS"/>
              </a:rPr>
              <a:t>cleaning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tegra</a:t>
            </a:r>
            <a:r>
              <a:rPr sz="2000" spc="-120" dirty="0">
                <a:latin typeface="Trebuchet MS"/>
                <a:cs typeface="Trebuchet MS"/>
              </a:rPr>
              <a:t>t</a:t>
            </a:r>
            <a:r>
              <a:rPr sz="2000" spc="-70" dirty="0">
                <a:latin typeface="Trebuchet MS"/>
                <a:cs typeface="Trebuchet MS"/>
              </a:rPr>
              <a:t>ion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transf</a:t>
            </a:r>
            <a:r>
              <a:rPr sz="2000" spc="-85" dirty="0">
                <a:latin typeface="Trebuchet MS"/>
                <a:cs typeface="Trebuchet MS"/>
              </a:rPr>
              <a:t>orma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14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on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educt</a:t>
            </a:r>
            <a:r>
              <a:rPr sz="2000" spc="-70" dirty="0">
                <a:latin typeface="Trebuchet MS"/>
                <a:cs typeface="Trebuchet MS"/>
              </a:rPr>
              <a:t>ion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90" dirty="0">
                <a:latin typeface="Trebuchet MS"/>
                <a:cs typeface="Trebuchet MS"/>
              </a:rPr>
              <a:t>Summary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2499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50" dirty="0"/>
              <a:t>Data</a:t>
            </a:r>
            <a:r>
              <a:rPr spc="225" dirty="0"/>
              <a:t> </a:t>
            </a:r>
            <a:r>
              <a:rPr spc="204" dirty="0"/>
              <a:t>Cleaning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26388"/>
            <a:ext cx="7852409" cy="50819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254" dirty="0">
                <a:latin typeface="Trebuchet MS"/>
                <a:cs typeface="Trebuchet MS"/>
              </a:rPr>
              <a:t>T</a:t>
            </a:r>
            <a:r>
              <a:rPr sz="2000" spc="30" dirty="0">
                <a:latin typeface="Trebuchet MS"/>
                <a:cs typeface="Trebuchet MS"/>
              </a:rPr>
              <a:t>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clean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</a:t>
            </a:r>
            <a:r>
              <a:rPr sz="2000" spc="-165" dirty="0">
                <a:latin typeface="Trebuchet MS"/>
                <a:cs typeface="Trebuchet MS"/>
              </a:rPr>
              <a:t>r</a:t>
            </a:r>
            <a:r>
              <a:rPr sz="2000" spc="-130" dirty="0">
                <a:latin typeface="Trebuchet MS"/>
                <a:cs typeface="Trebuchet MS"/>
              </a:rPr>
              <a:t>om: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mplete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/missing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dirty="0">
                <a:solidFill>
                  <a:srgbClr val="1F487C"/>
                </a:solidFill>
                <a:latin typeface="Trebuchet MS"/>
                <a:cs typeface="Trebuchet MS"/>
              </a:rPr>
              <a:t>Noisy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consiste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80" dirty="0">
                <a:solidFill>
                  <a:srgbClr val="1F487C"/>
                </a:solidFill>
                <a:latin typeface="Trebuchet MS"/>
                <a:cs typeface="Trebuchet MS"/>
              </a:rPr>
              <a:t>/ou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ers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90" dirty="0">
                <a:latin typeface="Trebuchet MS"/>
                <a:cs typeface="Trebuchet MS"/>
              </a:rPr>
              <a:t>Importance</a:t>
            </a:r>
            <a:endParaRPr sz="2000" dirty="0">
              <a:latin typeface="Trebuchet MS"/>
              <a:cs typeface="Trebuchet MS"/>
            </a:endParaRPr>
          </a:p>
          <a:p>
            <a:pPr marL="561340" marR="1265555" lvl="1" indent="-274320">
              <a:lnSpc>
                <a:spcPct val="100000"/>
              </a:lnSpc>
              <a:spcBef>
                <a:spcPts val="509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35" dirty="0">
                <a:solidFill>
                  <a:srgbClr val="1F487C"/>
                </a:solidFill>
                <a:latin typeface="Trebuchet MS"/>
                <a:cs typeface="Trebuchet MS"/>
              </a:rPr>
              <a:t>“</a:t>
            </a:r>
            <a:r>
              <a:rPr sz="2000" spc="3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ata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clean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ng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one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est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ob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data 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wa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eh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ousin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000" spc="-190" dirty="0">
                <a:solidFill>
                  <a:srgbClr val="1F487C"/>
                </a:solidFill>
                <a:latin typeface="Trebuchet MS"/>
                <a:cs typeface="Trebuchet MS"/>
              </a:rPr>
              <a:t>”</a:t>
            </a:r>
            <a:r>
              <a:rPr sz="2000" spc="535" dirty="0">
                <a:solidFill>
                  <a:srgbClr val="1F487C"/>
                </a:solidFill>
                <a:latin typeface="Trebuchet MS"/>
                <a:cs typeface="Trebuchet MS"/>
              </a:rPr>
              <a:t>—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Ralph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20" dirty="0">
                <a:solidFill>
                  <a:srgbClr val="1F487C"/>
                </a:solidFill>
                <a:latin typeface="Trebuchet MS"/>
                <a:cs typeface="Trebuchet MS"/>
              </a:rPr>
              <a:t>K</a:t>
            </a:r>
            <a:r>
              <a:rPr sz="2000" spc="1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all</a:t>
            </a:r>
            <a:endParaRPr sz="2000" dirty="0">
              <a:latin typeface="Trebuchet MS"/>
              <a:cs typeface="Trebuchet MS"/>
            </a:endParaRPr>
          </a:p>
          <a:p>
            <a:pPr marL="561340" marR="5080" lvl="1" indent="-274320">
              <a:lnSpc>
                <a:spcPct val="100000"/>
              </a:lnSpc>
              <a:spcBef>
                <a:spcPts val="50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“Data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cleaning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is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number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one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problem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1F487C"/>
                </a:solidFill>
                <a:latin typeface="Trebuchet MS"/>
                <a:cs typeface="Trebuchet MS"/>
              </a:rPr>
              <a:t>warehousing”—DCI </a:t>
            </a:r>
            <a:r>
              <a:rPr sz="2000" spc="-5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survey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clean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ng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Fi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85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values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Identify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outliers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smooth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out 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noisy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13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11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1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ect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nsiste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Resolve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redundancy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caused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integration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2305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85" dirty="0"/>
              <a:t>Missing</a:t>
            </a:r>
            <a:r>
              <a:rPr spc="204" dirty="0"/>
              <a:t> </a:t>
            </a:r>
            <a:r>
              <a:rPr spc="250" dirty="0"/>
              <a:t>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26388"/>
            <a:ext cx="7762875" cy="36715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40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5" dirty="0">
                <a:latin typeface="Trebuchet MS"/>
                <a:cs typeface="Trebuchet MS"/>
              </a:rPr>
              <a:t>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not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25" dirty="0">
                <a:latin typeface="Trebuchet MS"/>
                <a:cs typeface="Trebuchet MS"/>
              </a:rPr>
              <a:t>a</a:t>
            </a:r>
            <a:r>
              <a:rPr sz="2000" spc="-150" dirty="0">
                <a:latin typeface="Trebuchet MS"/>
                <a:cs typeface="Trebuchet MS"/>
              </a:rPr>
              <a:t>lw</a:t>
            </a:r>
            <a:r>
              <a:rPr sz="2000" spc="-195" dirty="0">
                <a:latin typeface="Trebuchet MS"/>
                <a:cs typeface="Trebuchet MS"/>
              </a:rPr>
              <a:t>a</a:t>
            </a:r>
            <a:r>
              <a:rPr sz="2000" spc="-75" dirty="0">
                <a:latin typeface="Trebuchet MS"/>
                <a:cs typeface="Trebuchet MS"/>
              </a:rPr>
              <a:t>ys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8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vaila</a:t>
            </a:r>
            <a:r>
              <a:rPr sz="2000" spc="-180" dirty="0">
                <a:latin typeface="Trebuchet MS"/>
                <a:cs typeface="Trebuchet MS"/>
              </a:rPr>
              <a:t>b</a:t>
            </a:r>
            <a:r>
              <a:rPr sz="2000" spc="-150" dirty="0">
                <a:latin typeface="Trebuchet MS"/>
                <a:cs typeface="Trebuchet MS"/>
              </a:rPr>
              <a:t>le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220" dirty="0">
                <a:solidFill>
                  <a:srgbClr val="1F487C"/>
                </a:solidFill>
                <a:latin typeface="Trebuchet MS"/>
                <a:cs typeface="Trebuchet MS"/>
              </a:rPr>
              <a:t>E.g.,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many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tuples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have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no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recorded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value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for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several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attributes,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such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as</a:t>
            </a:r>
            <a:endParaRPr sz="2000">
              <a:latin typeface="Trebuchet MS"/>
              <a:cs typeface="Trebuchet MS"/>
            </a:endParaRPr>
          </a:p>
          <a:p>
            <a:pPr marL="561340">
              <a:lnSpc>
                <a:spcPct val="100000"/>
              </a:lnSpc>
            </a:pP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custom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er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come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le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20" dirty="0">
                <a:latin typeface="Trebuchet MS"/>
                <a:cs typeface="Trebuchet MS"/>
              </a:rPr>
              <a:t>Mis</a:t>
            </a:r>
            <a:r>
              <a:rPr sz="2000" spc="-25" dirty="0">
                <a:latin typeface="Trebuchet MS"/>
                <a:cs typeface="Trebuchet MS"/>
              </a:rPr>
              <a:t>s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d</a:t>
            </a:r>
            <a:r>
              <a:rPr sz="2000" spc="-114" dirty="0">
                <a:latin typeface="Trebuchet MS"/>
                <a:cs typeface="Trebuchet MS"/>
              </a:rPr>
              <a:t>ue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eq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ent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95" dirty="0">
                <a:solidFill>
                  <a:srgbClr val="1F487C"/>
                </a:solidFill>
                <a:latin typeface="Trebuchet MS"/>
                <a:cs typeface="Trebuchet MS"/>
              </a:rPr>
              <a:t>mal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inconsistent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with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other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recorded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thus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deleted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9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not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te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due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85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su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ders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tan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di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certain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may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not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considered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important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at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time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entry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not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egister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sto</a:t>
            </a:r>
            <a:r>
              <a:rPr sz="2000" spc="2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changes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20" dirty="0">
                <a:latin typeface="Trebuchet MS"/>
                <a:cs typeface="Trebuchet MS"/>
              </a:rPr>
              <a:t>Mis</a:t>
            </a:r>
            <a:r>
              <a:rPr sz="2000" spc="-25" dirty="0">
                <a:latin typeface="Trebuchet MS"/>
                <a:cs typeface="Trebuchet MS"/>
              </a:rPr>
              <a:t>s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need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be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n</a:t>
            </a:r>
            <a:r>
              <a:rPr sz="2000" spc="-260" dirty="0">
                <a:latin typeface="Trebuchet MS"/>
                <a:cs typeface="Trebuchet MS"/>
              </a:rPr>
              <a:t>f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5172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How</a:t>
            </a:r>
            <a:r>
              <a:rPr spc="280" dirty="0"/>
              <a:t> </a:t>
            </a:r>
            <a:r>
              <a:rPr spc="95" dirty="0"/>
              <a:t>to</a:t>
            </a:r>
            <a:r>
              <a:rPr spc="265" dirty="0"/>
              <a:t> </a:t>
            </a:r>
            <a:r>
              <a:rPr spc="195" dirty="0"/>
              <a:t>Handle</a:t>
            </a:r>
            <a:r>
              <a:rPr spc="285" dirty="0"/>
              <a:t> </a:t>
            </a:r>
            <a:r>
              <a:rPr spc="185" dirty="0"/>
              <a:t>Missing</a:t>
            </a:r>
            <a:r>
              <a:rPr spc="265" dirty="0"/>
              <a:t> Data?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89406"/>
            <a:ext cx="7811134" cy="3482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marR="207010" indent="-273685">
              <a:lnSpc>
                <a:spcPct val="100000"/>
              </a:lnSpc>
              <a:spcBef>
                <a:spcPts val="1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70" dirty="0">
                <a:latin typeface="Trebuchet MS"/>
                <a:cs typeface="Trebuchet MS"/>
              </a:rPr>
              <a:t>Ignore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the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tuple: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usually</a:t>
            </a:r>
            <a:r>
              <a:rPr sz="2000" spc="-75" dirty="0">
                <a:latin typeface="Trebuchet MS"/>
                <a:cs typeface="Trebuchet MS"/>
              </a:rPr>
              <a:t> done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when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class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label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missing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(when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doing 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clas</a:t>
            </a:r>
            <a:r>
              <a:rPr sz="2000" spc="-145" dirty="0">
                <a:latin typeface="Trebuchet MS"/>
                <a:cs typeface="Trebuchet MS"/>
              </a:rPr>
              <a:t>sif</a:t>
            </a:r>
            <a:r>
              <a:rPr sz="2000" spc="-11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c</a:t>
            </a:r>
            <a:r>
              <a:rPr sz="2000" spc="-170" dirty="0">
                <a:latin typeface="Trebuchet MS"/>
                <a:cs typeface="Trebuchet MS"/>
              </a:rPr>
              <a:t>a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</a:t>
            </a:r>
            <a:r>
              <a:rPr sz="2000" spc="-90" dirty="0">
                <a:latin typeface="Trebuchet MS"/>
                <a:cs typeface="Trebuchet MS"/>
              </a:rPr>
              <a:t>)</a:t>
            </a:r>
            <a:r>
              <a:rPr sz="2000" spc="535" dirty="0">
                <a:latin typeface="Trebuchet MS"/>
                <a:cs typeface="Trebuchet MS"/>
              </a:rPr>
              <a:t>—</a:t>
            </a:r>
            <a:r>
              <a:rPr sz="2000" spc="-30" dirty="0">
                <a:latin typeface="Trebuchet MS"/>
                <a:cs typeface="Trebuchet MS"/>
              </a:rPr>
              <a:t>n</a:t>
            </a:r>
            <a:r>
              <a:rPr sz="2000" spc="-40" dirty="0">
                <a:latin typeface="Trebuchet MS"/>
                <a:cs typeface="Trebuchet MS"/>
              </a:rPr>
              <a:t>o</a:t>
            </a:r>
            <a:r>
              <a:rPr sz="2000" spc="-125" dirty="0">
                <a:latin typeface="Trebuchet MS"/>
                <a:cs typeface="Trebuchet MS"/>
              </a:rPr>
              <a:t>t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220" dirty="0">
                <a:latin typeface="Trebuchet MS"/>
                <a:cs typeface="Trebuchet MS"/>
              </a:rPr>
              <a:t>ef</a:t>
            </a:r>
            <a:r>
              <a:rPr sz="2000" spc="-200" dirty="0">
                <a:latin typeface="Trebuchet MS"/>
                <a:cs typeface="Trebuchet MS"/>
              </a:rPr>
              <a:t>f</a:t>
            </a:r>
            <a:r>
              <a:rPr sz="2000" spc="-120" dirty="0">
                <a:latin typeface="Trebuchet MS"/>
                <a:cs typeface="Trebuchet MS"/>
              </a:rPr>
              <a:t>ecti</a:t>
            </a:r>
            <a:r>
              <a:rPr sz="2000" spc="-170" dirty="0">
                <a:latin typeface="Trebuchet MS"/>
                <a:cs typeface="Trebuchet MS"/>
              </a:rPr>
              <a:t>v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whe</a:t>
            </a:r>
            <a:r>
              <a:rPr sz="2000" spc="-85" dirty="0">
                <a:latin typeface="Trebuchet MS"/>
                <a:cs typeface="Trebuchet MS"/>
              </a:rPr>
              <a:t>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55" dirty="0">
                <a:latin typeface="Trebuchet MS"/>
                <a:cs typeface="Trebuchet MS"/>
              </a:rPr>
              <a:t>%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of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missin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16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l</a:t>
            </a:r>
            <a:r>
              <a:rPr sz="2000" spc="-155" dirty="0">
                <a:latin typeface="Trebuchet MS"/>
                <a:cs typeface="Trebuchet MS"/>
              </a:rPr>
              <a:t>u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per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attribute  </a:t>
            </a:r>
            <a:r>
              <a:rPr sz="2000" spc="-105" dirty="0">
                <a:latin typeface="Trebuchet MS"/>
                <a:cs typeface="Trebuchet MS"/>
              </a:rPr>
              <a:t>va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110" dirty="0">
                <a:latin typeface="Trebuchet MS"/>
                <a:cs typeface="Trebuchet MS"/>
              </a:rPr>
              <a:t>ie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considerab</a:t>
            </a:r>
            <a:r>
              <a:rPr sz="2000" spc="-80" dirty="0">
                <a:latin typeface="Trebuchet MS"/>
                <a:cs typeface="Trebuchet MS"/>
              </a:rPr>
              <a:t>l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50" dirty="0">
                <a:latin typeface="Trebuchet MS"/>
                <a:cs typeface="Trebuchet MS"/>
              </a:rPr>
              <a:t>Fi</a:t>
            </a:r>
            <a:r>
              <a:rPr sz="2000" spc="-105" dirty="0">
                <a:latin typeface="Trebuchet MS"/>
                <a:cs typeface="Trebuchet MS"/>
              </a:rPr>
              <a:t>l</a:t>
            </a:r>
            <a:r>
              <a:rPr sz="2000" spc="-155" dirty="0">
                <a:latin typeface="Trebuchet MS"/>
                <a:cs typeface="Trebuchet MS"/>
              </a:rPr>
              <a:t>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t</a:t>
            </a:r>
            <a:r>
              <a:rPr sz="2000" spc="-125" dirty="0">
                <a:latin typeface="Trebuchet MS"/>
                <a:cs typeface="Trebuchet MS"/>
              </a:rPr>
              <a:t>h</a:t>
            </a:r>
            <a:r>
              <a:rPr sz="2000" spc="-135" dirty="0">
                <a:latin typeface="Trebuchet MS"/>
                <a:cs typeface="Trebuchet MS"/>
              </a:rPr>
              <a:t>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85" dirty="0">
                <a:latin typeface="Trebuchet MS"/>
                <a:cs typeface="Trebuchet MS"/>
              </a:rPr>
              <a:t>m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40" dirty="0">
                <a:latin typeface="Trebuchet MS"/>
                <a:cs typeface="Trebuchet MS"/>
              </a:rPr>
              <a:t>s</a:t>
            </a:r>
            <a:r>
              <a:rPr sz="2000" spc="-50" dirty="0">
                <a:latin typeface="Trebuchet MS"/>
                <a:cs typeface="Trebuchet MS"/>
              </a:rPr>
              <a:t>s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150" dirty="0">
                <a:latin typeface="Trebuchet MS"/>
                <a:cs typeface="Trebuchet MS"/>
              </a:rPr>
              <a:t>g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value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ma</a:t>
            </a:r>
            <a:r>
              <a:rPr sz="2000" spc="-140" dirty="0">
                <a:latin typeface="Trebuchet MS"/>
                <a:cs typeface="Trebuchet MS"/>
              </a:rPr>
              <a:t>n</a:t>
            </a:r>
            <a:r>
              <a:rPr sz="2000" spc="-175" dirty="0">
                <a:latin typeface="Trebuchet MS"/>
                <a:cs typeface="Trebuchet MS"/>
              </a:rPr>
              <a:t>ua</a:t>
            </a:r>
            <a:r>
              <a:rPr sz="2000" spc="-90" dirty="0">
                <a:latin typeface="Trebuchet MS"/>
                <a:cs typeface="Trebuchet MS"/>
              </a:rPr>
              <a:t>l</a:t>
            </a:r>
            <a:r>
              <a:rPr sz="2000" spc="-175" dirty="0">
                <a:latin typeface="Trebuchet MS"/>
                <a:cs typeface="Trebuchet MS"/>
              </a:rPr>
              <a:t>l</a:t>
            </a:r>
            <a:r>
              <a:rPr sz="2000" spc="-204" dirty="0">
                <a:latin typeface="Trebuchet MS"/>
                <a:cs typeface="Trebuchet MS"/>
              </a:rPr>
              <a:t>y: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ted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35" dirty="0">
                <a:latin typeface="Trebuchet MS"/>
                <a:cs typeface="Trebuchet MS"/>
              </a:rPr>
              <a:t>ous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20" dirty="0">
                <a:latin typeface="Trebuchet MS"/>
                <a:cs typeface="Trebuchet MS"/>
              </a:rPr>
              <a:t>+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260" dirty="0">
                <a:latin typeface="Trebuchet MS"/>
                <a:cs typeface="Trebuchet MS"/>
              </a:rPr>
              <a:t>f</a:t>
            </a:r>
            <a:r>
              <a:rPr sz="2000" spc="-135" dirty="0">
                <a:latin typeface="Trebuchet MS"/>
                <a:cs typeface="Trebuchet MS"/>
              </a:rPr>
              <a:t>ea</a:t>
            </a:r>
            <a:r>
              <a:rPr sz="2000" spc="-114" dirty="0">
                <a:latin typeface="Trebuchet MS"/>
                <a:cs typeface="Trebuchet MS"/>
              </a:rPr>
              <a:t>s</a:t>
            </a:r>
            <a:r>
              <a:rPr sz="2000" spc="-90" dirty="0">
                <a:latin typeface="Trebuchet MS"/>
                <a:cs typeface="Trebuchet MS"/>
              </a:rPr>
              <a:t>i</a:t>
            </a:r>
            <a:r>
              <a:rPr sz="2000" spc="-160" dirty="0">
                <a:latin typeface="Trebuchet MS"/>
                <a:cs typeface="Trebuchet MS"/>
              </a:rPr>
              <a:t>b</a:t>
            </a:r>
            <a:r>
              <a:rPr sz="2000" spc="-125" dirty="0">
                <a:latin typeface="Trebuchet MS"/>
                <a:cs typeface="Trebuchet MS"/>
              </a:rPr>
              <a:t>le?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50" dirty="0">
                <a:latin typeface="Trebuchet MS"/>
                <a:cs typeface="Trebuchet MS"/>
              </a:rPr>
              <a:t>Fi</a:t>
            </a:r>
            <a:r>
              <a:rPr sz="2000" spc="-105" dirty="0">
                <a:latin typeface="Trebuchet MS"/>
                <a:cs typeface="Trebuchet MS"/>
              </a:rPr>
              <a:t>l</a:t>
            </a:r>
            <a:r>
              <a:rPr sz="2000" spc="-155" dirty="0">
                <a:latin typeface="Trebuchet MS"/>
                <a:cs typeface="Trebuchet MS"/>
              </a:rPr>
              <a:t>l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aut</a:t>
            </a:r>
            <a:r>
              <a:rPr sz="2000" spc="-110" dirty="0">
                <a:latin typeface="Trebuchet MS"/>
                <a:cs typeface="Trebuchet MS"/>
              </a:rPr>
              <a:t>omati</a:t>
            </a:r>
            <a:r>
              <a:rPr sz="2000" spc="-114" dirty="0">
                <a:latin typeface="Trebuchet MS"/>
                <a:cs typeface="Trebuchet MS"/>
              </a:rPr>
              <a:t>c</a:t>
            </a:r>
            <a:r>
              <a:rPr sz="2000" spc="-225" dirty="0">
                <a:latin typeface="Trebuchet MS"/>
                <a:cs typeface="Trebuchet MS"/>
              </a:rPr>
              <a:t>a</a:t>
            </a:r>
            <a:r>
              <a:rPr sz="2000" spc="-135" dirty="0">
                <a:latin typeface="Trebuchet MS"/>
                <a:cs typeface="Trebuchet MS"/>
              </a:rPr>
              <a:t>l</a:t>
            </a:r>
            <a:r>
              <a:rPr sz="2000" spc="-175" dirty="0">
                <a:latin typeface="Trebuchet MS"/>
                <a:cs typeface="Trebuchet MS"/>
              </a:rPr>
              <a:t>l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wi</a:t>
            </a:r>
            <a:r>
              <a:rPr sz="2000" spc="-80" dirty="0">
                <a:latin typeface="Trebuchet MS"/>
                <a:cs typeface="Trebuchet MS"/>
              </a:rPr>
              <a:t>t</a:t>
            </a:r>
            <a:r>
              <a:rPr sz="2000" spc="-95" dirty="0">
                <a:latin typeface="Trebuchet MS"/>
                <a:cs typeface="Trebuchet MS"/>
              </a:rPr>
              <a:t>h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95" dirty="0">
                <a:solidFill>
                  <a:srgbClr val="E36C09"/>
                </a:solidFill>
                <a:latin typeface="Trebuchet MS"/>
                <a:cs typeface="Trebuchet MS"/>
              </a:rPr>
              <a:t>a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E36C09"/>
                </a:solidFill>
                <a:latin typeface="Trebuchet MS"/>
                <a:cs typeface="Trebuchet MS"/>
              </a:rPr>
              <a:t>global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E36C09"/>
                </a:solidFill>
                <a:latin typeface="Trebuchet MS"/>
                <a:cs typeface="Trebuchet MS"/>
              </a:rPr>
              <a:t>c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o</a:t>
            </a:r>
            <a:r>
              <a:rPr sz="2000" spc="-114" dirty="0">
                <a:solidFill>
                  <a:srgbClr val="E36C09"/>
                </a:solidFill>
                <a:latin typeface="Trebuchet MS"/>
                <a:cs typeface="Trebuchet MS"/>
              </a:rPr>
              <a:t>nstant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:</a:t>
            </a:r>
            <a:r>
              <a:rPr sz="2000" spc="-2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270" dirty="0">
                <a:solidFill>
                  <a:srgbClr val="1F487C"/>
                </a:solidFill>
                <a:latin typeface="Trebuchet MS"/>
                <a:cs typeface="Trebuchet MS"/>
              </a:rPr>
              <a:t>.g.</a:t>
            </a:r>
            <a:r>
              <a:rPr sz="2000" spc="-24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4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“unk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180" dirty="0">
                <a:solidFill>
                  <a:srgbClr val="1F487C"/>
                </a:solidFill>
                <a:latin typeface="Trebuchet MS"/>
                <a:cs typeface="Trebuchet MS"/>
              </a:rPr>
              <a:t>wn”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9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clas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s?!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attr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bu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mean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4" dirty="0">
                <a:solidFill>
                  <a:srgbClr val="E36C09"/>
                </a:solidFill>
                <a:latin typeface="Trebuchet MS"/>
                <a:cs typeface="Trebuchet MS"/>
              </a:rPr>
              <a:t>the</a:t>
            </a:r>
            <a:r>
              <a:rPr sz="2000" spc="-6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E36C09"/>
                </a:solidFill>
                <a:latin typeface="Trebuchet MS"/>
                <a:cs typeface="Trebuchet MS"/>
              </a:rPr>
              <a:t>attribute</a:t>
            </a:r>
            <a:r>
              <a:rPr sz="2000" spc="-9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E36C09"/>
                </a:solidFill>
                <a:latin typeface="Trebuchet MS"/>
                <a:cs typeface="Trebuchet MS"/>
              </a:rPr>
              <a:t>mean</a:t>
            </a:r>
            <a:r>
              <a:rPr sz="2000" spc="-7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for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all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samples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belonging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same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class:</a:t>
            </a:r>
            <a:r>
              <a:rPr sz="2000" spc="-2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smarter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4" dirty="0">
                <a:solidFill>
                  <a:srgbClr val="E36C09"/>
                </a:solidFill>
                <a:latin typeface="Trebuchet MS"/>
                <a:cs typeface="Trebuchet MS"/>
              </a:rPr>
              <a:t>the</a:t>
            </a:r>
            <a:r>
              <a:rPr sz="2000" spc="-6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E36C09"/>
                </a:solidFill>
                <a:latin typeface="Trebuchet MS"/>
                <a:cs typeface="Trebuchet MS"/>
              </a:rPr>
              <a:t>most</a:t>
            </a:r>
            <a:r>
              <a:rPr sz="2000" spc="-7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E36C09"/>
                </a:solidFill>
                <a:latin typeface="Trebuchet MS"/>
                <a:cs typeface="Trebuchet MS"/>
              </a:rPr>
              <a:t>probable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E36C09"/>
                </a:solidFill>
                <a:latin typeface="Trebuchet MS"/>
                <a:cs typeface="Trebuchet MS"/>
              </a:rPr>
              <a:t>value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: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inference-based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such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as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Bayesian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formula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25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endParaRPr sz="2000" dirty="0">
              <a:latin typeface="Trebuchet MS"/>
              <a:cs typeface="Trebuchet MS"/>
            </a:endParaRPr>
          </a:p>
          <a:p>
            <a:pPr marL="561340">
              <a:lnSpc>
                <a:spcPct val="100000"/>
              </a:lnSpc>
              <a:spcBef>
                <a:spcPts val="5"/>
              </a:spcBef>
            </a:pP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decision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t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ee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5940" y="490473"/>
            <a:ext cx="7263130" cy="430887"/>
          </a:xfrm>
        </p:spPr>
        <p:txBody>
          <a:bodyPr/>
          <a:lstStyle/>
          <a:p>
            <a:r>
              <a:rPr lang="en-US" spc="195" dirty="0"/>
              <a:t>Handle</a:t>
            </a:r>
            <a:r>
              <a:rPr lang="en-US" spc="285" dirty="0"/>
              <a:t> </a:t>
            </a:r>
            <a:r>
              <a:rPr lang="en-US" spc="185" dirty="0"/>
              <a:t>Missing</a:t>
            </a:r>
            <a:r>
              <a:rPr lang="en-US" spc="265" dirty="0"/>
              <a:t> </a:t>
            </a:r>
            <a:r>
              <a:rPr lang="en-US" spc="265" dirty="0" smtClean="0"/>
              <a:t>Data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33981"/>
              </p:ext>
            </p:extLst>
          </p:nvPr>
        </p:nvGraphicFramePr>
        <p:xfrm>
          <a:off x="535940" y="1600200"/>
          <a:ext cx="7846060" cy="4267200"/>
        </p:xfrm>
        <a:graphic>
          <a:graphicData uri="http://schemas.openxmlformats.org/drawingml/2006/table">
            <a:tbl>
              <a:tblPr/>
              <a:tblGrid>
                <a:gridCol w="1790119">
                  <a:extLst>
                    <a:ext uri="{9D8B030D-6E8A-4147-A177-3AD203B41FA5}">
                      <a16:colId xmlns:a16="http://schemas.microsoft.com/office/drawing/2014/main" val="222989811"/>
                    </a:ext>
                  </a:extLst>
                </a:gridCol>
                <a:gridCol w="2018647">
                  <a:extLst>
                    <a:ext uri="{9D8B030D-6E8A-4147-A177-3AD203B41FA5}">
                      <a16:colId xmlns:a16="http://schemas.microsoft.com/office/drawing/2014/main" val="2233112575"/>
                    </a:ext>
                  </a:extLst>
                </a:gridCol>
                <a:gridCol w="2018647">
                  <a:extLst>
                    <a:ext uri="{9D8B030D-6E8A-4147-A177-3AD203B41FA5}">
                      <a16:colId xmlns:a16="http://schemas.microsoft.com/office/drawing/2014/main" val="3064743460"/>
                    </a:ext>
                  </a:extLst>
                </a:gridCol>
                <a:gridCol w="2018647">
                  <a:extLst>
                    <a:ext uri="{9D8B030D-6E8A-4147-A177-3AD203B41FA5}">
                      <a16:colId xmlns:a16="http://schemas.microsoft.com/office/drawing/2014/main" val="2042926732"/>
                    </a:ext>
                  </a:extLst>
                </a:gridCol>
              </a:tblGrid>
              <a:tr h="313885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effectLst/>
                          <a:latin typeface="quote-cjk-patch"/>
                        </a:rPr>
                        <a:t>Method</a:t>
                      </a: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effectLst/>
                          <a:latin typeface="quote-cjk-patch"/>
                        </a:rPr>
                        <a:t>Pros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effectLst/>
                          <a:latin typeface="quote-cjk-patch"/>
                        </a:rPr>
                        <a:t>Cons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effectLst/>
                          <a:latin typeface="quote-cjk-patch"/>
                        </a:rPr>
                        <a:t>Best For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7689"/>
                  </a:ext>
                </a:extLst>
              </a:tr>
              <a:tr h="777107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quote-cjk-patch"/>
                        </a:rPr>
                        <a:t>Ignore Tuple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Simple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Wastes data, can lose a lot of rows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Missing class labels, very few missing values</a:t>
                      </a:r>
                    </a:p>
                  </a:txBody>
                  <a:tcPr marL="60631" marR="45473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18639"/>
                  </a:ext>
                </a:extLst>
              </a:tr>
              <a:tr h="545496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quote-cjk-patch"/>
                        </a:rPr>
                        <a:t>Global Constant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quote-cjk-patch"/>
                        </a:rPr>
                        <a:t>Very simple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Can create false patterns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Quick prototypes</a:t>
                      </a:r>
                    </a:p>
                  </a:txBody>
                  <a:tcPr marL="60631" marR="45473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710197"/>
                  </a:ext>
                </a:extLst>
              </a:tr>
              <a:tr h="657678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quote-cjk-patch"/>
                        </a:rPr>
                        <a:t>Attribute Mean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Simple, preserves mean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quote-cjk-patch"/>
                        </a:rPr>
                        <a:t>Ignores correlations, reduces variance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quote-cjk-patch"/>
                        </a:rPr>
                        <a:t>Numerical data, low </a:t>
                      </a:r>
                      <a:r>
                        <a:rPr lang="en-US" sz="1400" b="0" dirty="0" err="1">
                          <a:effectLst/>
                          <a:latin typeface="quote-cjk-patch"/>
                        </a:rPr>
                        <a:t>missingness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60631" marR="45473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452207"/>
                  </a:ext>
                </a:extLst>
              </a:tr>
              <a:tr h="657678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quote-cjk-patch"/>
                        </a:rPr>
                        <a:t>Class-Based Mean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quote-cjk-patch"/>
                        </a:rPr>
                        <a:t>Smarter, uses label info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quote-cjk-patch"/>
                        </a:rPr>
                        <a:t>Still ignores other feature correlations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Classification problems</a:t>
                      </a:r>
                    </a:p>
                  </a:txBody>
                  <a:tcPr marL="60631" marR="45473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55166"/>
                  </a:ext>
                </a:extLst>
              </a:tr>
              <a:tr h="657678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quote-cjk-patch"/>
                        </a:rPr>
                        <a:t>Most Probable Value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Most accurate, uses all data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Complex, computationally heavy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Critical applications, large datasets</a:t>
                      </a:r>
                    </a:p>
                  </a:txBody>
                  <a:tcPr marL="60631" marR="45473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419452"/>
                  </a:ext>
                </a:extLst>
              </a:tr>
              <a:tr h="657678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quote-cjk-patch"/>
                        </a:rPr>
                        <a:t>Delete Attribute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45473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Removes a problematic feature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quote-cjk-patch"/>
                        </a:rPr>
                        <a:t>Loses all information in that column</a:t>
                      </a:r>
                    </a:p>
                  </a:txBody>
                  <a:tcPr marL="60631" marR="60631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quote-cjk-patch"/>
                        </a:rPr>
                        <a:t>Columns with a very high % of missing data</a:t>
                      </a:r>
                    </a:p>
                  </a:txBody>
                  <a:tcPr marL="60631" marR="45473" marT="37895" marB="378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3495923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571750" y="2519363"/>
            <a:ext cx="36957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800080"/>
                </a:solidFill>
                <a:effectLst/>
                <a:latin typeface="quote-cjk-patch"/>
              </a:rPr>
              <a:t/>
            </a:r>
            <a:b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rgbClr val="800080"/>
                </a:solidFill>
                <a:effectLst/>
                <a:latin typeface="quote-cjk-patch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63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F1B14A-B231-B82A-CDC5-2DB38CF045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28"/>
          <a:stretch/>
        </p:blipFill>
        <p:spPr>
          <a:xfrm>
            <a:off x="762000" y="228600"/>
            <a:ext cx="7162800" cy="635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0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135334"/>
              </p:ext>
            </p:extLst>
          </p:nvPr>
        </p:nvGraphicFramePr>
        <p:xfrm>
          <a:off x="535940" y="1143000"/>
          <a:ext cx="7922260" cy="5323564"/>
        </p:xfrm>
        <a:graphic>
          <a:graphicData uri="http://schemas.openxmlformats.org/drawingml/2006/table">
            <a:tbl>
              <a:tblPr/>
              <a:tblGrid>
                <a:gridCol w="1980565">
                  <a:extLst>
                    <a:ext uri="{9D8B030D-6E8A-4147-A177-3AD203B41FA5}">
                      <a16:colId xmlns:a16="http://schemas.microsoft.com/office/drawing/2014/main" val="83070011"/>
                    </a:ext>
                  </a:extLst>
                </a:gridCol>
                <a:gridCol w="1980565">
                  <a:extLst>
                    <a:ext uri="{9D8B030D-6E8A-4147-A177-3AD203B41FA5}">
                      <a16:colId xmlns:a16="http://schemas.microsoft.com/office/drawing/2014/main" val="776053213"/>
                    </a:ext>
                  </a:extLst>
                </a:gridCol>
                <a:gridCol w="1980565">
                  <a:extLst>
                    <a:ext uri="{9D8B030D-6E8A-4147-A177-3AD203B41FA5}">
                      <a16:colId xmlns:a16="http://schemas.microsoft.com/office/drawing/2014/main" val="3137378631"/>
                    </a:ext>
                  </a:extLst>
                </a:gridCol>
                <a:gridCol w="1980565">
                  <a:extLst>
                    <a:ext uri="{9D8B030D-6E8A-4147-A177-3AD203B41FA5}">
                      <a16:colId xmlns:a16="http://schemas.microsoft.com/office/drawing/2014/main" val="2217906319"/>
                    </a:ext>
                  </a:extLst>
                </a:gridCol>
              </a:tblGrid>
              <a:tr h="699626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effectLst/>
                          <a:latin typeface="quote-cjk-patch"/>
                        </a:rPr>
                        <a:t>Problem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  <a:latin typeface="quote-cjk-patch"/>
                        </a:rPr>
                        <a:t>Type of Issue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  <a:latin typeface="quote-cjk-patch"/>
                        </a:rPr>
                        <a:t>Why it's Problematic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effectLst/>
                          <a:latin typeface="quote-cjk-patch"/>
                        </a:rPr>
                        <a:t>Recommended Handling Method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092385"/>
                  </a:ext>
                </a:extLst>
              </a:tr>
              <a:tr h="89639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Inconsistent Salary (Row 1)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Data Entry Error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Skews averages and statistics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Verify and Correct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 or </a:t>
                      </a:r>
                      <a:r>
                        <a:rPr lang="en-US" sz="1600" b="1">
                          <a:effectLst/>
                          <a:latin typeface="quote-cjk-patch"/>
                        </a:rPr>
                        <a:t>Data Smoothing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50398" marR="37799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229770"/>
                  </a:ext>
                </a:extLst>
              </a:tr>
              <a:tr h="89639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Missing Context Values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Missing Data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Useless column; wastes resources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Delete the entire column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50398" marR="37799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335152"/>
                  </a:ext>
                </a:extLst>
              </a:tr>
              <a:tr h="89639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Non-Standardized Industry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Inconsistent Data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Causes incorrect grouping in analysis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Standardize values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 to a controlled vocabulary</a:t>
                      </a:r>
                    </a:p>
                  </a:txBody>
                  <a:tcPr marL="50398" marR="37799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91253"/>
                  </a:ext>
                </a:extLst>
              </a:tr>
              <a:tr h="89639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Redundant Timestamp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Irrelevant Data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Adds noise without analytical value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Delete the entire column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50398" marR="37799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40542"/>
                  </a:ext>
                </a:extLst>
              </a:tr>
              <a:tr h="896395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Single Age Bracket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Data Sufficiency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Makes analysis of age vs. salary impossible</a:t>
                      </a:r>
                    </a:p>
                  </a:txBody>
                  <a:tcPr marL="50398" marR="50398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  <a:latin typeface="quote-cjk-patch"/>
                        </a:rPr>
                        <a:t>Collect more data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 (not a cleaning task)</a:t>
                      </a:r>
                    </a:p>
                  </a:txBody>
                  <a:tcPr marL="50398" marR="37799" marT="31499" marB="314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9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38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1916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5" dirty="0"/>
              <a:t>Noisy</a:t>
            </a:r>
            <a:r>
              <a:rPr spc="220" dirty="0"/>
              <a:t> </a:t>
            </a:r>
            <a:r>
              <a:rPr spc="250" dirty="0"/>
              <a:t>Data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210"/>
            <a:ext cx="6016625" cy="411670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9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170" dirty="0">
                <a:solidFill>
                  <a:srgbClr val="E36C09"/>
                </a:solidFill>
                <a:latin typeface="Trebuchet MS"/>
                <a:cs typeface="Trebuchet MS"/>
              </a:rPr>
              <a:t>N</a:t>
            </a:r>
            <a:r>
              <a:rPr sz="2000" spc="135" dirty="0">
                <a:solidFill>
                  <a:srgbClr val="E36C09"/>
                </a:solidFill>
                <a:latin typeface="Trebuchet MS"/>
                <a:cs typeface="Trebuchet MS"/>
              </a:rPr>
              <a:t>o</a:t>
            </a:r>
            <a:r>
              <a:rPr sz="2000" spc="-160" dirty="0">
                <a:solidFill>
                  <a:srgbClr val="E36C09"/>
                </a:solidFill>
                <a:latin typeface="Trebuchet MS"/>
                <a:cs typeface="Trebuchet MS"/>
              </a:rPr>
              <a:t>ise</a:t>
            </a:r>
            <a:r>
              <a:rPr sz="2000" spc="-140" dirty="0">
                <a:solidFill>
                  <a:srgbClr val="E36C09"/>
                </a:solidFill>
                <a:latin typeface="Trebuchet MS"/>
                <a:cs typeface="Trebuchet MS"/>
              </a:rPr>
              <a:t>:</a:t>
            </a:r>
            <a:r>
              <a:rPr sz="2000" spc="-25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random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e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20" dirty="0">
                <a:latin typeface="Trebuchet MS"/>
                <a:cs typeface="Trebuchet MS"/>
              </a:rPr>
              <a:t>or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20" dirty="0">
                <a:latin typeface="Trebuchet MS"/>
                <a:cs typeface="Trebuchet MS"/>
              </a:rPr>
              <a:t>or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va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130" dirty="0">
                <a:latin typeface="Trebuchet MS"/>
                <a:cs typeface="Trebuchet MS"/>
              </a:rPr>
              <a:t>ia</a:t>
            </a:r>
            <a:r>
              <a:rPr sz="2000" spc="-165" dirty="0">
                <a:latin typeface="Trebuchet MS"/>
                <a:cs typeface="Trebuchet MS"/>
              </a:rPr>
              <a:t>n</a:t>
            </a:r>
            <a:r>
              <a:rPr sz="2000" spc="-125" dirty="0">
                <a:latin typeface="Trebuchet MS"/>
                <a:cs typeface="Trebuchet MS"/>
              </a:rPr>
              <a:t>ce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measu</a:t>
            </a:r>
            <a:r>
              <a:rPr sz="2000" spc="-110" dirty="0">
                <a:latin typeface="Trebuchet MS"/>
                <a:cs typeface="Trebuchet MS"/>
              </a:rPr>
              <a:t>r</a:t>
            </a:r>
            <a:r>
              <a:rPr sz="2000" spc="-114" dirty="0">
                <a:latin typeface="Trebuchet MS"/>
                <a:cs typeface="Trebuchet MS"/>
              </a:rPr>
              <a:t>ed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va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135" dirty="0">
                <a:latin typeface="Trebuchet MS"/>
                <a:cs typeface="Trebuchet MS"/>
              </a:rPr>
              <a:t>ia</a:t>
            </a:r>
            <a:r>
              <a:rPr sz="2000" spc="-175" dirty="0">
                <a:latin typeface="Trebuchet MS"/>
                <a:cs typeface="Trebuchet MS"/>
              </a:rPr>
              <a:t>b</a:t>
            </a:r>
            <a:r>
              <a:rPr sz="2000" spc="-150" dirty="0">
                <a:latin typeface="Trebuchet MS"/>
                <a:cs typeface="Trebuchet MS"/>
              </a:rPr>
              <a:t>le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40" dirty="0">
                <a:latin typeface="Trebuchet MS"/>
                <a:cs typeface="Trebuchet MS"/>
              </a:rPr>
              <a:t>c</a:t>
            </a:r>
            <a:r>
              <a:rPr sz="2000" spc="-55" dirty="0">
                <a:latin typeface="Trebuchet MS"/>
                <a:cs typeface="Trebuchet MS"/>
              </a:rPr>
              <a:t>o</a:t>
            </a:r>
            <a:r>
              <a:rPr sz="2000" spc="-15" dirty="0">
                <a:latin typeface="Trebuchet MS"/>
                <a:cs typeface="Trebuchet MS"/>
              </a:rPr>
              <a:t>r</a:t>
            </a:r>
            <a:r>
              <a:rPr sz="2000" spc="-25" dirty="0">
                <a:latin typeface="Trebuchet MS"/>
                <a:cs typeface="Trebuchet MS"/>
              </a:rPr>
              <a:t>r</a:t>
            </a:r>
            <a:r>
              <a:rPr sz="2000" spc="-125" dirty="0">
                <a:latin typeface="Trebuchet MS"/>
                <a:cs typeface="Trebuchet MS"/>
              </a:rPr>
              <a:t>ect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attri</a:t>
            </a:r>
            <a:r>
              <a:rPr sz="2000" spc="-145" dirty="0">
                <a:latin typeface="Trebuchet MS"/>
                <a:cs typeface="Trebuchet MS"/>
              </a:rPr>
              <a:t>b</a:t>
            </a:r>
            <a:r>
              <a:rPr sz="2000" spc="-100" dirty="0">
                <a:latin typeface="Trebuchet MS"/>
                <a:cs typeface="Trebuchet MS"/>
              </a:rPr>
              <a:t>u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16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l</a:t>
            </a:r>
            <a:r>
              <a:rPr sz="2000" spc="-155" dirty="0">
                <a:latin typeface="Trebuchet MS"/>
                <a:cs typeface="Trebuchet MS"/>
              </a:rPr>
              <a:t>u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90" dirty="0">
                <a:latin typeface="Trebuchet MS"/>
                <a:cs typeface="Trebuchet MS"/>
              </a:rPr>
              <a:t>m</a:t>
            </a:r>
            <a:r>
              <a:rPr sz="2000" spc="-210" dirty="0">
                <a:latin typeface="Trebuchet MS"/>
                <a:cs typeface="Trebuchet MS"/>
              </a:rPr>
              <a:t>a</a:t>
            </a:r>
            <a:r>
              <a:rPr sz="2000" spc="-110" dirty="0">
                <a:latin typeface="Trebuchet MS"/>
                <a:cs typeface="Trebuchet MS"/>
              </a:rPr>
              <a:t>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du</a:t>
            </a:r>
            <a:r>
              <a:rPr sz="2000" spc="-130" dirty="0">
                <a:latin typeface="Trebuchet MS"/>
                <a:cs typeface="Trebuchet MS"/>
              </a:rPr>
              <a:t>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t</a:t>
            </a:r>
            <a:r>
              <a:rPr sz="2000" spc="30" dirty="0">
                <a:latin typeface="Trebuchet MS"/>
                <a:cs typeface="Trebuchet MS"/>
              </a:rPr>
              <a:t>o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90" dirty="0">
                <a:solidFill>
                  <a:srgbClr val="1F487C"/>
                </a:solidFill>
                <a:latin typeface="Trebuchet MS"/>
                <a:cs typeface="Trebuchet MS"/>
              </a:rPr>
              <a:t>fau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ty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coll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ect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on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struments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ob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ems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transm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io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ob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tec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no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35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85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8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ion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consiste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cy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nam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ng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co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on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0" dirty="0">
                <a:latin typeface="Trebuchet MS"/>
                <a:cs typeface="Trebuchet MS"/>
              </a:rPr>
              <a:t>Other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problems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which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requires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data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cleaning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dup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te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ec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ds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complete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consiste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4782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How</a:t>
            </a:r>
            <a:r>
              <a:rPr spc="280" dirty="0"/>
              <a:t> </a:t>
            </a:r>
            <a:r>
              <a:rPr spc="95" dirty="0"/>
              <a:t>to</a:t>
            </a:r>
            <a:r>
              <a:rPr spc="265" dirty="0"/>
              <a:t> </a:t>
            </a:r>
            <a:r>
              <a:rPr spc="195" dirty="0"/>
              <a:t>Handle</a:t>
            </a:r>
            <a:r>
              <a:rPr spc="280" dirty="0"/>
              <a:t> </a:t>
            </a:r>
            <a:r>
              <a:rPr spc="125" dirty="0"/>
              <a:t>Noisy</a:t>
            </a:r>
            <a:r>
              <a:rPr spc="285" dirty="0"/>
              <a:t> </a:t>
            </a:r>
            <a:r>
              <a:rPr spc="265" dirty="0"/>
              <a:t>Data?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26388"/>
            <a:ext cx="7807325" cy="39903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00" dirty="0">
                <a:latin typeface="Trebuchet MS"/>
                <a:cs typeface="Trebuchet MS"/>
              </a:rPr>
              <a:t>Binning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first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sort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partition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into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(equal-frequency)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bins</a:t>
            </a:r>
            <a:endParaRPr sz="2000" dirty="0">
              <a:latin typeface="Trebuchet MS"/>
              <a:cs typeface="Trebuchet MS"/>
            </a:endParaRPr>
          </a:p>
          <a:p>
            <a:pPr marL="561340" marR="5080" lvl="1" indent="-274320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then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one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can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smooth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means,</a:t>
            </a:r>
            <a:r>
              <a:rPr sz="2000" spc="2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smooth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median,</a:t>
            </a:r>
            <a:r>
              <a:rPr sz="2000" spc="-2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smooth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by </a:t>
            </a:r>
            <a:r>
              <a:rPr sz="2000" spc="-5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bo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ndaries,</a:t>
            </a:r>
            <a:r>
              <a:rPr sz="2000" spc="-2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et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70" dirty="0">
                <a:latin typeface="Trebuchet MS"/>
                <a:cs typeface="Trebuchet MS"/>
              </a:rPr>
              <a:t>Regression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smooth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fitting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into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regression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functions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70" dirty="0">
                <a:latin typeface="Trebuchet MS"/>
                <a:cs typeface="Trebuchet MS"/>
              </a:rPr>
              <a:t>Clustering</a:t>
            </a:r>
            <a:endParaRPr sz="2000" dirty="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detect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em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ou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ers</a:t>
            </a:r>
            <a:endParaRPr sz="2000" dirty="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135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o</a:t>
            </a:r>
            <a:r>
              <a:rPr sz="2000" spc="-150" dirty="0">
                <a:latin typeface="Trebuchet MS"/>
                <a:cs typeface="Trebuchet MS"/>
              </a:rPr>
              <a:t>mb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05" dirty="0">
                <a:latin typeface="Trebuchet MS"/>
                <a:cs typeface="Trebuchet MS"/>
              </a:rPr>
              <a:t>ned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c</a:t>
            </a:r>
            <a:r>
              <a:rPr sz="2000" spc="-55" dirty="0">
                <a:latin typeface="Trebuchet MS"/>
                <a:cs typeface="Trebuchet MS"/>
              </a:rPr>
              <a:t>o</a:t>
            </a:r>
            <a:r>
              <a:rPr sz="2000" spc="-114" dirty="0">
                <a:latin typeface="Trebuchet MS"/>
                <a:cs typeface="Trebuchet MS"/>
              </a:rPr>
              <a:t>mp</a:t>
            </a:r>
            <a:r>
              <a:rPr sz="2000" spc="-8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ter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h</a:t>
            </a:r>
            <a:r>
              <a:rPr sz="2000" spc="-85" dirty="0">
                <a:latin typeface="Trebuchet MS"/>
                <a:cs typeface="Trebuchet MS"/>
              </a:rPr>
              <a:t>u</a:t>
            </a:r>
            <a:r>
              <a:rPr sz="2000" spc="-135" dirty="0">
                <a:latin typeface="Trebuchet MS"/>
                <a:cs typeface="Trebuchet MS"/>
              </a:rPr>
              <a:t>man</a:t>
            </a:r>
            <a:r>
              <a:rPr sz="2000" spc="-85" dirty="0">
                <a:latin typeface="Trebuchet MS"/>
                <a:cs typeface="Trebuchet MS"/>
              </a:rPr>
              <a:t> i</a:t>
            </a:r>
            <a:r>
              <a:rPr sz="2000" spc="-140" dirty="0">
                <a:latin typeface="Trebuchet MS"/>
                <a:cs typeface="Trebuchet MS"/>
              </a:rPr>
              <a:t>n</a:t>
            </a:r>
            <a:r>
              <a:rPr sz="2000" spc="-90" dirty="0">
                <a:latin typeface="Trebuchet MS"/>
                <a:cs typeface="Trebuchet MS"/>
              </a:rPr>
              <a:t>spection</a:t>
            </a:r>
            <a:endParaRPr sz="2000" dirty="0">
              <a:latin typeface="Trebuchet MS"/>
              <a:cs typeface="Trebuchet MS"/>
            </a:endParaRPr>
          </a:p>
          <a:p>
            <a:pPr marL="561340" marR="196850" lvl="1" indent="-274320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detect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suspicious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values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check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human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210" dirty="0">
                <a:solidFill>
                  <a:srgbClr val="1F487C"/>
                </a:solidFill>
                <a:latin typeface="Trebuchet MS"/>
                <a:cs typeface="Trebuchet MS"/>
              </a:rPr>
              <a:t>(e.g.,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deal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with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possible </a:t>
            </a:r>
            <a:r>
              <a:rPr sz="2000" spc="-5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outliers)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7064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85" dirty="0"/>
              <a:t>Simple</a:t>
            </a:r>
            <a:r>
              <a:rPr spc="280" dirty="0"/>
              <a:t> </a:t>
            </a:r>
            <a:r>
              <a:rPr spc="150" dirty="0"/>
              <a:t>Discretization</a:t>
            </a:r>
            <a:r>
              <a:rPr spc="270" dirty="0"/>
              <a:t> </a:t>
            </a:r>
            <a:r>
              <a:rPr spc="185" dirty="0"/>
              <a:t>Methods</a:t>
            </a:r>
            <a:r>
              <a:rPr spc="280" dirty="0"/>
              <a:t> </a:t>
            </a:r>
            <a:r>
              <a:rPr spc="185" dirty="0"/>
              <a:t>-</a:t>
            </a:r>
            <a:r>
              <a:rPr spc="285" dirty="0"/>
              <a:t> </a:t>
            </a:r>
            <a:r>
              <a:rPr spc="204" dirty="0"/>
              <a:t>Binning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26388"/>
            <a:ext cx="8016875" cy="396430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90" dirty="0">
                <a:latin typeface="Trebuchet MS"/>
                <a:cs typeface="Trebuchet MS"/>
              </a:rPr>
              <a:t>E</a:t>
            </a:r>
            <a:r>
              <a:rPr sz="2000" spc="-85" dirty="0">
                <a:latin typeface="Trebuchet MS"/>
                <a:cs typeface="Trebuchet MS"/>
              </a:rPr>
              <a:t>q</a:t>
            </a:r>
            <a:r>
              <a:rPr sz="2000" spc="-175" dirty="0">
                <a:latin typeface="Trebuchet MS"/>
                <a:cs typeface="Trebuchet MS"/>
              </a:rPr>
              <a:t>ua</a:t>
            </a:r>
            <a:r>
              <a:rPr sz="2000" spc="-90" dirty="0">
                <a:latin typeface="Trebuchet MS"/>
                <a:cs typeface="Trebuchet MS"/>
              </a:rPr>
              <a:t>l-</a:t>
            </a:r>
            <a:r>
              <a:rPr sz="2000" spc="-105" dirty="0">
                <a:latin typeface="Trebuchet MS"/>
                <a:cs typeface="Trebuchet MS"/>
              </a:rPr>
              <a:t>widt</a:t>
            </a:r>
            <a:r>
              <a:rPr sz="2000" spc="-110" dirty="0">
                <a:latin typeface="Trebuchet MS"/>
                <a:cs typeface="Trebuchet MS"/>
              </a:rPr>
              <a:t>h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(dista</a:t>
            </a:r>
            <a:r>
              <a:rPr sz="2000" spc="-130" dirty="0">
                <a:latin typeface="Trebuchet MS"/>
                <a:cs typeface="Trebuchet MS"/>
              </a:rPr>
              <a:t>n</a:t>
            </a:r>
            <a:r>
              <a:rPr sz="2000" spc="-110" dirty="0">
                <a:latin typeface="Trebuchet MS"/>
                <a:cs typeface="Trebuchet MS"/>
              </a:rPr>
              <a:t>ce)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pa</a:t>
            </a:r>
            <a:r>
              <a:rPr sz="2000" spc="-50" dirty="0">
                <a:latin typeface="Trebuchet MS"/>
                <a:cs typeface="Trebuchet MS"/>
              </a:rPr>
              <a:t>r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75" dirty="0">
                <a:latin typeface="Trebuchet MS"/>
                <a:cs typeface="Trebuchet MS"/>
              </a:rPr>
              <a:t>tio</a:t>
            </a:r>
            <a:r>
              <a:rPr sz="2000" spc="-110" dirty="0">
                <a:latin typeface="Trebuchet MS"/>
                <a:cs typeface="Trebuchet MS"/>
              </a:rPr>
              <a:t>n</a:t>
            </a:r>
            <a:r>
              <a:rPr sz="2000" spc="-130" dirty="0">
                <a:latin typeface="Trebuchet MS"/>
                <a:cs typeface="Trebuchet MS"/>
              </a:rPr>
              <a:t>ing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Divides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range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into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29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intervals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equal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size:</a:t>
            </a:r>
            <a:r>
              <a:rPr sz="2000" spc="-2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uniform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1F487C"/>
                </a:solidFill>
                <a:latin typeface="Trebuchet MS"/>
                <a:cs typeface="Trebuchet MS"/>
              </a:rPr>
              <a:t>grid</a:t>
            </a:r>
            <a:endParaRPr sz="2000">
              <a:latin typeface="Trebuchet MS"/>
              <a:cs typeface="Trebuchet MS"/>
            </a:endParaRPr>
          </a:p>
          <a:p>
            <a:pPr marL="561340" marR="5080" lvl="1" indent="-274320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90" dirty="0">
                <a:solidFill>
                  <a:srgbClr val="1F487C"/>
                </a:solidFill>
                <a:latin typeface="Trebuchet MS"/>
                <a:cs typeface="Trebuchet MS"/>
              </a:rPr>
              <a:t>if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15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are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lowest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highest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values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0" dirty="0">
                <a:solidFill>
                  <a:srgbClr val="1F487C"/>
                </a:solidFill>
                <a:latin typeface="Trebuchet MS"/>
                <a:cs typeface="Trebuchet MS"/>
              </a:rPr>
              <a:t>attribute,</a:t>
            </a:r>
            <a:r>
              <a:rPr sz="2000" spc="-2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width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 </a:t>
            </a:r>
            <a:r>
              <a:rPr sz="2000" spc="-5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te</a:t>
            </a:r>
            <a:r>
              <a:rPr sz="2000" spc="-1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vals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wi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000" spc="-195" dirty="0">
                <a:solidFill>
                  <a:srgbClr val="1F487C"/>
                </a:solidFill>
                <a:latin typeface="Trebuchet MS"/>
                <a:cs typeface="Trebuchet MS"/>
              </a:rPr>
              <a:t>:</a:t>
            </a:r>
            <a:r>
              <a:rPr sz="2000" spc="38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120" dirty="0">
                <a:solidFill>
                  <a:srgbClr val="1F487C"/>
                </a:solidFill>
                <a:latin typeface="Trebuchet MS"/>
                <a:cs typeface="Trebuchet MS"/>
              </a:rPr>
              <a:t>=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(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B </a:t>
            </a:r>
            <a:r>
              <a:rPr sz="2000" spc="270" dirty="0">
                <a:solidFill>
                  <a:srgbClr val="1F487C"/>
                </a:solidFill>
                <a:latin typeface="Trebuchet MS"/>
                <a:cs typeface="Trebuchet MS"/>
              </a:rPr>
              <a:t>–</a:t>
            </a:r>
            <a:r>
              <a:rPr sz="2000" spc="-30" dirty="0">
                <a:solidFill>
                  <a:srgbClr val="1F487C"/>
                </a:solidFill>
                <a:latin typeface="Trebuchet MS"/>
                <a:cs typeface="Trebuchet MS"/>
              </a:rPr>
              <a:t>A)/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most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straightforward,</a:t>
            </a:r>
            <a:r>
              <a:rPr sz="2000" spc="-2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but</a:t>
            </a:r>
            <a:r>
              <a:rPr sz="20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outliers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may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dominate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presentation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k</a:t>
            </a:r>
            <a:r>
              <a:rPr sz="2000" spc="-1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da</a:t>
            </a:r>
            <a:r>
              <a:rPr sz="2000" spc="-160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not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handl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ell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14" dirty="0">
                <a:latin typeface="Trebuchet MS"/>
                <a:cs typeface="Trebuchet MS"/>
              </a:rPr>
              <a:t>Equal-depth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(frequency)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partitioning</a:t>
            </a:r>
            <a:endParaRPr sz="2000">
              <a:latin typeface="Trebuchet MS"/>
              <a:cs typeface="Trebuchet MS"/>
            </a:endParaRPr>
          </a:p>
          <a:p>
            <a:pPr marL="561340" marR="173355" lvl="1" indent="-274320">
              <a:lnSpc>
                <a:spcPct val="100000"/>
              </a:lnSpc>
              <a:spcBef>
                <a:spcPts val="50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Divides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range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into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28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intervals,</a:t>
            </a:r>
            <a:r>
              <a:rPr sz="2000" spc="-2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each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containing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approximately</a:t>
            </a:r>
            <a:r>
              <a:rPr sz="20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same </a:t>
            </a:r>
            <a:r>
              <a:rPr sz="2000" spc="-5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000" spc="1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0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000" spc="-14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000" spc="-114" dirty="0">
                <a:solidFill>
                  <a:srgbClr val="1F487C"/>
                </a:solidFill>
                <a:latin typeface="Trebuchet MS"/>
                <a:cs typeface="Trebuchet MS"/>
              </a:rPr>
              <a:t>les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20" dirty="0">
                <a:solidFill>
                  <a:srgbClr val="1F487C"/>
                </a:solidFill>
                <a:latin typeface="Trebuchet MS"/>
                <a:cs typeface="Trebuchet MS"/>
              </a:rPr>
              <a:t>Good</a:t>
            </a: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0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sc</a:t>
            </a:r>
            <a:r>
              <a:rPr sz="2000" spc="-14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000" spc="-15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ng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Managing</a:t>
            </a:r>
            <a:r>
              <a:rPr sz="20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1F487C"/>
                </a:solidFill>
                <a:latin typeface="Trebuchet MS"/>
                <a:cs typeface="Trebuchet MS"/>
              </a:rPr>
              <a:t>categorical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1F487C"/>
                </a:solidFill>
                <a:latin typeface="Trebuchet MS"/>
                <a:cs typeface="Trebuchet MS"/>
              </a:rPr>
              <a:t>attributes</a:t>
            </a: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1F487C"/>
                </a:solidFill>
                <a:latin typeface="Trebuchet MS"/>
                <a:cs typeface="Trebuchet MS"/>
              </a:rPr>
              <a:t>can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1F487C"/>
                </a:solidFill>
                <a:latin typeface="Trebuchet MS"/>
                <a:cs typeface="Trebuchet MS"/>
              </a:rPr>
              <a:t>tricky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6510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04" dirty="0"/>
              <a:t>Binning</a:t>
            </a:r>
            <a:r>
              <a:rPr spc="280" dirty="0"/>
              <a:t> </a:t>
            </a:r>
            <a:r>
              <a:rPr spc="185" dirty="0"/>
              <a:t>Methods</a:t>
            </a:r>
            <a:r>
              <a:rPr spc="265" dirty="0"/>
              <a:t> </a:t>
            </a:r>
            <a:r>
              <a:rPr spc="65" dirty="0"/>
              <a:t>for</a:t>
            </a:r>
            <a:r>
              <a:rPr spc="270" dirty="0"/>
              <a:t> </a:t>
            </a:r>
            <a:r>
              <a:rPr spc="250" dirty="0"/>
              <a:t>Data</a:t>
            </a:r>
            <a:r>
              <a:rPr spc="275" dirty="0"/>
              <a:t> </a:t>
            </a:r>
            <a:r>
              <a:rPr spc="195" dirty="0"/>
              <a:t>Smoothing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4210"/>
            <a:ext cx="4484370" cy="52463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69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0" dirty="0">
                <a:solidFill>
                  <a:srgbClr val="E36C09"/>
                </a:solidFill>
                <a:latin typeface="Trebuchet MS"/>
                <a:cs typeface="Trebuchet MS"/>
              </a:rPr>
              <a:t>S</a:t>
            </a:r>
            <a:r>
              <a:rPr sz="2000" spc="-20" dirty="0">
                <a:solidFill>
                  <a:srgbClr val="E36C09"/>
                </a:solidFill>
                <a:latin typeface="Trebuchet MS"/>
                <a:cs typeface="Trebuchet MS"/>
              </a:rPr>
              <a:t>o</a:t>
            </a:r>
            <a:r>
              <a:rPr sz="2000" spc="45" dirty="0">
                <a:solidFill>
                  <a:srgbClr val="E36C09"/>
                </a:solidFill>
                <a:latin typeface="Trebuchet MS"/>
                <a:cs typeface="Trebuchet MS"/>
              </a:rPr>
              <a:t>r</a:t>
            </a:r>
            <a:r>
              <a:rPr sz="2000" spc="-120" dirty="0">
                <a:solidFill>
                  <a:srgbClr val="E36C09"/>
                </a:solidFill>
                <a:latin typeface="Trebuchet MS"/>
                <a:cs typeface="Trebuchet MS"/>
              </a:rPr>
              <a:t>ted</a:t>
            </a:r>
            <a:r>
              <a:rPr sz="2000" spc="-6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55" dirty="0">
                <a:solidFill>
                  <a:srgbClr val="E36C09"/>
                </a:solidFill>
                <a:latin typeface="Trebuchet MS"/>
                <a:cs typeface="Trebuchet MS"/>
              </a:rPr>
              <a:t>data</a:t>
            </a:r>
            <a:r>
              <a:rPr sz="2000" spc="-7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260" dirty="0">
                <a:solidFill>
                  <a:srgbClr val="E36C09"/>
                </a:solidFill>
                <a:latin typeface="Trebuchet MS"/>
                <a:cs typeface="Trebuchet MS"/>
              </a:rPr>
              <a:t>f</a:t>
            </a:r>
            <a:r>
              <a:rPr sz="2000" spc="20" dirty="0">
                <a:solidFill>
                  <a:srgbClr val="E36C09"/>
                </a:solidFill>
                <a:latin typeface="Trebuchet MS"/>
                <a:cs typeface="Trebuchet MS"/>
              </a:rPr>
              <a:t>or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E36C09"/>
                </a:solidFill>
                <a:latin typeface="Trebuchet MS"/>
                <a:cs typeface="Trebuchet MS"/>
              </a:rPr>
              <a:t>pr</a:t>
            </a:r>
            <a:r>
              <a:rPr sz="2000" spc="-50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125" dirty="0">
                <a:solidFill>
                  <a:srgbClr val="E36C09"/>
                </a:solidFill>
                <a:latin typeface="Trebuchet MS"/>
                <a:cs typeface="Trebuchet MS"/>
              </a:rPr>
              <a:t>ce</a:t>
            </a:r>
            <a:r>
              <a:rPr sz="2000" spc="-8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E36C09"/>
                </a:solidFill>
                <a:latin typeface="Trebuchet MS"/>
                <a:cs typeface="Trebuchet MS"/>
              </a:rPr>
              <a:t>(i</a:t>
            </a:r>
            <a:r>
              <a:rPr sz="2000" spc="-145" dirty="0">
                <a:solidFill>
                  <a:srgbClr val="E36C09"/>
                </a:solidFill>
                <a:latin typeface="Trebuchet MS"/>
                <a:cs typeface="Trebuchet MS"/>
              </a:rPr>
              <a:t>n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E36C09"/>
                </a:solidFill>
                <a:latin typeface="Trebuchet MS"/>
                <a:cs typeface="Trebuchet MS"/>
              </a:rPr>
              <a:t>dollars):</a:t>
            </a:r>
            <a:endParaRPr sz="2000">
              <a:latin typeface="Trebuchet MS"/>
              <a:cs typeface="Trebuchet MS"/>
            </a:endParaRPr>
          </a:p>
          <a:p>
            <a:pPr marL="704850">
              <a:lnSpc>
                <a:spcPct val="100000"/>
              </a:lnSpc>
              <a:spcBef>
                <a:spcPts val="600"/>
              </a:spcBef>
            </a:pPr>
            <a:r>
              <a:rPr sz="2000" spc="-175" dirty="0">
                <a:latin typeface="Trebuchet MS"/>
                <a:cs typeface="Trebuchet MS"/>
              </a:rPr>
              <a:t>4,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8,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9,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15,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21,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21,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24,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25,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26,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28,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29,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34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5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105" dirty="0">
                <a:solidFill>
                  <a:srgbClr val="E36C09"/>
                </a:solidFill>
                <a:latin typeface="Trebuchet MS"/>
                <a:cs typeface="Trebuchet MS"/>
              </a:rPr>
              <a:t>Pa</a:t>
            </a:r>
            <a:r>
              <a:rPr sz="2000" spc="-50" dirty="0">
                <a:solidFill>
                  <a:srgbClr val="E36C09"/>
                </a:solidFill>
                <a:latin typeface="Trebuchet MS"/>
                <a:cs typeface="Trebuchet MS"/>
              </a:rPr>
              <a:t>r</a:t>
            </a:r>
            <a:r>
              <a:rPr sz="2000" spc="-150" dirty="0">
                <a:solidFill>
                  <a:srgbClr val="E36C09"/>
                </a:solidFill>
                <a:latin typeface="Trebuchet MS"/>
                <a:cs typeface="Trebuchet MS"/>
              </a:rPr>
              <a:t>t</a:t>
            </a:r>
            <a:r>
              <a:rPr sz="2000" spc="-10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150" dirty="0">
                <a:solidFill>
                  <a:srgbClr val="E36C09"/>
                </a:solidFill>
                <a:latin typeface="Trebuchet MS"/>
                <a:cs typeface="Trebuchet MS"/>
              </a:rPr>
              <a:t>t</a:t>
            </a:r>
            <a:r>
              <a:rPr sz="2000" spc="-10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30" dirty="0">
                <a:solidFill>
                  <a:srgbClr val="E36C09"/>
                </a:solidFill>
                <a:latin typeface="Trebuchet MS"/>
                <a:cs typeface="Trebuchet MS"/>
              </a:rPr>
              <a:t>on</a:t>
            </a:r>
            <a:r>
              <a:rPr sz="2000" spc="-9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E36C09"/>
                </a:solidFill>
                <a:latin typeface="Trebuchet MS"/>
                <a:cs typeface="Trebuchet MS"/>
              </a:rPr>
              <a:t>n</a:t>
            </a:r>
            <a:r>
              <a:rPr sz="2000" spc="-50" dirty="0">
                <a:solidFill>
                  <a:srgbClr val="E36C09"/>
                </a:solidFill>
                <a:latin typeface="Trebuchet MS"/>
                <a:cs typeface="Trebuchet MS"/>
              </a:rPr>
              <a:t>to</a:t>
            </a:r>
            <a:r>
              <a:rPr sz="2000" spc="-7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(</a:t>
            </a:r>
            <a:r>
              <a:rPr sz="2000" spc="-125" dirty="0">
                <a:solidFill>
                  <a:srgbClr val="E36C09"/>
                </a:solidFill>
                <a:latin typeface="Trebuchet MS"/>
                <a:cs typeface="Trebuchet MS"/>
              </a:rPr>
              <a:t>e</a:t>
            </a:r>
            <a:r>
              <a:rPr sz="2000" spc="-120" dirty="0">
                <a:solidFill>
                  <a:srgbClr val="E36C09"/>
                </a:solidFill>
                <a:latin typeface="Trebuchet MS"/>
                <a:cs typeface="Trebuchet MS"/>
              </a:rPr>
              <a:t>q</a:t>
            </a:r>
            <a:r>
              <a:rPr sz="2000" spc="-90" dirty="0">
                <a:solidFill>
                  <a:srgbClr val="E36C09"/>
                </a:solidFill>
                <a:latin typeface="Trebuchet MS"/>
                <a:cs typeface="Trebuchet MS"/>
              </a:rPr>
              <a:t>u</a:t>
            </a:r>
            <a:r>
              <a:rPr sz="2000" spc="-130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90" dirty="0">
                <a:solidFill>
                  <a:srgbClr val="E36C09"/>
                </a:solidFill>
                <a:latin typeface="Trebuchet MS"/>
                <a:cs typeface="Trebuchet MS"/>
              </a:rPr>
              <a:t>-</a:t>
            </a:r>
            <a:r>
              <a:rPr sz="2000" spc="-125" dirty="0">
                <a:solidFill>
                  <a:srgbClr val="E36C09"/>
                </a:solidFill>
                <a:latin typeface="Trebuchet MS"/>
                <a:cs typeface="Trebuchet MS"/>
              </a:rPr>
              <a:t>dep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t</a:t>
            </a:r>
            <a:r>
              <a:rPr sz="2000" spc="-90" dirty="0">
                <a:solidFill>
                  <a:srgbClr val="E36C09"/>
                </a:solidFill>
                <a:latin typeface="Trebuchet MS"/>
                <a:cs typeface="Trebuchet MS"/>
              </a:rPr>
              <a:t>h)</a:t>
            </a:r>
            <a:r>
              <a:rPr sz="2000" spc="-8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E36C09"/>
                </a:solidFill>
                <a:latin typeface="Trebuchet MS"/>
                <a:cs typeface="Trebuchet MS"/>
              </a:rPr>
              <a:t>4</a:t>
            </a:r>
            <a:r>
              <a:rPr sz="2000" spc="-6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E36C09"/>
                </a:solidFill>
                <a:latin typeface="Trebuchet MS"/>
                <a:cs typeface="Trebuchet MS"/>
              </a:rPr>
              <a:t>b</a:t>
            </a:r>
            <a:r>
              <a:rPr sz="2000" spc="-7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145" dirty="0">
                <a:solidFill>
                  <a:srgbClr val="E36C09"/>
                </a:solidFill>
                <a:latin typeface="Trebuchet MS"/>
                <a:cs typeface="Trebuchet MS"/>
              </a:rPr>
              <a:t>ns: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1: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4,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8,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9,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15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2: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1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1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4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25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3: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6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8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34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25" dirty="0">
                <a:solidFill>
                  <a:srgbClr val="E36C09"/>
                </a:solidFill>
                <a:latin typeface="Trebuchet MS"/>
                <a:cs typeface="Trebuchet MS"/>
              </a:rPr>
              <a:t>Smo</a:t>
            </a:r>
            <a:r>
              <a:rPr sz="2000" spc="-35" dirty="0">
                <a:solidFill>
                  <a:srgbClr val="E36C09"/>
                </a:solidFill>
                <a:latin typeface="Trebuchet MS"/>
                <a:cs typeface="Trebuchet MS"/>
              </a:rPr>
              <a:t>o</a:t>
            </a:r>
            <a:r>
              <a:rPr sz="2000" spc="-95" dirty="0">
                <a:solidFill>
                  <a:srgbClr val="E36C09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E36C09"/>
                </a:solidFill>
                <a:latin typeface="Trebuchet MS"/>
                <a:cs typeface="Trebuchet MS"/>
              </a:rPr>
              <a:t>h</a:t>
            </a:r>
            <a:r>
              <a:rPr sz="2000" spc="-14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120" dirty="0">
                <a:solidFill>
                  <a:srgbClr val="E36C09"/>
                </a:solidFill>
                <a:latin typeface="Trebuchet MS"/>
                <a:cs typeface="Trebuchet MS"/>
              </a:rPr>
              <a:t>ng</a:t>
            </a:r>
            <a:r>
              <a:rPr sz="2000" spc="-10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E36C09"/>
                </a:solidFill>
                <a:latin typeface="Trebuchet MS"/>
                <a:cs typeface="Trebuchet MS"/>
              </a:rPr>
              <a:t>b</a:t>
            </a:r>
            <a:r>
              <a:rPr sz="2000" spc="-110" dirty="0">
                <a:solidFill>
                  <a:srgbClr val="E36C09"/>
                </a:solidFill>
                <a:latin typeface="Trebuchet MS"/>
                <a:cs typeface="Trebuchet MS"/>
              </a:rPr>
              <a:t>y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E36C09"/>
                </a:solidFill>
                <a:latin typeface="Trebuchet MS"/>
                <a:cs typeface="Trebuchet MS"/>
              </a:rPr>
              <a:t>b</a:t>
            </a:r>
            <a:r>
              <a:rPr sz="2000" spc="-7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95" dirty="0">
                <a:solidFill>
                  <a:srgbClr val="E36C09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45" dirty="0">
                <a:solidFill>
                  <a:srgbClr val="E36C09"/>
                </a:solidFill>
                <a:latin typeface="Trebuchet MS"/>
                <a:cs typeface="Trebuchet MS"/>
              </a:rPr>
              <a:t>means: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1: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9,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9,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9,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75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2: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3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3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5" dirty="0">
                <a:solidFill>
                  <a:srgbClr val="1F487C"/>
                </a:solidFill>
                <a:latin typeface="Trebuchet MS"/>
                <a:cs typeface="Trebuchet MS"/>
              </a:rPr>
              <a:t>3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23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5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3: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29</a:t>
            </a:r>
            <a:endParaRPr sz="2000">
              <a:latin typeface="Trebuchet MS"/>
              <a:cs typeface="Trebuchet MS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Clr>
                <a:srgbClr val="4F81BC"/>
              </a:buClr>
              <a:buSzPct val="80000"/>
              <a:buFont typeface="Courier New"/>
              <a:buChar char="o"/>
              <a:tabLst>
                <a:tab pos="286385" algn="l"/>
              </a:tabLst>
            </a:pPr>
            <a:r>
              <a:rPr sz="2000" spc="-25" dirty="0">
                <a:solidFill>
                  <a:srgbClr val="E36C09"/>
                </a:solidFill>
                <a:latin typeface="Trebuchet MS"/>
                <a:cs typeface="Trebuchet MS"/>
              </a:rPr>
              <a:t>Smo</a:t>
            </a:r>
            <a:r>
              <a:rPr sz="2000" spc="-35" dirty="0">
                <a:solidFill>
                  <a:srgbClr val="E36C09"/>
                </a:solidFill>
                <a:latin typeface="Trebuchet MS"/>
                <a:cs typeface="Trebuchet MS"/>
              </a:rPr>
              <a:t>o</a:t>
            </a:r>
            <a:r>
              <a:rPr sz="2000" spc="-95" dirty="0">
                <a:solidFill>
                  <a:srgbClr val="E36C09"/>
                </a:solidFill>
                <a:latin typeface="Trebuchet MS"/>
                <a:cs typeface="Trebuchet MS"/>
              </a:rPr>
              <a:t>t</a:t>
            </a:r>
            <a:r>
              <a:rPr sz="2000" spc="-125" dirty="0">
                <a:solidFill>
                  <a:srgbClr val="E36C09"/>
                </a:solidFill>
                <a:latin typeface="Trebuchet MS"/>
                <a:cs typeface="Trebuchet MS"/>
              </a:rPr>
              <a:t>h</a:t>
            </a:r>
            <a:r>
              <a:rPr sz="2000" spc="-14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120" dirty="0">
                <a:solidFill>
                  <a:srgbClr val="E36C09"/>
                </a:solidFill>
                <a:latin typeface="Trebuchet MS"/>
                <a:cs typeface="Trebuchet MS"/>
              </a:rPr>
              <a:t>ng</a:t>
            </a:r>
            <a:r>
              <a:rPr sz="2000" spc="-10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35" dirty="0">
                <a:solidFill>
                  <a:srgbClr val="E36C09"/>
                </a:solidFill>
                <a:latin typeface="Trebuchet MS"/>
                <a:cs typeface="Trebuchet MS"/>
              </a:rPr>
              <a:t>b</a:t>
            </a:r>
            <a:r>
              <a:rPr sz="2000" spc="-110" dirty="0">
                <a:solidFill>
                  <a:srgbClr val="E36C09"/>
                </a:solidFill>
                <a:latin typeface="Trebuchet MS"/>
                <a:cs typeface="Trebuchet MS"/>
              </a:rPr>
              <a:t>y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165" dirty="0">
                <a:solidFill>
                  <a:srgbClr val="E36C09"/>
                </a:solidFill>
                <a:latin typeface="Trebuchet MS"/>
                <a:cs typeface="Trebuchet MS"/>
              </a:rPr>
              <a:t>b</a:t>
            </a:r>
            <a:r>
              <a:rPr sz="2000" spc="-75" dirty="0">
                <a:solidFill>
                  <a:srgbClr val="E36C09"/>
                </a:solidFill>
                <a:latin typeface="Trebuchet MS"/>
                <a:cs typeface="Trebuchet MS"/>
              </a:rPr>
              <a:t>i</a:t>
            </a:r>
            <a:r>
              <a:rPr sz="2000" spc="-95" dirty="0">
                <a:solidFill>
                  <a:srgbClr val="E36C09"/>
                </a:solidFill>
                <a:latin typeface="Trebuchet MS"/>
                <a:cs typeface="Trebuchet MS"/>
              </a:rPr>
              <a:t>n</a:t>
            </a:r>
            <a:r>
              <a:rPr sz="2000" spc="-70" dirty="0">
                <a:solidFill>
                  <a:srgbClr val="E36C09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E36C09"/>
                </a:solidFill>
                <a:latin typeface="Trebuchet MS"/>
                <a:cs typeface="Trebuchet MS"/>
              </a:rPr>
              <a:t>bo</a:t>
            </a:r>
            <a:r>
              <a:rPr sz="2000" spc="-55" dirty="0">
                <a:solidFill>
                  <a:srgbClr val="E36C09"/>
                </a:solidFill>
                <a:latin typeface="Trebuchet MS"/>
                <a:cs typeface="Trebuchet MS"/>
              </a:rPr>
              <a:t>u</a:t>
            </a:r>
            <a:r>
              <a:rPr sz="2000" spc="-120" dirty="0">
                <a:solidFill>
                  <a:srgbClr val="E36C09"/>
                </a:solidFill>
                <a:latin typeface="Trebuchet MS"/>
                <a:cs typeface="Trebuchet MS"/>
              </a:rPr>
              <a:t>ndaries: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1: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4,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4,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4,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15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509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2: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1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1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5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25</a:t>
            </a:r>
            <a:endParaRPr sz="2000">
              <a:latin typeface="Trebuchet MS"/>
              <a:cs typeface="Trebuchet MS"/>
            </a:endParaRPr>
          </a:p>
          <a:p>
            <a:pPr marL="561340" lvl="1" indent="-274955">
              <a:lnSpc>
                <a:spcPct val="100000"/>
              </a:lnSpc>
              <a:spcBef>
                <a:spcPts val="490"/>
              </a:spcBef>
              <a:buClr>
                <a:srgbClr val="C0504D"/>
              </a:buClr>
              <a:buSzPct val="90000"/>
              <a:buFont typeface="Wingdings"/>
              <a:buChar char=""/>
              <a:tabLst>
                <a:tab pos="561340" algn="l"/>
                <a:tab pos="561975" algn="l"/>
              </a:tabLst>
            </a:pPr>
            <a:r>
              <a:rPr sz="2000" spc="-80" dirty="0">
                <a:solidFill>
                  <a:srgbClr val="1F487C"/>
                </a:solidFill>
                <a:latin typeface="Trebuchet MS"/>
                <a:cs typeface="Trebuchet MS"/>
              </a:rPr>
              <a:t>Bin</a:t>
            </a:r>
            <a:r>
              <a:rPr sz="20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175" dirty="0">
                <a:solidFill>
                  <a:srgbClr val="1F487C"/>
                </a:solidFill>
                <a:latin typeface="Trebuchet MS"/>
                <a:cs typeface="Trebuchet MS"/>
              </a:rPr>
              <a:t>3:</a:t>
            </a:r>
            <a:r>
              <a:rPr sz="20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6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6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2</a:t>
            </a:r>
            <a:r>
              <a:rPr sz="2000" spc="-40" dirty="0">
                <a:solidFill>
                  <a:srgbClr val="1F487C"/>
                </a:solidFill>
                <a:latin typeface="Trebuchet MS"/>
                <a:cs typeface="Trebuchet MS"/>
              </a:rPr>
              <a:t>6</a:t>
            </a:r>
            <a:r>
              <a:rPr sz="2000" spc="-29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000" spc="-2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1F487C"/>
                </a:solidFill>
                <a:latin typeface="Trebuchet MS"/>
                <a:cs typeface="Trebuchet MS"/>
              </a:rPr>
              <a:t>34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1906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50" dirty="0"/>
              <a:t>Regression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6067" y="1473708"/>
            <a:ext cx="6924040" cy="4701540"/>
            <a:chOff x="1306067" y="1473708"/>
            <a:chExt cx="6924040" cy="4701540"/>
          </a:xfrm>
        </p:grpSpPr>
        <p:sp>
          <p:nvSpPr>
            <p:cNvPr id="4" name="object 4"/>
            <p:cNvSpPr/>
            <p:nvPr/>
          </p:nvSpPr>
          <p:spPr>
            <a:xfrm>
              <a:off x="1306068" y="1473707"/>
              <a:ext cx="6924040" cy="4702175"/>
            </a:xfrm>
            <a:custGeom>
              <a:avLst/>
              <a:gdLst/>
              <a:ahLst/>
              <a:cxnLst/>
              <a:rect l="l" t="t" r="r" b="b"/>
              <a:pathLst>
                <a:path w="6924040" h="4702175">
                  <a:moveTo>
                    <a:pt x="6923532" y="2758440"/>
                  </a:moveTo>
                  <a:lnTo>
                    <a:pt x="6910832" y="2752090"/>
                  </a:lnTo>
                  <a:lnTo>
                    <a:pt x="6847332" y="2720340"/>
                  </a:lnTo>
                  <a:lnTo>
                    <a:pt x="6847332" y="2752090"/>
                  </a:lnTo>
                  <a:lnTo>
                    <a:pt x="3257042" y="2752090"/>
                  </a:lnTo>
                  <a:lnTo>
                    <a:pt x="3257042" y="76200"/>
                  </a:lnTo>
                  <a:lnTo>
                    <a:pt x="3288792" y="76200"/>
                  </a:lnTo>
                  <a:lnTo>
                    <a:pt x="3282442" y="63500"/>
                  </a:lnTo>
                  <a:lnTo>
                    <a:pt x="3250692" y="0"/>
                  </a:lnTo>
                  <a:lnTo>
                    <a:pt x="3212592" y="76200"/>
                  </a:lnTo>
                  <a:lnTo>
                    <a:pt x="3244342" y="76200"/>
                  </a:lnTo>
                  <a:lnTo>
                    <a:pt x="3244342" y="2752090"/>
                  </a:lnTo>
                  <a:lnTo>
                    <a:pt x="0" y="2752090"/>
                  </a:lnTo>
                  <a:lnTo>
                    <a:pt x="0" y="2764790"/>
                  </a:lnTo>
                  <a:lnTo>
                    <a:pt x="3244342" y="2764790"/>
                  </a:lnTo>
                  <a:lnTo>
                    <a:pt x="3244342" y="4701552"/>
                  </a:lnTo>
                  <a:lnTo>
                    <a:pt x="3257042" y="4701540"/>
                  </a:lnTo>
                  <a:lnTo>
                    <a:pt x="3257042" y="2764790"/>
                  </a:lnTo>
                  <a:lnTo>
                    <a:pt x="6847332" y="2764790"/>
                  </a:lnTo>
                  <a:lnTo>
                    <a:pt x="6847332" y="2796540"/>
                  </a:lnTo>
                  <a:lnTo>
                    <a:pt x="6910832" y="2764790"/>
                  </a:lnTo>
                  <a:lnTo>
                    <a:pt x="6923532" y="275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2076" y="314401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6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42076" y="314401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21336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24500" y="324764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336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5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5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4500" y="324764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0" y="21335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5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49239" y="2324100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80">
                  <a:moveTo>
                    <a:pt x="22098" y="0"/>
                  </a:moveTo>
                  <a:lnTo>
                    <a:pt x="13501" y="1672"/>
                  </a:lnTo>
                  <a:lnTo>
                    <a:pt x="6476" y="6238"/>
                  </a:lnTo>
                  <a:lnTo>
                    <a:pt x="1738" y="13019"/>
                  </a:lnTo>
                  <a:lnTo>
                    <a:pt x="0" y="21336"/>
                  </a:lnTo>
                  <a:lnTo>
                    <a:pt x="1738" y="29652"/>
                  </a:lnTo>
                  <a:lnTo>
                    <a:pt x="6477" y="36433"/>
                  </a:lnTo>
                  <a:lnTo>
                    <a:pt x="13501" y="40999"/>
                  </a:lnTo>
                  <a:lnTo>
                    <a:pt x="22098" y="42672"/>
                  </a:lnTo>
                  <a:lnTo>
                    <a:pt x="30694" y="40999"/>
                  </a:lnTo>
                  <a:lnTo>
                    <a:pt x="37719" y="36433"/>
                  </a:lnTo>
                  <a:lnTo>
                    <a:pt x="42457" y="29652"/>
                  </a:lnTo>
                  <a:lnTo>
                    <a:pt x="44196" y="21336"/>
                  </a:lnTo>
                  <a:lnTo>
                    <a:pt x="42457" y="13019"/>
                  </a:lnTo>
                  <a:lnTo>
                    <a:pt x="37718" y="6238"/>
                  </a:lnTo>
                  <a:lnTo>
                    <a:pt x="30694" y="1672"/>
                  </a:lnTo>
                  <a:lnTo>
                    <a:pt x="2209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9239" y="2324100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80">
                  <a:moveTo>
                    <a:pt x="0" y="21336"/>
                  </a:moveTo>
                  <a:lnTo>
                    <a:pt x="1738" y="29652"/>
                  </a:lnTo>
                  <a:lnTo>
                    <a:pt x="6477" y="36433"/>
                  </a:lnTo>
                  <a:lnTo>
                    <a:pt x="13501" y="40999"/>
                  </a:lnTo>
                  <a:lnTo>
                    <a:pt x="22098" y="42672"/>
                  </a:lnTo>
                  <a:lnTo>
                    <a:pt x="30694" y="40999"/>
                  </a:lnTo>
                  <a:lnTo>
                    <a:pt x="37719" y="36433"/>
                  </a:lnTo>
                  <a:lnTo>
                    <a:pt x="42457" y="29652"/>
                  </a:lnTo>
                  <a:lnTo>
                    <a:pt x="44196" y="21336"/>
                  </a:lnTo>
                  <a:lnTo>
                    <a:pt x="42457" y="13019"/>
                  </a:lnTo>
                  <a:lnTo>
                    <a:pt x="37718" y="6238"/>
                  </a:lnTo>
                  <a:lnTo>
                    <a:pt x="30694" y="1672"/>
                  </a:lnTo>
                  <a:lnTo>
                    <a:pt x="22098" y="0"/>
                  </a:lnTo>
                  <a:lnTo>
                    <a:pt x="13501" y="1672"/>
                  </a:lnTo>
                  <a:lnTo>
                    <a:pt x="6476" y="6238"/>
                  </a:lnTo>
                  <a:lnTo>
                    <a:pt x="1738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75503" y="371703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336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75503" y="371703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0" y="21336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47232" y="279044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5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5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1" y="21335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7232" y="279044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21335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1" y="21335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48400" y="251764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6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8400" y="251764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21336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5839" y="3813047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79">
                  <a:moveTo>
                    <a:pt x="22098" y="0"/>
                  </a:moveTo>
                  <a:lnTo>
                    <a:pt x="13501" y="1672"/>
                  </a:lnTo>
                  <a:lnTo>
                    <a:pt x="6476" y="6238"/>
                  </a:lnTo>
                  <a:lnTo>
                    <a:pt x="1738" y="13019"/>
                  </a:lnTo>
                  <a:lnTo>
                    <a:pt x="0" y="21335"/>
                  </a:lnTo>
                  <a:lnTo>
                    <a:pt x="1738" y="29652"/>
                  </a:lnTo>
                  <a:lnTo>
                    <a:pt x="6477" y="36433"/>
                  </a:lnTo>
                  <a:lnTo>
                    <a:pt x="13501" y="40999"/>
                  </a:lnTo>
                  <a:lnTo>
                    <a:pt x="22098" y="42671"/>
                  </a:lnTo>
                  <a:lnTo>
                    <a:pt x="30694" y="40999"/>
                  </a:lnTo>
                  <a:lnTo>
                    <a:pt x="37719" y="36433"/>
                  </a:lnTo>
                  <a:lnTo>
                    <a:pt x="42457" y="29652"/>
                  </a:lnTo>
                  <a:lnTo>
                    <a:pt x="44196" y="21335"/>
                  </a:lnTo>
                  <a:lnTo>
                    <a:pt x="42457" y="13019"/>
                  </a:lnTo>
                  <a:lnTo>
                    <a:pt x="37718" y="6238"/>
                  </a:lnTo>
                  <a:lnTo>
                    <a:pt x="30694" y="1672"/>
                  </a:lnTo>
                  <a:lnTo>
                    <a:pt x="2209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15839" y="3813047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79">
                  <a:moveTo>
                    <a:pt x="0" y="21335"/>
                  </a:moveTo>
                  <a:lnTo>
                    <a:pt x="1738" y="29652"/>
                  </a:lnTo>
                  <a:lnTo>
                    <a:pt x="6477" y="36433"/>
                  </a:lnTo>
                  <a:lnTo>
                    <a:pt x="13501" y="40999"/>
                  </a:lnTo>
                  <a:lnTo>
                    <a:pt x="22098" y="42671"/>
                  </a:lnTo>
                  <a:lnTo>
                    <a:pt x="30694" y="40999"/>
                  </a:lnTo>
                  <a:lnTo>
                    <a:pt x="37719" y="36433"/>
                  </a:lnTo>
                  <a:lnTo>
                    <a:pt x="42457" y="29652"/>
                  </a:lnTo>
                  <a:lnTo>
                    <a:pt x="44196" y="21335"/>
                  </a:lnTo>
                  <a:lnTo>
                    <a:pt x="42457" y="13019"/>
                  </a:lnTo>
                  <a:lnTo>
                    <a:pt x="37718" y="6238"/>
                  </a:lnTo>
                  <a:lnTo>
                    <a:pt x="30694" y="1672"/>
                  </a:lnTo>
                  <a:lnTo>
                    <a:pt x="22098" y="0"/>
                  </a:lnTo>
                  <a:lnTo>
                    <a:pt x="13501" y="1672"/>
                  </a:lnTo>
                  <a:lnTo>
                    <a:pt x="6476" y="6238"/>
                  </a:lnTo>
                  <a:lnTo>
                    <a:pt x="1738" y="13019"/>
                  </a:lnTo>
                  <a:lnTo>
                    <a:pt x="0" y="213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68439" y="2513075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80">
                  <a:moveTo>
                    <a:pt x="22098" y="0"/>
                  </a:moveTo>
                  <a:lnTo>
                    <a:pt x="13501" y="1672"/>
                  </a:lnTo>
                  <a:lnTo>
                    <a:pt x="6476" y="6238"/>
                  </a:lnTo>
                  <a:lnTo>
                    <a:pt x="1738" y="13019"/>
                  </a:lnTo>
                  <a:lnTo>
                    <a:pt x="0" y="21336"/>
                  </a:lnTo>
                  <a:lnTo>
                    <a:pt x="1738" y="29652"/>
                  </a:lnTo>
                  <a:lnTo>
                    <a:pt x="6476" y="36433"/>
                  </a:lnTo>
                  <a:lnTo>
                    <a:pt x="13501" y="40999"/>
                  </a:lnTo>
                  <a:lnTo>
                    <a:pt x="22098" y="42672"/>
                  </a:lnTo>
                  <a:lnTo>
                    <a:pt x="30694" y="40999"/>
                  </a:lnTo>
                  <a:lnTo>
                    <a:pt x="37719" y="36433"/>
                  </a:lnTo>
                  <a:lnTo>
                    <a:pt x="42457" y="29652"/>
                  </a:lnTo>
                  <a:lnTo>
                    <a:pt x="44195" y="21336"/>
                  </a:lnTo>
                  <a:lnTo>
                    <a:pt x="42457" y="13019"/>
                  </a:lnTo>
                  <a:lnTo>
                    <a:pt x="37718" y="6238"/>
                  </a:lnTo>
                  <a:lnTo>
                    <a:pt x="30694" y="1672"/>
                  </a:lnTo>
                  <a:lnTo>
                    <a:pt x="2209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68439" y="2513075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80">
                  <a:moveTo>
                    <a:pt x="0" y="21336"/>
                  </a:moveTo>
                  <a:lnTo>
                    <a:pt x="1738" y="29652"/>
                  </a:lnTo>
                  <a:lnTo>
                    <a:pt x="6476" y="36433"/>
                  </a:lnTo>
                  <a:lnTo>
                    <a:pt x="13501" y="40999"/>
                  </a:lnTo>
                  <a:lnTo>
                    <a:pt x="22098" y="42672"/>
                  </a:lnTo>
                  <a:lnTo>
                    <a:pt x="30694" y="40999"/>
                  </a:lnTo>
                  <a:lnTo>
                    <a:pt x="37719" y="36433"/>
                  </a:lnTo>
                  <a:lnTo>
                    <a:pt x="42457" y="29652"/>
                  </a:lnTo>
                  <a:lnTo>
                    <a:pt x="44195" y="21336"/>
                  </a:lnTo>
                  <a:lnTo>
                    <a:pt x="42457" y="13019"/>
                  </a:lnTo>
                  <a:lnTo>
                    <a:pt x="37718" y="6238"/>
                  </a:lnTo>
                  <a:lnTo>
                    <a:pt x="30694" y="1672"/>
                  </a:lnTo>
                  <a:lnTo>
                    <a:pt x="22098" y="0"/>
                  </a:lnTo>
                  <a:lnTo>
                    <a:pt x="13501" y="1672"/>
                  </a:lnTo>
                  <a:lnTo>
                    <a:pt x="6476" y="6238"/>
                  </a:lnTo>
                  <a:lnTo>
                    <a:pt x="1738" y="13019"/>
                  </a:lnTo>
                  <a:lnTo>
                    <a:pt x="0" y="2133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89776" y="227380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5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89776" y="227380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21336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04303" y="224637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6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04303" y="224637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21336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6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6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71644" y="407974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335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5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1" y="21335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71644" y="407974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0" y="21335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1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1" y="21335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982967" y="1994916"/>
              <a:ext cx="43180" cy="44450"/>
            </a:xfrm>
            <a:custGeom>
              <a:avLst/>
              <a:gdLst/>
              <a:ahLst/>
              <a:cxnLst/>
              <a:rect l="l" t="t" r="r" b="b"/>
              <a:pathLst>
                <a:path w="43179" h="44450">
                  <a:moveTo>
                    <a:pt x="21335" y="0"/>
                  </a:moveTo>
                  <a:lnTo>
                    <a:pt x="13019" y="1738"/>
                  </a:lnTo>
                  <a:lnTo>
                    <a:pt x="6238" y="6477"/>
                  </a:lnTo>
                  <a:lnTo>
                    <a:pt x="1672" y="13501"/>
                  </a:lnTo>
                  <a:lnTo>
                    <a:pt x="0" y="22098"/>
                  </a:lnTo>
                  <a:lnTo>
                    <a:pt x="1672" y="30694"/>
                  </a:lnTo>
                  <a:lnTo>
                    <a:pt x="6238" y="37719"/>
                  </a:lnTo>
                  <a:lnTo>
                    <a:pt x="13019" y="42457"/>
                  </a:lnTo>
                  <a:lnTo>
                    <a:pt x="21335" y="44196"/>
                  </a:lnTo>
                  <a:lnTo>
                    <a:pt x="29652" y="42457"/>
                  </a:lnTo>
                  <a:lnTo>
                    <a:pt x="36433" y="37718"/>
                  </a:lnTo>
                  <a:lnTo>
                    <a:pt x="40999" y="30694"/>
                  </a:lnTo>
                  <a:lnTo>
                    <a:pt x="42672" y="22098"/>
                  </a:lnTo>
                  <a:lnTo>
                    <a:pt x="40999" y="13501"/>
                  </a:lnTo>
                  <a:lnTo>
                    <a:pt x="36433" y="6476"/>
                  </a:lnTo>
                  <a:lnTo>
                    <a:pt x="29652" y="1738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82967" y="1994916"/>
              <a:ext cx="43180" cy="44450"/>
            </a:xfrm>
            <a:custGeom>
              <a:avLst/>
              <a:gdLst/>
              <a:ahLst/>
              <a:cxnLst/>
              <a:rect l="l" t="t" r="r" b="b"/>
              <a:pathLst>
                <a:path w="43179" h="44450">
                  <a:moveTo>
                    <a:pt x="0" y="22098"/>
                  </a:moveTo>
                  <a:lnTo>
                    <a:pt x="1672" y="30694"/>
                  </a:lnTo>
                  <a:lnTo>
                    <a:pt x="6238" y="37719"/>
                  </a:lnTo>
                  <a:lnTo>
                    <a:pt x="13019" y="42457"/>
                  </a:lnTo>
                  <a:lnTo>
                    <a:pt x="21335" y="44196"/>
                  </a:lnTo>
                  <a:lnTo>
                    <a:pt x="29652" y="42457"/>
                  </a:lnTo>
                  <a:lnTo>
                    <a:pt x="36433" y="37718"/>
                  </a:lnTo>
                  <a:lnTo>
                    <a:pt x="40999" y="30694"/>
                  </a:lnTo>
                  <a:lnTo>
                    <a:pt x="42672" y="22098"/>
                  </a:lnTo>
                  <a:lnTo>
                    <a:pt x="40999" y="13501"/>
                  </a:lnTo>
                  <a:lnTo>
                    <a:pt x="36433" y="6476"/>
                  </a:lnTo>
                  <a:lnTo>
                    <a:pt x="29652" y="1738"/>
                  </a:lnTo>
                  <a:lnTo>
                    <a:pt x="21335" y="0"/>
                  </a:lnTo>
                  <a:lnTo>
                    <a:pt x="13019" y="1738"/>
                  </a:lnTo>
                  <a:lnTo>
                    <a:pt x="6238" y="6477"/>
                  </a:lnTo>
                  <a:lnTo>
                    <a:pt x="1672" y="13501"/>
                  </a:lnTo>
                  <a:lnTo>
                    <a:pt x="0" y="2209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13676" y="186994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21335" y="0"/>
                  </a:move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13676" y="186994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21336"/>
                  </a:moveTo>
                  <a:lnTo>
                    <a:pt x="1672" y="29652"/>
                  </a:lnTo>
                  <a:lnTo>
                    <a:pt x="6238" y="36433"/>
                  </a:lnTo>
                  <a:lnTo>
                    <a:pt x="13019" y="40999"/>
                  </a:lnTo>
                  <a:lnTo>
                    <a:pt x="21335" y="42672"/>
                  </a:lnTo>
                  <a:lnTo>
                    <a:pt x="29652" y="40999"/>
                  </a:lnTo>
                  <a:lnTo>
                    <a:pt x="36433" y="36433"/>
                  </a:lnTo>
                  <a:lnTo>
                    <a:pt x="40999" y="29652"/>
                  </a:lnTo>
                  <a:lnTo>
                    <a:pt x="42672" y="21336"/>
                  </a:lnTo>
                  <a:lnTo>
                    <a:pt x="40999" y="13019"/>
                  </a:lnTo>
                  <a:lnTo>
                    <a:pt x="36433" y="6238"/>
                  </a:lnTo>
                  <a:lnTo>
                    <a:pt x="29652" y="1672"/>
                  </a:lnTo>
                  <a:lnTo>
                    <a:pt x="21335" y="0"/>
                  </a:lnTo>
                  <a:lnTo>
                    <a:pt x="13019" y="1672"/>
                  </a:lnTo>
                  <a:lnTo>
                    <a:pt x="6238" y="6238"/>
                  </a:lnTo>
                  <a:lnTo>
                    <a:pt x="1672" y="13019"/>
                  </a:lnTo>
                  <a:lnTo>
                    <a:pt x="0" y="213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38472" y="1783080"/>
              <a:ext cx="2906395" cy="2269490"/>
            </a:xfrm>
            <a:custGeom>
              <a:avLst/>
              <a:gdLst/>
              <a:ahLst/>
              <a:cxnLst/>
              <a:rect l="l" t="t" r="r" b="b"/>
              <a:pathLst>
                <a:path w="2906395" h="2269490">
                  <a:moveTo>
                    <a:pt x="0" y="2269236"/>
                  </a:moveTo>
                  <a:lnTo>
                    <a:pt x="2906268" y="0"/>
                  </a:lnTo>
                </a:path>
              </a:pathLst>
            </a:custGeom>
            <a:ln w="952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184642" y="4251782"/>
            <a:ext cx="176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04609" y="3091434"/>
            <a:ext cx="1320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y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56759" y="2337816"/>
            <a:ext cx="815340" cy="1911350"/>
          </a:xfrm>
          <a:custGeom>
            <a:avLst/>
            <a:gdLst/>
            <a:ahLst/>
            <a:cxnLst/>
            <a:rect l="l" t="t" r="r" b="b"/>
            <a:pathLst>
              <a:path w="815339" h="1911350">
                <a:moveTo>
                  <a:pt x="815339" y="0"/>
                </a:moveTo>
                <a:lnTo>
                  <a:pt x="815339" y="1911096"/>
                </a:lnTo>
              </a:path>
              <a:path w="815339" h="1911350">
                <a:moveTo>
                  <a:pt x="800100" y="16763"/>
                </a:moveTo>
                <a:lnTo>
                  <a:pt x="0" y="16763"/>
                </a:lnTo>
              </a:path>
            </a:pathLst>
          </a:custGeom>
          <a:ln w="9525">
            <a:solidFill>
              <a:srgbClr val="006666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375528" y="4284090"/>
            <a:ext cx="3124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X1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6" name="object 36"/>
          <p:cNvSpPr txBox="1"/>
          <p:nvPr/>
        </p:nvSpPr>
        <p:spPr>
          <a:xfrm>
            <a:off x="4151503" y="1326845"/>
            <a:ext cx="1294130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1280795" algn="l"/>
              </a:tabLst>
            </a:pPr>
            <a:r>
              <a:rPr sz="2000" spc="-5" dirty="0">
                <a:latin typeface="Tahoma"/>
                <a:cs typeface="Tahoma"/>
              </a:rPr>
              <a:t>Y1</a:t>
            </a:r>
            <a:r>
              <a:rPr sz="2000" spc="2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 	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51503" y="3140710"/>
            <a:ext cx="1278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65555" algn="l"/>
              </a:tabLst>
            </a:pPr>
            <a:r>
              <a:rPr sz="2000" spc="-5" dirty="0">
                <a:latin typeface="Tahoma"/>
                <a:cs typeface="Tahoma"/>
              </a:rPr>
              <a:t>Y1’</a:t>
            </a:r>
            <a:r>
              <a:rPr sz="2000" spc="-335" dirty="0">
                <a:latin typeface="Tahoma"/>
                <a:cs typeface="Tahoma"/>
              </a:rPr>
              <a:t> </a:t>
            </a:r>
            <a:r>
              <a:rPr sz="2000" u="dash" dirty="0">
                <a:uFill>
                  <a:solidFill>
                    <a:srgbClr val="006666"/>
                  </a:solidFill>
                </a:uFill>
                <a:latin typeface="Times New Roman"/>
                <a:cs typeface="Times New Roman"/>
              </a:rPr>
              <a:t> 	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0473"/>
            <a:ext cx="2865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04" dirty="0"/>
              <a:t>Cluster</a:t>
            </a:r>
            <a:r>
              <a:rPr spc="220" dirty="0"/>
              <a:t> </a:t>
            </a:r>
            <a:r>
              <a:rPr spc="17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43621" y="1552765"/>
            <a:ext cx="6026785" cy="4123054"/>
            <a:chOff x="1543621" y="1552765"/>
            <a:chExt cx="6026785" cy="41230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09397" y="5062537"/>
              <a:ext cx="151257" cy="1558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7889" y="5242369"/>
              <a:ext cx="152781" cy="1558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7349" y="1816417"/>
              <a:ext cx="151257" cy="15582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058411" y="4227576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20">
                  <a:moveTo>
                    <a:pt x="0" y="0"/>
                  </a:moveTo>
                  <a:lnTo>
                    <a:pt x="172212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37660" y="4151376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17373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76443" y="3008375"/>
              <a:ext cx="173990" cy="0"/>
            </a:xfrm>
            <a:custGeom>
              <a:avLst/>
              <a:gdLst/>
              <a:ahLst/>
              <a:cxnLst/>
              <a:rect l="l" t="t" r="r" b="b"/>
              <a:pathLst>
                <a:path w="173989">
                  <a:moveTo>
                    <a:pt x="0" y="0"/>
                  </a:moveTo>
                  <a:lnTo>
                    <a:pt x="17373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7216" y="293217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173736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07507" y="2955036"/>
              <a:ext cx="142240" cy="144780"/>
            </a:xfrm>
            <a:custGeom>
              <a:avLst/>
              <a:gdLst/>
              <a:ahLst/>
              <a:cxnLst/>
              <a:rect l="l" t="t" r="r" b="b"/>
              <a:pathLst>
                <a:path w="142239" h="144780">
                  <a:moveTo>
                    <a:pt x="70865" y="0"/>
                  </a:moveTo>
                  <a:lnTo>
                    <a:pt x="43291" y="5685"/>
                  </a:lnTo>
                  <a:lnTo>
                    <a:pt x="20764" y="21193"/>
                  </a:lnTo>
                  <a:lnTo>
                    <a:pt x="5572" y="44201"/>
                  </a:lnTo>
                  <a:lnTo>
                    <a:pt x="0" y="72389"/>
                  </a:lnTo>
                  <a:lnTo>
                    <a:pt x="5572" y="100578"/>
                  </a:lnTo>
                  <a:lnTo>
                    <a:pt x="20764" y="123586"/>
                  </a:lnTo>
                  <a:lnTo>
                    <a:pt x="43291" y="139094"/>
                  </a:lnTo>
                  <a:lnTo>
                    <a:pt x="70865" y="144779"/>
                  </a:lnTo>
                  <a:lnTo>
                    <a:pt x="98440" y="139094"/>
                  </a:lnTo>
                  <a:lnTo>
                    <a:pt x="120967" y="123586"/>
                  </a:lnTo>
                  <a:lnTo>
                    <a:pt x="136159" y="100578"/>
                  </a:lnTo>
                  <a:lnTo>
                    <a:pt x="141731" y="72389"/>
                  </a:lnTo>
                  <a:lnTo>
                    <a:pt x="136159" y="44201"/>
                  </a:lnTo>
                  <a:lnTo>
                    <a:pt x="120967" y="21193"/>
                  </a:lnTo>
                  <a:lnTo>
                    <a:pt x="98440" y="5685"/>
                  </a:lnTo>
                  <a:lnTo>
                    <a:pt x="7086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40736" y="2955036"/>
              <a:ext cx="2508885" cy="387350"/>
            </a:xfrm>
            <a:custGeom>
              <a:avLst/>
              <a:gdLst/>
              <a:ahLst/>
              <a:cxnLst/>
              <a:rect l="l" t="t" r="r" b="b"/>
              <a:pathLst>
                <a:path w="2508885" h="387350">
                  <a:moveTo>
                    <a:pt x="2366772" y="72389"/>
                  </a:moveTo>
                  <a:lnTo>
                    <a:pt x="2372344" y="44201"/>
                  </a:lnTo>
                  <a:lnTo>
                    <a:pt x="2387536" y="21193"/>
                  </a:lnTo>
                  <a:lnTo>
                    <a:pt x="2410063" y="5685"/>
                  </a:lnTo>
                  <a:lnTo>
                    <a:pt x="2437638" y="0"/>
                  </a:lnTo>
                  <a:lnTo>
                    <a:pt x="2465212" y="5685"/>
                  </a:lnTo>
                  <a:lnTo>
                    <a:pt x="2487739" y="21193"/>
                  </a:lnTo>
                  <a:lnTo>
                    <a:pt x="2502931" y="44201"/>
                  </a:lnTo>
                  <a:lnTo>
                    <a:pt x="2508504" y="72389"/>
                  </a:lnTo>
                  <a:lnTo>
                    <a:pt x="2502931" y="100578"/>
                  </a:lnTo>
                  <a:lnTo>
                    <a:pt x="2487739" y="123586"/>
                  </a:lnTo>
                  <a:lnTo>
                    <a:pt x="2465212" y="139094"/>
                  </a:lnTo>
                  <a:lnTo>
                    <a:pt x="2437638" y="144779"/>
                  </a:lnTo>
                  <a:lnTo>
                    <a:pt x="2410063" y="139094"/>
                  </a:lnTo>
                  <a:lnTo>
                    <a:pt x="2387536" y="123586"/>
                  </a:lnTo>
                  <a:lnTo>
                    <a:pt x="2372344" y="100578"/>
                  </a:lnTo>
                  <a:lnTo>
                    <a:pt x="2366772" y="72389"/>
                  </a:lnTo>
                  <a:close/>
                </a:path>
                <a:path w="2508885" h="387350">
                  <a:moveTo>
                    <a:pt x="0" y="387096"/>
                  </a:moveTo>
                  <a:lnTo>
                    <a:pt x="172212" y="38709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19983" y="326593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173735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3613" y="3476053"/>
              <a:ext cx="152781" cy="15582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69108" y="3140963"/>
              <a:ext cx="142240" cy="146685"/>
            </a:xfrm>
            <a:custGeom>
              <a:avLst/>
              <a:gdLst/>
              <a:ahLst/>
              <a:cxnLst/>
              <a:rect l="l" t="t" r="r" b="b"/>
              <a:pathLst>
                <a:path w="142239" h="146685">
                  <a:moveTo>
                    <a:pt x="70866" y="0"/>
                  </a:moveTo>
                  <a:lnTo>
                    <a:pt x="43291" y="5750"/>
                  </a:lnTo>
                  <a:lnTo>
                    <a:pt x="20764" y="21431"/>
                  </a:lnTo>
                  <a:lnTo>
                    <a:pt x="5572" y="44684"/>
                  </a:lnTo>
                  <a:lnTo>
                    <a:pt x="0" y="73151"/>
                  </a:lnTo>
                  <a:lnTo>
                    <a:pt x="5572" y="101619"/>
                  </a:lnTo>
                  <a:lnTo>
                    <a:pt x="20764" y="124872"/>
                  </a:lnTo>
                  <a:lnTo>
                    <a:pt x="43291" y="140553"/>
                  </a:lnTo>
                  <a:lnTo>
                    <a:pt x="70866" y="146303"/>
                  </a:lnTo>
                  <a:lnTo>
                    <a:pt x="98440" y="140553"/>
                  </a:lnTo>
                  <a:lnTo>
                    <a:pt x="120967" y="124872"/>
                  </a:lnTo>
                  <a:lnTo>
                    <a:pt x="136159" y="101619"/>
                  </a:lnTo>
                  <a:lnTo>
                    <a:pt x="141731" y="73151"/>
                  </a:lnTo>
                  <a:lnTo>
                    <a:pt x="136159" y="44684"/>
                  </a:lnTo>
                  <a:lnTo>
                    <a:pt x="120967" y="21431"/>
                  </a:lnTo>
                  <a:lnTo>
                    <a:pt x="98440" y="5750"/>
                  </a:lnTo>
                  <a:lnTo>
                    <a:pt x="708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9108" y="3140963"/>
              <a:ext cx="142240" cy="146685"/>
            </a:xfrm>
            <a:custGeom>
              <a:avLst/>
              <a:gdLst/>
              <a:ahLst/>
              <a:cxnLst/>
              <a:rect l="l" t="t" r="r" b="b"/>
              <a:pathLst>
                <a:path w="142239" h="146685">
                  <a:moveTo>
                    <a:pt x="0" y="73151"/>
                  </a:moveTo>
                  <a:lnTo>
                    <a:pt x="5572" y="44684"/>
                  </a:lnTo>
                  <a:lnTo>
                    <a:pt x="20764" y="21431"/>
                  </a:lnTo>
                  <a:lnTo>
                    <a:pt x="43291" y="5750"/>
                  </a:lnTo>
                  <a:lnTo>
                    <a:pt x="70866" y="0"/>
                  </a:lnTo>
                  <a:lnTo>
                    <a:pt x="98440" y="5750"/>
                  </a:lnTo>
                  <a:lnTo>
                    <a:pt x="120967" y="21431"/>
                  </a:lnTo>
                  <a:lnTo>
                    <a:pt x="136159" y="44684"/>
                  </a:lnTo>
                  <a:lnTo>
                    <a:pt x="141731" y="73151"/>
                  </a:lnTo>
                  <a:lnTo>
                    <a:pt x="136159" y="101619"/>
                  </a:lnTo>
                  <a:lnTo>
                    <a:pt x="120967" y="124872"/>
                  </a:lnTo>
                  <a:lnTo>
                    <a:pt x="98440" y="140553"/>
                  </a:lnTo>
                  <a:lnTo>
                    <a:pt x="70866" y="146303"/>
                  </a:lnTo>
                  <a:lnTo>
                    <a:pt x="43291" y="140553"/>
                  </a:lnTo>
                  <a:lnTo>
                    <a:pt x="20764" y="124872"/>
                  </a:lnTo>
                  <a:lnTo>
                    <a:pt x="5572" y="101619"/>
                  </a:lnTo>
                  <a:lnTo>
                    <a:pt x="0" y="7315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7289" y="3646741"/>
              <a:ext cx="152781" cy="15582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3741" y="3453193"/>
              <a:ext cx="152781" cy="1558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0777" y="3678745"/>
              <a:ext cx="152781" cy="15582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9461" y="3209353"/>
              <a:ext cx="152781" cy="15582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2141" y="2672905"/>
              <a:ext cx="152781" cy="15582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2413" y="3303841"/>
              <a:ext cx="152781" cy="15582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9157" y="3014281"/>
              <a:ext cx="152780" cy="15582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057" y="3067621"/>
              <a:ext cx="152780" cy="1543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7273" y="3378517"/>
              <a:ext cx="151256" cy="15582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48383" y="1557527"/>
              <a:ext cx="6017260" cy="4113529"/>
            </a:xfrm>
            <a:custGeom>
              <a:avLst/>
              <a:gdLst/>
              <a:ahLst/>
              <a:cxnLst/>
              <a:rect l="l" t="t" r="r" b="b"/>
              <a:pathLst>
                <a:path w="6017259" h="4113529">
                  <a:moveTo>
                    <a:pt x="0" y="4113276"/>
                  </a:moveTo>
                  <a:lnTo>
                    <a:pt x="6016751" y="4113276"/>
                  </a:lnTo>
                  <a:lnTo>
                    <a:pt x="6016751" y="0"/>
                  </a:lnTo>
                  <a:lnTo>
                    <a:pt x="0" y="0"/>
                  </a:lnTo>
                  <a:lnTo>
                    <a:pt x="0" y="41132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9233" y="2243647"/>
              <a:ext cx="3819148" cy="2698823"/>
            </a:xfrm>
            <a:prstGeom prst="rect">
              <a:avLst/>
            </a:prstGeom>
          </p:spPr>
        </p:pic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838200" y="3048000"/>
            <a:ext cx="7772400" cy="4302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b="1" dirty="0" smtClean="0"/>
              <a:t>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015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</TotalTime>
  <Words>1122</Words>
  <Application>Microsoft Office PowerPoint</Application>
  <PresentationFormat>On-screen Show (4:3)</PresentationFormat>
  <Paragraphs>249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</vt:lpstr>
      <vt:lpstr>Calibri</vt:lpstr>
      <vt:lpstr>Calibri Light</vt:lpstr>
      <vt:lpstr>Cambria</vt:lpstr>
      <vt:lpstr>Courier New</vt:lpstr>
      <vt:lpstr>Microsoft Sans Serif</vt:lpstr>
      <vt:lpstr>quote-cjk-patch</vt:lpstr>
      <vt:lpstr>Roboto</vt:lpstr>
      <vt:lpstr>Tahoma</vt:lpstr>
      <vt:lpstr>Times New Roman</vt:lpstr>
      <vt:lpstr>Trebuchet MS</vt:lpstr>
      <vt:lpstr>Wingdings</vt:lpstr>
      <vt:lpstr>Office Theme</vt:lpstr>
      <vt:lpstr>1_Office Theme</vt:lpstr>
      <vt:lpstr>Data Processing 1</vt:lpstr>
      <vt:lpstr>Outline</vt:lpstr>
      <vt:lpstr>PowerPoint Presentation</vt:lpstr>
      <vt:lpstr>PowerPoint Presentation</vt:lpstr>
      <vt:lpstr>Model-centric vs. Data-centric approach</vt:lpstr>
      <vt:lpstr>Why preprocess data?</vt:lpstr>
      <vt:lpstr>Why Is Data Dirty?</vt:lpstr>
      <vt:lpstr>Why Preprocessing is Important?</vt:lpstr>
      <vt:lpstr>Outline</vt:lpstr>
      <vt:lpstr>Data Cleaning</vt:lpstr>
      <vt:lpstr>Missing Data</vt:lpstr>
      <vt:lpstr>How to Handle Missing Data?</vt:lpstr>
      <vt:lpstr>Handle Missing Data</vt:lpstr>
      <vt:lpstr>PowerPoint Presentation</vt:lpstr>
      <vt:lpstr>PowerPoint Presentation</vt:lpstr>
      <vt:lpstr>Noisy Data</vt:lpstr>
      <vt:lpstr>How to Handle Noisy Data?</vt:lpstr>
      <vt:lpstr>Simple Discretization Methods - Binning</vt:lpstr>
      <vt:lpstr>Binning Methods for Data Smoothing</vt:lpstr>
      <vt:lpstr>Regression</vt:lpstr>
      <vt:lpstr>Cluster Analysis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>Zainab</cp:lastModifiedBy>
  <cp:revision>47</cp:revision>
  <dcterms:created xsi:type="dcterms:W3CDTF">2024-10-31T16:54:27Z</dcterms:created>
  <dcterms:modified xsi:type="dcterms:W3CDTF">2025-11-11T16:18:06Z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2024-10-31T00:00:00Z</vt:filetime>
  </property>
</Properties>
</file>